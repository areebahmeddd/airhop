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Airhop is a messenger that works with no internet at all. Nearby phones relay for each other over Bluetooth. Shipped, on both stores, MIT licensed, no company behind it yet.
One sentence if asked: it is what your phone does when the tower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single point of failure. Signal is excellent and stops when the network stops. That is a design boundary, not a criticism, and this is the product for the other side of it.
The three numbers are 2025 and from primary sources, all linked on the slide. Do not round them up. The line at the bottom is there so nobody hears this as one country's politics.
Sources:
- Access Now and the #KeepItOn coalition, Internet Shutdowns in 2025, published 31 March 2026. https://www.accessnow.org/campaign/keepiton/
- Top10VPN, The Global Cost of Internet Shutdowns 2025. 120,095 hours of disruption, $19.7bn. https://www.top10vpn.com/research/cost-of-internet-shutdowns/
- ITU, Measuring Digital Development: Facts and Figures 2025, November 2025. 6.0bn online, 2.2bn offline. https://www.itu.int/itu-d/reports/statistics/facts-figures-2025/
- FCC Disaster Information Reporting System, Hurricane Helene and Milton communications status reports, 2024. https://www.fcc.gov/general/disaster-information-reporting-system-dirs-0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investors care about. Demand is real, measurable and event driven. Nepal went from three and a half thousand installs to nearly forty nine thousand in a day.
Then the takedown. A government moving to remove the whole category is the strongest signal that the category works.
Sources:
- BeInCrypto and Forbes, September 2025, on bitchat installs during Nepal's social media ban. 48,781 on 8 September against fewer than 3,500 before it. https://beincrypto.com/nepal-bitchat-downloads-protests-2025/
- CoinDesk and MediaNama, 24 July 2026, on the I4C notice covering bitchat, Briar and Bridgefy, and the GitHub takedown order. https://www.coindesk.com/tech/2026/07/24/india-orders-takedown-of-jack-dorsey-s-bitcoin-linked-messaging-app-bitchat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row by row. Say the shape: internet-only apps stop when the internet stops, radio meshes need hardware nobody owns, and what is left is Bluetooth mesh on the phone people already carry.
Every project name is a link if someone wants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the room something concrete after four slides of argument. These are real screens from the shipped build, and the download links work.
If you have the app on your phone, open the Mesh tab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and one picture. Discover, relay, reach further. Seven hops at thirty to fifty metres, so roughly three hundred and fifty metres through a crowd.
The phones in between cannot read what they carry. That is the whole trust story in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threat model out loud: anyone in range can transmit anything. Then the four answers, then the evidence underneath them.
Finish on the honest line. No outside audit yet. Never soften that in a room, it is exactly what the ask pays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strategic slide, and the one they will remember. Every mesh app dies of the cold start. This one speaks bitchat's wire protocol, so install number one already has a network to join, and the right column is what it adds once it is in there.
Live voice and the bulletin board are bitchat's work too. They are on the left for that reason, and saying so out loud is what makes the right column believable.
On user experience, if pushed: a privacy tool nobody can use protects nobody. Names are words rather than hex, the mesh shows you who is in range and how strong the signal is, a payment says which route carried it and whether you can take it back, and delivery is never claimed without an acknowledgement. Nielsen's heuristics, Fitts, Hick and Jakob, checked against Apple's HIG and Material, with an accessibility pass in v1.0 and WCAG 2.1 AA scheduled for v2.0.
If someone asks why not just contribute to bitchat: compatibility means we do not have to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size this top down. Anchor on the mesh hardware market that is already funded, then point out the software half is unserved.
Cost first on the right: no infrastructure bill, so runway is engineer time and an audit. Leave the straight answer at the bottom on screen, it buys more credibility than a bigger number would.
Sources:
- Research Nester and Business Research Insights, wireless mesh network market, 2026 to 2035. https://www.researchnester.com/reports/wireless-mesh-network-market/5024
- ITU, Measuring Digital Development: Facts and Figures 2025, November 2025. 6.0bn online, 2.2bn offline. https://www.itu.int/itu-d/reports/statistics/facts-figures-2025/
- Access Now and the #KeepItOn coalition, Internet Shutdowns in 2025, published 31 March 2026. https://www.accessnow.org/campaign/keepiton/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specific and short. Two audits, a device lab, distribution partners, contributors. Name the audit first because everything after it is blocked on it.
Stop talking after the closing line. Leave the links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Only open this if the room is technical or somebody asks how it is built.
The point in one line: bitchat runs two native codebases that drift, this runs one TypeScript core, so a protocol fix reaches both platforms in the same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Open it if someone asks what comes after v1.0.
Point at v1.8 and v1.9 in that order. The SDK ships first so that the public API is inside the audit scope rather than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and the one worth volunteering unprompted in a diligence conversation.
Lead with the platform limit nobody can fix. Volunteering that first is what makes the other three believable. Density is the real risk, and the answer is the wedge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IRHOP">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airhop.1mindlabs.org"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ccessnow.org/campaign/keepiton/" TargetMode="External"/><Relationship Id="rId2" Type="http://schemas.openxmlformats.org/officeDocument/2006/relationships/hyperlink" Target="https://www.top10vpn.com/research/cost-of-internet-shutdowns/" TargetMode="External"/><Relationship Id="rId3" Type="http://schemas.openxmlformats.org/officeDocument/2006/relationships/hyperlink" Target="https://www.itu.int/itu-d/reports/statistics/facts-figures-2025/" TargetMode="External"/><Relationship Id="rId4" Type="http://schemas.openxmlformats.org/officeDocument/2006/relationships/hyperlink" Target="https://www.fcc.gov/general/disaster-information-reporting-system-dirs-0" TargetMode="External"/><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beincrypto.com/nepal-bitchat-downloads-protests-2025/" TargetMode="External"/><Relationship Id="rId2" Type="http://schemas.openxmlformats.org/officeDocument/2006/relationships/hyperlink" Target="https://www.coindesk.com/tech/2026/07/24/india-orders-takedown-of-jack-dorsey-s-bitcoin-linked-messaging-app-bitchat" TargetMode="External"/><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signal.org" TargetMode="External"/><Relationship Id="rId2" Type="http://schemas.openxmlformats.org/officeDocument/2006/relationships/hyperlink" Target="https://getsession.org" TargetMode="External"/><Relationship Id="rId3" Type="http://schemas.openxmlformats.org/officeDocument/2006/relationships/hyperlink" Target="https://meshtastic.org" TargetMode="External"/><Relationship Id="rId4" Type="http://schemas.openxmlformats.org/officeDocument/2006/relationships/hyperlink" Target="https://gotenna.com" TargetMode="External"/><Relationship Id="rId5" Type="http://schemas.openxmlformats.org/officeDocument/2006/relationships/hyperlink" Target="https://bridgefy.me" TargetMode="External"/><Relationship Id="rId6" Type="http://schemas.openxmlformats.org/officeDocument/2006/relationships/hyperlink" Target="https://briarproject.org" TargetMode="External"/><Relationship Id="rId7" Type="http://schemas.openxmlformats.org/officeDocument/2006/relationships/hyperlink" Target="https://bitchat.free" TargetMode="External"/><Relationship Id="rId8" Type="http://schemas.openxmlformats.org/officeDocument/2006/relationships/hyperlink" Target="https://github.com/areebahmeddd/airhop" TargetMode="External"/><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hyperlink" Target="https://apps.apple.com/app/airhop/id000000000" TargetMode="External"/><Relationship Id="rId5" Type="http://schemas.openxmlformats.org/officeDocument/2006/relationships/hyperlink" Target="https://play.google.com/store/apps/details?id=org.onemindlabs.airhop" TargetMode="External"/><Relationship Id="rId6" Type="http://schemas.openxmlformats.org/officeDocument/2006/relationships/hyperlink" Target="https://f-droid.org/en/packages/org.onemindlabs.airhop" TargetMode="External"/><Relationship Id="rId7" Type="http://schemas.openxmlformats.org/officeDocument/2006/relationships/hyperlink" Target="https://github.com/areebahmeddd/airhop/releases/latest" TargetMode="Externa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areebahmeddd/airhop" TargetMode="External"/><Relationship Id="rId2" Type="http://schemas.openxmlformats.org/officeDocument/2006/relationships/hyperlink" Target="https://bitchat.free" TargetMode="External"/><Relationship Id="rId3" Type="http://schemas.openxmlformats.org/officeDocument/2006/relationships/hyperlink" Target="https://github.com/areebahmeddd/airhop/blob/main/docs/spec/PROTOCOLS.md" TargetMode="External"/><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researchnester.com/reports/wireless-mesh-network-market/5024" TargetMode="External"/><Relationship Id="rId2" Type="http://schemas.openxmlformats.org/officeDocument/2006/relationships/hyperlink" Target="https://www.itu.int/itu-d/reports/statistics/facts-figures-2025/" TargetMode="External"/><Relationship Id="rId3" Type="http://schemas.openxmlformats.org/officeDocument/2006/relationships/hyperlink" Target="https://www.accessnow.org/campaign/keepiton/" TargetMode="External"/><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irhop.1mindlabs.org" TargetMode="External"/><Relationship Id="rId2" Type="http://schemas.openxmlformats.org/officeDocument/2006/relationships/hyperlink" Target="https://github.com/areebahmeddd/airhop" TargetMode="Externa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hub.com/areebahmeddd/airhop/blob/main/docs/spec/ARCHITECTURE.md" TargetMode="Externa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areebahmeddd/airhop/blob/main/docs/design/ROADMAP.md"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areebahmeddd/airhop/blob/main/docs/dev/PROGRESS.md" TargetMode="Externa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g#0"/>
          <p:cNvSpPr/>
          <p:nvPr/>
        </p:nvSpPr>
        <p:spPr>
          <a:xfrm>
            <a:off x="0" y="0"/>
            <a:ext cx="20117" cy="20117"/>
          </a:xfrm>
          <a:prstGeom prst="ellipse">
            <a:avLst/>
          </a:prstGeom>
          <a:solidFill>
            <a:srgbClr val="D9D9E0"/>
          </a:solidFill>
          <a:ln w="12700">
            <a:solidFill>
              <a:srgbClr val="D9D9E0"/>
            </a:solidFill>
            <a:prstDash val="solid"/>
          </a:ln>
        </p:spPr>
      </p:sp>
      <p:sp>
        <p:nvSpPr>
          <p:cNvPr id="3" name="bg#1"/>
          <p:cNvSpPr/>
          <p:nvPr/>
        </p:nvSpPr>
        <p:spPr>
          <a:xfrm>
            <a:off x="365760" y="0"/>
            <a:ext cx="20117" cy="20117"/>
          </a:xfrm>
          <a:prstGeom prst="ellipse">
            <a:avLst/>
          </a:prstGeom>
          <a:solidFill>
            <a:srgbClr val="D9D9E0"/>
          </a:solidFill>
          <a:ln w="12700">
            <a:solidFill>
              <a:srgbClr val="D9D9E0"/>
            </a:solidFill>
            <a:prstDash val="solid"/>
          </a:ln>
        </p:spPr>
      </p:sp>
      <p:sp>
        <p:nvSpPr>
          <p:cNvPr id="4" name="bg#2"/>
          <p:cNvSpPr/>
          <p:nvPr/>
        </p:nvSpPr>
        <p:spPr>
          <a:xfrm>
            <a:off x="731520" y="0"/>
            <a:ext cx="20117" cy="20117"/>
          </a:xfrm>
          <a:prstGeom prst="ellipse">
            <a:avLst/>
          </a:prstGeom>
          <a:solidFill>
            <a:srgbClr val="D9D9E0"/>
          </a:solidFill>
          <a:ln w="12700">
            <a:solidFill>
              <a:srgbClr val="D9D9E0"/>
            </a:solidFill>
            <a:prstDash val="solid"/>
          </a:ln>
        </p:spPr>
      </p:sp>
      <p:sp>
        <p:nvSpPr>
          <p:cNvPr id="5" name="bg#3"/>
          <p:cNvSpPr/>
          <p:nvPr/>
        </p:nvSpPr>
        <p:spPr>
          <a:xfrm>
            <a:off x="1097280" y="0"/>
            <a:ext cx="20117" cy="20117"/>
          </a:xfrm>
          <a:prstGeom prst="ellipse">
            <a:avLst/>
          </a:prstGeom>
          <a:solidFill>
            <a:srgbClr val="D9D9E0"/>
          </a:solidFill>
          <a:ln w="12700">
            <a:solidFill>
              <a:srgbClr val="D9D9E0"/>
            </a:solidFill>
            <a:prstDash val="solid"/>
          </a:ln>
        </p:spPr>
      </p:sp>
      <p:sp>
        <p:nvSpPr>
          <p:cNvPr id="6" name="bg#4"/>
          <p:cNvSpPr/>
          <p:nvPr/>
        </p:nvSpPr>
        <p:spPr>
          <a:xfrm>
            <a:off x="1463040" y="0"/>
            <a:ext cx="20117" cy="20117"/>
          </a:xfrm>
          <a:prstGeom prst="ellipse">
            <a:avLst/>
          </a:prstGeom>
          <a:solidFill>
            <a:srgbClr val="D9D9E0"/>
          </a:solidFill>
          <a:ln w="12700">
            <a:solidFill>
              <a:srgbClr val="D9D9E0"/>
            </a:solidFill>
            <a:prstDash val="solid"/>
          </a:ln>
        </p:spPr>
      </p:sp>
      <p:sp>
        <p:nvSpPr>
          <p:cNvPr id="7" name="bg#5"/>
          <p:cNvSpPr/>
          <p:nvPr/>
        </p:nvSpPr>
        <p:spPr>
          <a:xfrm>
            <a:off x="1828800" y="0"/>
            <a:ext cx="20117" cy="20117"/>
          </a:xfrm>
          <a:prstGeom prst="ellipse">
            <a:avLst/>
          </a:prstGeom>
          <a:solidFill>
            <a:srgbClr val="D9D9E0"/>
          </a:solidFill>
          <a:ln w="12700">
            <a:solidFill>
              <a:srgbClr val="D9D9E0"/>
            </a:solidFill>
            <a:prstDash val="solid"/>
          </a:ln>
        </p:spPr>
      </p:sp>
      <p:sp>
        <p:nvSpPr>
          <p:cNvPr id="8" name="bg#6"/>
          <p:cNvSpPr/>
          <p:nvPr/>
        </p:nvSpPr>
        <p:spPr>
          <a:xfrm>
            <a:off x="2194560" y="0"/>
            <a:ext cx="20117" cy="20117"/>
          </a:xfrm>
          <a:prstGeom prst="ellipse">
            <a:avLst/>
          </a:prstGeom>
          <a:solidFill>
            <a:srgbClr val="D9D9E0"/>
          </a:solidFill>
          <a:ln w="12700">
            <a:solidFill>
              <a:srgbClr val="D9D9E0"/>
            </a:solidFill>
            <a:prstDash val="solid"/>
          </a:ln>
        </p:spPr>
      </p:sp>
      <p:sp>
        <p:nvSpPr>
          <p:cNvPr id="9" name="bg#7"/>
          <p:cNvSpPr/>
          <p:nvPr/>
        </p:nvSpPr>
        <p:spPr>
          <a:xfrm>
            <a:off x="2560320" y="0"/>
            <a:ext cx="20117" cy="20117"/>
          </a:xfrm>
          <a:prstGeom prst="ellipse">
            <a:avLst/>
          </a:prstGeom>
          <a:solidFill>
            <a:srgbClr val="D9D9E0"/>
          </a:solidFill>
          <a:ln w="12700">
            <a:solidFill>
              <a:srgbClr val="D9D9E0"/>
            </a:solidFill>
            <a:prstDash val="solid"/>
          </a:ln>
        </p:spPr>
      </p:sp>
      <p:sp>
        <p:nvSpPr>
          <p:cNvPr id="10" name="bg#8"/>
          <p:cNvSpPr/>
          <p:nvPr/>
        </p:nvSpPr>
        <p:spPr>
          <a:xfrm>
            <a:off x="2926080" y="0"/>
            <a:ext cx="20117" cy="20117"/>
          </a:xfrm>
          <a:prstGeom prst="ellipse">
            <a:avLst/>
          </a:prstGeom>
          <a:solidFill>
            <a:srgbClr val="D9D9E0"/>
          </a:solidFill>
          <a:ln w="12700">
            <a:solidFill>
              <a:srgbClr val="D9D9E0"/>
            </a:solidFill>
            <a:prstDash val="solid"/>
          </a:ln>
        </p:spPr>
      </p:sp>
      <p:sp>
        <p:nvSpPr>
          <p:cNvPr id="11" name="bg#9"/>
          <p:cNvSpPr/>
          <p:nvPr/>
        </p:nvSpPr>
        <p:spPr>
          <a:xfrm>
            <a:off x="3291840" y="0"/>
            <a:ext cx="20117" cy="20117"/>
          </a:xfrm>
          <a:prstGeom prst="ellipse">
            <a:avLst/>
          </a:prstGeom>
          <a:solidFill>
            <a:srgbClr val="D9D9E0"/>
          </a:solidFill>
          <a:ln w="12700">
            <a:solidFill>
              <a:srgbClr val="D9D9E0"/>
            </a:solidFill>
            <a:prstDash val="solid"/>
          </a:ln>
        </p:spPr>
      </p:sp>
      <p:sp>
        <p:nvSpPr>
          <p:cNvPr id="12" name="bg#10"/>
          <p:cNvSpPr/>
          <p:nvPr/>
        </p:nvSpPr>
        <p:spPr>
          <a:xfrm>
            <a:off x="3657600" y="0"/>
            <a:ext cx="20117" cy="20117"/>
          </a:xfrm>
          <a:prstGeom prst="ellipse">
            <a:avLst/>
          </a:prstGeom>
          <a:solidFill>
            <a:srgbClr val="D9D9E0"/>
          </a:solidFill>
          <a:ln w="12700">
            <a:solidFill>
              <a:srgbClr val="D9D9E0"/>
            </a:solidFill>
            <a:prstDash val="solid"/>
          </a:ln>
        </p:spPr>
      </p:sp>
      <p:sp>
        <p:nvSpPr>
          <p:cNvPr id="13" name="bg#11"/>
          <p:cNvSpPr/>
          <p:nvPr/>
        </p:nvSpPr>
        <p:spPr>
          <a:xfrm>
            <a:off x="4023360" y="0"/>
            <a:ext cx="20117" cy="20117"/>
          </a:xfrm>
          <a:prstGeom prst="ellipse">
            <a:avLst/>
          </a:prstGeom>
          <a:solidFill>
            <a:srgbClr val="D9D9E0"/>
          </a:solidFill>
          <a:ln w="12700">
            <a:solidFill>
              <a:srgbClr val="D9D9E0"/>
            </a:solidFill>
            <a:prstDash val="solid"/>
          </a:ln>
        </p:spPr>
      </p:sp>
      <p:sp>
        <p:nvSpPr>
          <p:cNvPr id="14" name="bg#12"/>
          <p:cNvSpPr/>
          <p:nvPr/>
        </p:nvSpPr>
        <p:spPr>
          <a:xfrm>
            <a:off x="4389120" y="0"/>
            <a:ext cx="20117" cy="20117"/>
          </a:xfrm>
          <a:prstGeom prst="ellipse">
            <a:avLst/>
          </a:prstGeom>
          <a:solidFill>
            <a:srgbClr val="D9D9E0"/>
          </a:solidFill>
          <a:ln w="12700">
            <a:solidFill>
              <a:srgbClr val="D9D9E0"/>
            </a:solidFill>
            <a:prstDash val="solid"/>
          </a:ln>
        </p:spPr>
      </p:sp>
      <p:sp>
        <p:nvSpPr>
          <p:cNvPr id="15" name="bg#13"/>
          <p:cNvSpPr/>
          <p:nvPr/>
        </p:nvSpPr>
        <p:spPr>
          <a:xfrm>
            <a:off x="4754880" y="0"/>
            <a:ext cx="20117" cy="20117"/>
          </a:xfrm>
          <a:prstGeom prst="ellipse">
            <a:avLst/>
          </a:prstGeom>
          <a:solidFill>
            <a:srgbClr val="D9D9E0"/>
          </a:solidFill>
          <a:ln w="12700">
            <a:solidFill>
              <a:srgbClr val="D9D9E0"/>
            </a:solidFill>
            <a:prstDash val="solid"/>
          </a:ln>
        </p:spPr>
      </p:sp>
      <p:sp>
        <p:nvSpPr>
          <p:cNvPr id="16" name="bg#14"/>
          <p:cNvSpPr/>
          <p:nvPr/>
        </p:nvSpPr>
        <p:spPr>
          <a:xfrm>
            <a:off x="5120640" y="0"/>
            <a:ext cx="20117" cy="20117"/>
          </a:xfrm>
          <a:prstGeom prst="ellipse">
            <a:avLst/>
          </a:prstGeom>
          <a:solidFill>
            <a:srgbClr val="D9D9E0"/>
          </a:solidFill>
          <a:ln w="12700">
            <a:solidFill>
              <a:srgbClr val="D9D9E0"/>
            </a:solidFill>
            <a:prstDash val="solid"/>
          </a:ln>
        </p:spPr>
      </p:sp>
      <p:sp>
        <p:nvSpPr>
          <p:cNvPr id="17" name="bg#15"/>
          <p:cNvSpPr/>
          <p:nvPr/>
        </p:nvSpPr>
        <p:spPr>
          <a:xfrm>
            <a:off x="5486400" y="0"/>
            <a:ext cx="20117" cy="20117"/>
          </a:xfrm>
          <a:prstGeom prst="ellipse">
            <a:avLst/>
          </a:prstGeom>
          <a:solidFill>
            <a:srgbClr val="D9D9E0"/>
          </a:solidFill>
          <a:ln w="12700">
            <a:solidFill>
              <a:srgbClr val="D9D9E0"/>
            </a:solidFill>
            <a:prstDash val="solid"/>
          </a:ln>
        </p:spPr>
      </p:sp>
      <p:sp>
        <p:nvSpPr>
          <p:cNvPr id="18" name="bg#16"/>
          <p:cNvSpPr/>
          <p:nvPr/>
        </p:nvSpPr>
        <p:spPr>
          <a:xfrm>
            <a:off x="5852160" y="0"/>
            <a:ext cx="20117" cy="20117"/>
          </a:xfrm>
          <a:prstGeom prst="ellipse">
            <a:avLst/>
          </a:prstGeom>
          <a:solidFill>
            <a:srgbClr val="D9D9E0"/>
          </a:solidFill>
          <a:ln w="12700">
            <a:solidFill>
              <a:srgbClr val="D9D9E0"/>
            </a:solidFill>
            <a:prstDash val="solid"/>
          </a:ln>
        </p:spPr>
      </p:sp>
      <p:sp>
        <p:nvSpPr>
          <p:cNvPr id="19" name="bg#17"/>
          <p:cNvSpPr/>
          <p:nvPr/>
        </p:nvSpPr>
        <p:spPr>
          <a:xfrm>
            <a:off x="6217920" y="0"/>
            <a:ext cx="20117" cy="20117"/>
          </a:xfrm>
          <a:prstGeom prst="ellipse">
            <a:avLst/>
          </a:prstGeom>
          <a:solidFill>
            <a:srgbClr val="D9D9E0"/>
          </a:solidFill>
          <a:ln w="12700">
            <a:solidFill>
              <a:srgbClr val="D9D9E0"/>
            </a:solidFill>
            <a:prstDash val="solid"/>
          </a:ln>
        </p:spPr>
      </p:sp>
      <p:sp>
        <p:nvSpPr>
          <p:cNvPr id="20" name="bg#18"/>
          <p:cNvSpPr/>
          <p:nvPr/>
        </p:nvSpPr>
        <p:spPr>
          <a:xfrm>
            <a:off x="6583680" y="0"/>
            <a:ext cx="20117" cy="20117"/>
          </a:xfrm>
          <a:prstGeom prst="ellipse">
            <a:avLst/>
          </a:prstGeom>
          <a:solidFill>
            <a:srgbClr val="D9D9E0"/>
          </a:solidFill>
          <a:ln w="12700">
            <a:solidFill>
              <a:srgbClr val="D9D9E0"/>
            </a:solidFill>
            <a:prstDash val="solid"/>
          </a:ln>
        </p:spPr>
      </p:sp>
      <p:sp>
        <p:nvSpPr>
          <p:cNvPr id="21" name="bg#19"/>
          <p:cNvSpPr/>
          <p:nvPr/>
        </p:nvSpPr>
        <p:spPr>
          <a:xfrm>
            <a:off x="6949440" y="0"/>
            <a:ext cx="20117" cy="20117"/>
          </a:xfrm>
          <a:prstGeom prst="ellipse">
            <a:avLst/>
          </a:prstGeom>
          <a:solidFill>
            <a:srgbClr val="D9D9E0"/>
          </a:solidFill>
          <a:ln w="12700">
            <a:solidFill>
              <a:srgbClr val="D9D9E0"/>
            </a:solidFill>
            <a:prstDash val="solid"/>
          </a:ln>
        </p:spPr>
      </p:sp>
      <p:sp>
        <p:nvSpPr>
          <p:cNvPr id="22" name="bg#20"/>
          <p:cNvSpPr/>
          <p:nvPr/>
        </p:nvSpPr>
        <p:spPr>
          <a:xfrm>
            <a:off x="7315200" y="0"/>
            <a:ext cx="20117" cy="20117"/>
          </a:xfrm>
          <a:prstGeom prst="ellipse">
            <a:avLst/>
          </a:prstGeom>
          <a:solidFill>
            <a:srgbClr val="D9D9E0"/>
          </a:solidFill>
          <a:ln w="12700">
            <a:solidFill>
              <a:srgbClr val="D9D9E0"/>
            </a:solidFill>
            <a:prstDash val="solid"/>
          </a:ln>
        </p:spPr>
      </p:sp>
      <p:sp>
        <p:nvSpPr>
          <p:cNvPr id="23" name="bg#21"/>
          <p:cNvSpPr/>
          <p:nvPr/>
        </p:nvSpPr>
        <p:spPr>
          <a:xfrm>
            <a:off x="7680960" y="0"/>
            <a:ext cx="20117" cy="20117"/>
          </a:xfrm>
          <a:prstGeom prst="ellipse">
            <a:avLst/>
          </a:prstGeom>
          <a:solidFill>
            <a:srgbClr val="D9D9E0"/>
          </a:solidFill>
          <a:ln w="12700">
            <a:solidFill>
              <a:srgbClr val="D9D9E0"/>
            </a:solidFill>
            <a:prstDash val="solid"/>
          </a:ln>
        </p:spPr>
      </p:sp>
      <p:sp>
        <p:nvSpPr>
          <p:cNvPr id="24" name="bg#22"/>
          <p:cNvSpPr/>
          <p:nvPr/>
        </p:nvSpPr>
        <p:spPr>
          <a:xfrm>
            <a:off x="8046720" y="0"/>
            <a:ext cx="20117" cy="20117"/>
          </a:xfrm>
          <a:prstGeom prst="ellipse">
            <a:avLst/>
          </a:prstGeom>
          <a:solidFill>
            <a:srgbClr val="D9D9E0"/>
          </a:solidFill>
          <a:ln w="12700">
            <a:solidFill>
              <a:srgbClr val="D9D9E0"/>
            </a:solidFill>
            <a:prstDash val="solid"/>
          </a:ln>
        </p:spPr>
      </p:sp>
      <p:sp>
        <p:nvSpPr>
          <p:cNvPr id="25" name="bg#23"/>
          <p:cNvSpPr/>
          <p:nvPr/>
        </p:nvSpPr>
        <p:spPr>
          <a:xfrm>
            <a:off x="8412480" y="0"/>
            <a:ext cx="20117" cy="20117"/>
          </a:xfrm>
          <a:prstGeom prst="ellipse">
            <a:avLst/>
          </a:prstGeom>
          <a:solidFill>
            <a:srgbClr val="D9D9E0"/>
          </a:solidFill>
          <a:ln w="12700">
            <a:solidFill>
              <a:srgbClr val="D9D9E0"/>
            </a:solidFill>
            <a:prstDash val="solid"/>
          </a:ln>
        </p:spPr>
      </p:sp>
      <p:sp>
        <p:nvSpPr>
          <p:cNvPr id="26" name="bg#24"/>
          <p:cNvSpPr/>
          <p:nvPr/>
        </p:nvSpPr>
        <p:spPr>
          <a:xfrm>
            <a:off x="8778240" y="0"/>
            <a:ext cx="20117" cy="20117"/>
          </a:xfrm>
          <a:prstGeom prst="ellipse">
            <a:avLst/>
          </a:prstGeom>
          <a:solidFill>
            <a:srgbClr val="D9D9E0"/>
          </a:solidFill>
          <a:ln w="12700">
            <a:solidFill>
              <a:srgbClr val="D9D9E0"/>
            </a:solidFill>
            <a:prstDash val="solid"/>
          </a:ln>
        </p:spPr>
      </p:sp>
      <p:sp>
        <p:nvSpPr>
          <p:cNvPr id="27" name="bg#25"/>
          <p:cNvSpPr/>
          <p:nvPr/>
        </p:nvSpPr>
        <p:spPr>
          <a:xfrm>
            <a:off x="9144000" y="0"/>
            <a:ext cx="20117" cy="20117"/>
          </a:xfrm>
          <a:prstGeom prst="ellipse">
            <a:avLst/>
          </a:prstGeom>
          <a:solidFill>
            <a:srgbClr val="D9D9E0"/>
          </a:solidFill>
          <a:ln w="12700">
            <a:solidFill>
              <a:srgbClr val="D9D9E0"/>
            </a:solidFill>
            <a:prstDash val="solid"/>
          </a:ln>
        </p:spPr>
      </p:sp>
      <p:sp>
        <p:nvSpPr>
          <p:cNvPr id="28" name="bg#26"/>
          <p:cNvSpPr/>
          <p:nvPr/>
        </p:nvSpPr>
        <p:spPr>
          <a:xfrm>
            <a:off x="9509760" y="0"/>
            <a:ext cx="20117" cy="20117"/>
          </a:xfrm>
          <a:prstGeom prst="ellipse">
            <a:avLst/>
          </a:prstGeom>
          <a:solidFill>
            <a:srgbClr val="D9D9E0"/>
          </a:solidFill>
          <a:ln w="12700">
            <a:solidFill>
              <a:srgbClr val="D9D9E0"/>
            </a:solidFill>
            <a:prstDash val="solid"/>
          </a:ln>
        </p:spPr>
      </p:sp>
      <p:sp>
        <p:nvSpPr>
          <p:cNvPr id="29" name="bg#27"/>
          <p:cNvSpPr/>
          <p:nvPr/>
        </p:nvSpPr>
        <p:spPr>
          <a:xfrm>
            <a:off x="9875520" y="0"/>
            <a:ext cx="20117" cy="20117"/>
          </a:xfrm>
          <a:prstGeom prst="ellipse">
            <a:avLst/>
          </a:prstGeom>
          <a:solidFill>
            <a:srgbClr val="D9D9E0"/>
          </a:solidFill>
          <a:ln w="12700">
            <a:solidFill>
              <a:srgbClr val="D9D9E0"/>
            </a:solidFill>
            <a:prstDash val="solid"/>
          </a:ln>
        </p:spPr>
      </p:sp>
      <p:sp>
        <p:nvSpPr>
          <p:cNvPr id="30" name="bg#28"/>
          <p:cNvSpPr/>
          <p:nvPr/>
        </p:nvSpPr>
        <p:spPr>
          <a:xfrm>
            <a:off x="10241280" y="0"/>
            <a:ext cx="20117" cy="20117"/>
          </a:xfrm>
          <a:prstGeom prst="ellipse">
            <a:avLst/>
          </a:prstGeom>
          <a:solidFill>
            <a:srgbClr val="D9D9E0"/>
          </a:solidFill>
          <a:ln w="12700">
            <a:solidFill>
              <a:srgbClr val="D9D9E0"/>
            </a:solidFill>
            <a:prstDash val="solid"/>
          </a:ln>
        </p:spPr>
      </p:sp>
      <p:sp>
        <p:nvSpPr>
          <p:cNvPr id="31" name="bg#29"/>
          <p:cNvSpPr/>
          <p:nvPr/>
        </p:nvSpPr>
        <p:spPr>
          <a:xfrm>
            <a:off x="10607040" y="0"/>
            <a:ext cx="20117" cy="20117"/>
          </a:xfrm>
          <a:prstGeom prst="ellipse">
            <a:avLst/>
          </a:prstGeom>
          <a:solidFill>
            <a:srgbClr val="D9D9E0"/>
          </a:solidFill>
          <a:ln w="12700">
            <a:solidFill>
              <a:srgbClr val="D9D9E0"/>
            </a:solidFill>
            <a:prstDash val="solid"/>
          </a:ln>
        </p:spPr>
      </p:sp>
      <p:sp>
        <p:nvSpPr>
          <p:cNvPr id="32" name="bg#30"/>
          <p:cNvSpPr/>
          <p:nvPr/>
        </p:nvSpPr>
        <p:spPr>
          <a:xfrm>
            <a:off x="10972800" y="0"/>
            <a:ext cx="20117" cy="20117"/>
          </a:xfrm>
          <a:prstGeom prst="ellipse">
            <a:avLst/>
          </a:prstGeom>
          <a:solidFill>
            <a:srgbClr val="D9D9E0"/>
          </a:solidFill>
          <a:ln w="12700">
            <a:solidFill>
              <a:srgbClr val="D9D9E0"/>
            </a:solidFill>
            <a:prstDash val="solid"/>
          </a:ln>
        </p:spPr>
      </p:sp>
      <p:sp>
        <p:nvSpPr>
          <p:cNvPr id="33" name="bg#31"/>
          <p:cNvSpPr/>
          <p:nvPr/>
        </p:nvSpPr>
        <p:spPr>
          <a:xfrm>
            <a:off x="11338560" y="0"/>
            <a:ext cx="20117" cy="20117"/>
          </a:xfrm>
          <a:prstGeom prst="ellipse">
            <a:avLst/>
          </a:prstGeom>
          <a:solidFill>
            <a:srgbClr val="D9D9E0"/>
          </a:solidFill>
          <a:ln w="12700">
            <a:solidFill>
              <a:srgbClr val="D9D9E0"/>
            </a:solidFill>
            <a:prstDash val="solid"/>
          </a:ln>
        </p:spPr>
      </p:sp>
      <p:sp>
        <p:nvSpPr>
          <p:cNvPr id="34" name="bg#32"/>
          <p:cNvSpPr/>
          <p:nvPr/>
        </p:nvSpPr>
        <p:spPr>
          <a:xfrm>
            <a:off x="11704320" y="0"/>
            <a:ext cx="20117" cy="20117"/>
          </a:xfrm>
          <a:prstGeom prst="ellipse">
            <a:avLst/>
          </a:prstGeom>
          <a:solidFill>
            <a:srgbClr val="D9D9E0"/>
          </a:solidFill>
          <a:ln w="12700">
            <a:solidFill>
              <a:srgbClr val="D9D9E0"/>
            </a:solidFill>
            <a:prstDash val="solid"/>
          </a:ln>
        </p:spPr>
      </p:sp>
      <p:sp>
        <p:nvSpPr>
          <p:cNvPr id="35" name="bg#33"/>
          <p:cNvSpPr/>
          <p:nvPr/>
        </p:nvSpPr>
        <p:spPr>
          <a:xfrm>
            <a:off x="0" y="365760"/>
            <a:ext cx="20117" cy="20117"/>
          </a:xfrm>
          <a:prstGeom prst="ellipse">
            <a:avLst/>
          </a:prstGeom>
          <a:solidFill>
            <a:srgbClr val="D9D9E0"/>
          </a:solidFill>
          <a:ln w="12700">
            <a:solidFill>
              <a:srgbClr val="D9D9E0"/>
            </a:solidFill>
            <a:prstDash val="solid"/>
          </a:ln>
        </p:spPr>
      </p:sp>
      <p:sp>
        <p:nvSpPr>
          <p:cNvPr id="36" name="bg#34"/>
          <p:cNvSpPr/>
          <p:nvPr/>
        </p:nvSpPr>
        <p:spPr>
          <a:xfrm>
            <a:off x="365760" y="365760"/>
            <a:ext cx="20117" cy="20117"/>
          </a:xfrm>
          <a:prstGeom prst="ellipse">
            <a:avLst/>
          </a:prstGeom>
          <a:solidFill>
            <a:srgbClr val="D9D9E0"/>
          </a:solidFill>
          <a:ln w="12700">
            <a:solidFill>
              <a:srgbClr val="D9D9E0"/>
            </a:solidFill>
            <a:prstDash val="solid"/>
          </a:ln>
        </p:spPr>
      </p:sp>
      <p:sp>
        <p:nvSpPr>
          <p:cNvPr id="37" name="bg#35"/>
          <p:cNvSpPr/>
          <p:nvPr/>
        </p:nvSpPr>
        <p:spPr>
          <a:xfrm>
            <a:off x="731520" y="365760"/>
            <a:ext cx="20117" cy="20117"/>
          </a:xfrm>
          <a:prstGeom prst="ellipse">
            <a:avLst/>
          </a:prstGeom>
          <a:solidFill>
            <a:srgbClr val="D9D9E0"/>
          </a:solidFill>
          <a:ln w="12700">
            <a:solidFill>
              <a:srgbClr val="D9D9E0"/>
            </a:solidFill>
            <a:prstDash val="solid"/>
          </a:ln>
        </p:spPr>
      </p:sp>
      <p:sp>
        <p:nvSpPr>
          <p:cNvPr id="38" name="bg#36"/>
          <p:cNvSpPr/>
          <p:nvPr/>
        </p:nvSpPr>
        <p:spPr>
          <a:xfrm>
            <a:off x="1097280" y="365760"/>
            <a:ext cx="20117" cy="20117"/>
          </a:xfrm>
          <a:prstGeom prst="ellipse">
            <a:avLst/>
          </a:prstGeom>
          <a:solidFill>
            <a:srgbClr val="D9D9E0"/>
          </a:solidFill>
          <a:ln w="12700">
            <a:solidFill>
              <a:srgbClr val="D9D9E0"/>
            </a:solidFill>
            <a:prstDash val="solid"/>
          </a:ln>
        </p:spPr>
      </p:sp>
      <p:sp>
        <p:nvSpPr>
          <p:cNvPr id="39" name="bg#37"/>
          <p:cNvSpPr/>
          <p:nvPr/>
        </p:nvSpPr>
        <p:spPr>
          <a:xfrm>
            <a:off x="1463040" y="365760"/>
            <a:ext cx="20117" cy="20117"/>
          </a:xfrm>
          <a:prstGeom prst="ellipse">
            <a:avLst/>
          </a:prstGeom>
          <a:solidFill>
            <a:srgbClr val="D9D9E0"/>
          </a:solidFill>
          <a:ln w="12700">
            <a:solidFill>
              <a:srgbClr val="D9D9E0"/>
            </a:solidFill>
            <a:prstDash val="solid"/>
          </a:ln>
        </p:spPr>
      </p:sp>
      <p:sp>
        <p:nvSpPr>
          <p:cNvPr id="40" name="bg#38"/>
          <p:cNvSpPr/>
          <p:nvPr/>
        </p:nvSpPr>
        <p:spPr>
          <a:xfrm>
            <a:off x="1828800" y="365760"/>
            <a:ext cx="20117" cy="20117"/>
          </a:xfrm>
          <a:prstGeom prst="ellipse">
            <a:avLst/>
          </a:prstGeom>
          <a:solidFill>
            <a:srgbClr val="D9D9E0"/>
          </a:solidFill>
          <a:ln w="12700">
            <a:solidFill>
              <a:srgbClr val="D9D9E0"/>
            </a:solidFill>
            <a:prstDash val="solid"/>
          </a:ln>
        </p:spPr>
      </p:sp>
      <p:sp>
        <p:nvSpPr>
          <p:cNvPr id="41" name="bg#39"/>
          <p:cNvSpPr/>
          <p:nvPr/>
        </p:nvSpPr>
        <p:spPr>
          <a:xfrm>
            <a:off x="2194560" y="365760"/>
            <a:ext cx="20117" cy="20117"/>
          </a:xfrm>
          <a:prstGeom prst="ellipse">
            <a:avLst/>
          </a:prstGeom>
          <a:solidFill>
            <a:srgbClr val="D9D9E0"/>
          </a:solidFill>
          <a:ln w="12700">
            <a:solidFill>
              <a:srgbClr val="D9D9E0"/>
            </a:solidFill>
            <a:prstDash val="solid"/>
          </a:ln>
        </p:spPr>
      </p:sp>
      <p:sp>
        <p:nvSpPr>
          <p:cNvPr id="42" name="bg#40"/>
          <p:cNvSpPr/>
          <p:nvPr/>
        </p:nvSpPr>
        <p:spPr>
          <a:xfrm>
            <a:off x="2560320" y="365760"/>
            <a:ext cx="20117" cy="20117"/>
          </a:xfrm>
          <a:prstGeom prst="ellipse">
            <a:avLst/>
          </a:prstGeom>
          <a:solidFill>
            <a:srgbClr val="D9D9E0"/>
          </a:solidFill>
          <a:ln w="12700">
            <a:solidFill>
              <a:srgbClr val="D9D9E0"/>
            </a:solidFill>
            <a:prstDash val="solid"/>
          </a:ln>
        </p:spPr>
      </p:sp>
      <p:sp>
        <p:nvSpPr>
          <p:cNvPr id="43" name="bg#41"/>
          <p:cNvSpPr/>
          <p:nvPr/>
        </p:nvSpPr>
        <p:spPr>
          <a:xfrm>
            <a:off x="2926080" y="365760"/>
            <a:ext cx="20117" cy="20117"/>
          </a:xfrm>
          <a:prstGeom prst="ellipse">
            <a:avLst/>
          </a:prstGeom>
          <a:solidFill>
            <a:srgbClr val="D9D9E0"/>
          </a:solidFill>
          <a:ln w="12700">
            <a:solidFill>
              <a:srgbClr val="D9D9E0"/>
            </a:solidFill>
            <a:prstDash val="solid"/>
          </a:ln>
        </p:spPr>
      </p:sp>
      <p:sp>
        <p:nvSpPr>
          <p:cNvPr id="44" name="bg#42"/>
          <p:cNvSpPr/>
          <p:nvPr/>
        </p:nvSpPr>
        <p:spPr>
          <a:xfrm>
            <a:off x="3291840" y="365760"/>
            <a:ext cx="20117" cy="20117"/>
          </a:xfrm>
          <a:prstGeom prst="ellipse">
            <a:avLst/>
          </a:prstGeom>
          <a:solidFill>
            <a:srgbClr val="D9D9E0"/>
          </a:solidFill>
          <a:ln w="12700">
            <a:solidFill>
              <a:srgbClr val="D9D9E0"/>
            </a:solidFill>
            <a:prstDash val="solid"/>
          </a:ln>
        </p:spPr>
      </p:sp>
      <p:sp>
        <p:nvSpPr>
          <p:cNvPr id="45" name="bg#43"/>
          <p:cNvSpPr/>
          <p:nvPr/>
        </p:nvSpPr>
        <p:spPr>
          <a:xfrm>
            <a:off x="3657600" y="365760"/>
            <a:ext cx="20117" cy="20117"/>
          </a:xfrm>
          <a:prstGeom prst="ellipse">
            <a:avLst/>
          </a:prstGeom>
          <a:solidFill>
            <a:srgbClr val="D9D9E0"/>
          </a:solidFill>
          <a:ln w="12700">
            <a:solidFill>
              <a:srgbClr val="D9D9E0"/>
            </a:solidFill>
            <a:prstDash val="solid"/>
          </a:ln>
        </p:spPr>
      </p:sp>
      <p:sp>
        <p:nvSpPr>
          <p:cNvPr id="46" name="bg#44"/>
          <p:cNvSpPr/>
          <p:nvPr/>
        </p:nvSpPr>
        <p:spPr>
          <a:xfrm>
            <a:off x="4023360" y="365760"/>
            <a:ext cx="20117" cy="20117"/>
          </a:xfrm>
          <a:prstGeom prst="ellipse">
            <a:avLst/>
          </a:prstGeom>
          <a:solidFill>
            <a:srgbClr val="D9D9E0"/>
          </a:solidFill>
          <a:ln w="12700">
            <a:solidFill>
              <a:srgbClr val="D9D9E0"/>
            </a:solidFill>
            <a:prstDash val="solid"/>
          </a:ln>
        </p:spPr>
      </p:sp>
      <p:sp>
        <p:nvSpPr>
          <p:cNvPr id="47" name="bg#45"/>
          <p:cNvSpPr/>
          <p:nvPr/>
        </p:nvSpPr>
        <p:spPr>
          <a:xfrm>
            <a:off x="4389120" y="365760"/>
            <a:ext cx="20117" cy="20117"/>
          </a:xfrm>
          <a:prstGeom prst="ellipse">
            <a:avLst/>
          </a:prstGeom>
          <a:solidFill>
            <a:srgbClr val="D9D9E0"/>
          </a:solidFill>
          <a:ln w="12700">
            <a:solidFill>
              <a:srgbClr val="D9D9E0"/>
            </a:solidFill>
            <a:prstDash val="solid"/>
          </a:ln>
        </p:spPr>
      </p:sp>
      <p:sp>
        <p:nvSpPr>
          <p:cNvPr id="48" name="bg#46"/>
          <p:cNvSpPr/>
          <p:nvPr/>
        </p:nvSpPr>
        <p:spPr>
          <a:xfrm>
            <a:off x="4754880" y="365760"/>
            <a:ext cx="20117" cy="20117"/>
          </a:xfrm>
          <a:prstGeom prst="ellipse">
            <a:avLst/>
          </a:prstGeom>
          <a:solidFill>
            <a:srgbClr val="D9D9E0"/>
          </a:solidFill>
          <a:ln w="12700">
            <a:solidFill>
              <a:srgbClr val="D9D9E0"/>
            </a:solidFill>
            <a:prstDash val="solid"/>
          </a:ln>
        </p:spPr>
      </p:sp>
      <p:sp>
        <p:nvSpPr>
          <p:cNvPr id="49" name="bg#47"/>
          <p:cNvSpPr/>
          <p:nvPr/>
        </p:nvSpPr>
        <p:spPr>
          <a:xfrm>
            <a:off x="5120640" y="365760"/>
            <a:ext cx="20117" cy="20117"/>
          </a:xfrm>
          <a:prstGeom prst="ellipse">
            <a:avLst/>
          </a:prstGeom>
          <a:solidFill>
            <a:srgbClr val="D9D9E0"/>
          </a:solidFill>
          <a:ln w="12700">
            <a:solidFill>
              <a:srgbClr val="D9D9E0"/>
            </a:solidFill>
            <a:prstDash val="solid"/>
          </a:ln>
        </p:spPr>
      </p:sp>
      <p:sp>
        <p:nvSpPr>
          <p:cNvPr id="50" name="bg#48"/>
          <p:cNvSpPr/>
          <p:nvPr/>
        </p:nvSpPr>
        <p:spPr>
          <a:xfrm>
            <a:off x="5486400" y="365760"/>
            <a:ext cx="20117" cy="20117"/>
          </a:xfrm>
          <a:prstGeom prst="ellipse">
            <a:avLst/>
          </a:prstGeom>
          <a:solidFill>
            <a:srgbClr val="D9D9E0"/>
          </a:solidFill>
          <a:ln w="12700">
            <a:solidFill>
              <a:srgbClr val="D9D9E0"/>
            </a:solidFill>
            <a:prstDash val="solid"/>
          </a:ln>
        </p:spPr>
      </p:sp>
      <p:sp>
        <p:nvSpPr>
          <p:cNvPr id="51" name="bg#49"/>
          <p:cNvSpPr/>
          <p:nvPr/>
        </p:nvSpPr>
        <p:spPr>
          <a:xfrm>
            <a:off x="5852160" y="365760"/>
            <a:ext cx="20117" cy="20117"/>
          </a:xfrm>
          <a:prstGeom prst="ellipse">
            <a:avLst/>
          </a:prstGeom>
          <a:solidFill>
            <a:srgbClr val="D9D9E0"/>
          </a:solidFill>
          <a:ln w="12700">
            <a:solidFill>
              <a:srgbClr val="D9D9E0"/>
            </a:solidFill>
            <a:prstDash val="solid"/>
          </a:ln>
        </p:spPr>
      </p:sp>
      <p:sp>
        <p:nvSpPr>
          <p:cNvPr id="52" name="bg#50"/>
          <p:cNvSpPr/>
          <p:nvPr/>
        </p:nvSpPr>
        <p:spPr>
          <a:xfrm>
            <a:off x="6217920" y="365760"/>
            <a:ext cx="20117" cy="20117"/>
          </a:xfrm>
          <a:prstGeom prst="ellipse">
            <a:avLst/>
          </a:prstGeom>
          <a:solidFill>
            <a:srgbClr val="D9D9E0"/>
          </a:solidFill>
          <a:ln w="12700">
            <a:solidFill>
              <a:srgbClr val="D9D9E0"/>
            </a:solidFill>
            <a:prstDash val="solid"/>
          </a:ln>
        </p:spPr>
      </p:sp>
      <p:sp>
        <p:nvSpPr>
          <p:cNvPr id="53" name="bg#51"/>
          <p:cNvSpPr/>
          <p:nvPr/>
        </p:nvSpPr>
        <p:spPr>
          <a:xfrm>
            <a:off x="6583680" y="365760"/>
            <a:ext cx="20117" cy="20117"/>
          </a:xfrm>
          <a:prstGeom prst="ellipse">
            <a:avLst/>
          </a:prstGeom>
          <a:solidFill>
            <a:srgbClr val="D9D9E0"/>
          </a:solidFill>
          <a:ln w="12700">
            <a:solidFill>
              <a:srgbClr val="D9D9E0"/>
            </a:solidFill>
            <a:prstDash val="solid"/>
          </a:ln>
        </p:spPr>
      </p:sp>
      <p:sp>
        <p:nvSpPr>
          <p:cNvPr id="54" name="bg#52"/>
          <p:cNvSpPr/>
          <p:nvPr/>
        </p:nvSpPr>
        <p:spPr>
          <a:xfrm>
            <a:off x="6949440" y="365760"/>
            <a:ext cx="20117" cy="20117"/>
          </a:xfrm>
          <a:prstGeom prst="ellipse">
            <a:avLst/>
          </a:prstGeom>
          <a:solidFill>
            <a:srgbClr val="D9D9E0"/>
          </a:solidFill>
          <a:ln w="12700">
            <a:solidFill>
              <a:srgbClr val="D9D9E0"/>
            </a:solidFill>
            <a:prstDash val="solid"/>
          </a:ln>
        </p:spPr>
      </p:sp>
      <p:sp>
        <p:nvSpPr>
          <p:cNvPr id="55" name="bg#53"/>
          <p:cNvSpPr/>
          <p:nvPr/>
        </p:nvSpPr>
        <p:spPr>
          <a:xfrm>
            <a:off x="7315200" y="365760"/>
            <a:ext cx="20117" cy="20117"/>
          </a:xfrm>
          <a:prstGeom prst="ellipse">
            <a:avLst/>
          </a:prstGeom>
          <a:solidFill>
            <a:srgbClr val="D9D9E0"/>
          </a:solidFill>
          <a:ln w="12700">
            <a:solidFill>
              <a:srgbClr val="D9D9E0"/>
            </a:solidFill>
            <a:prstDash val="solid"/>
          </a:ln>
        </p:spPr>
      </p:sp>
      <p:sp>
        <p:nvSpPr>
          <p:cNvPr id="56" name="bg#54"/>
          <p:cNvSpPr/>
          <p:nvPr/>
        </p:nvSpPr>
        <p:spPr>
          <a:xfrm>
            <a:off x="7680960" y="365760"/>
            <a:ext cx="20117" cy="20117"/>
          </a:xfrm>
          <a:prstGeom prst="ellipse">
            <a:avLst/>
          </a:prstGeom>
          <a:solidFill>
            <a:srgbClr val="D9D9E0"/>
          </a:solidFill>
          <a:ln w="12700">
            <a:solidFill>
              <a:srgbClr val="D9D9E0"/>
            </a:solidFill>
            <a:prstDash val="solid"/>
          </a:ln>
        </p:spPr>
      </p:sp>
      <p:sp>
        <p:nvSpPr>
          <p:cNvPr id="57" name="bg#55"/>
          <p:cNvSpPr/>
          <p:nvPr/>
        </p:nvSpPr>
        <p:spPr>
          <a:xfrm>
            <a:off x="8046720" y="365760"/>
            <a:ext cx="20117" cy="20117"/>
          </a:xfrm>
          <a:prstGeom prst="ellipse">
            <a:avLst/>
          </a:prstGeom>
          <a:solidFill>
            <a:srgbClr val="D9D9E0"/>
          </a:solidFill>
          <a:ln w="12700">
            <a:solidFill>
              <a:srgbClr val="D9D9E0"/>
            </a:solidFill>
            <a:prstDash val="solid"/>
          </a:ln>
        </p:spPr>
      </p:sp>
      <p:sp>
        <p:nvSpPr>
          <p:cNvPr id="58" name="bg#56"/>
          <p:cNvSpPr/>
          <p:nvPr/>
        </p:nvSpPr>
        <p:spPr>
          <a:xfrm>
            <a:off x="8412480" y="365760"/>
            <a:ext cx="20117" cy="20117"/>
          </a:xfrm>
          <a:prstGeom prst="ellipse">
            <a:avLst/>
          </a:prstGeom>
          <a:solidFill>
            <a:srgbClr val="D9D9E0"/>
          </a:solidFill>
          <a:ln w="12700">
            <a:solidFill>
              <a:srgbClr val="D9D9E0"/>
            </a:solidFill>
            <a:prstDash val="solid"/>
          </a:ln>
        </p:spPr>
      </p:sp>
      <p:sp>
        <p:nvSpPr>
          <p:cNvPr id="59" name="bg#57"/>
          <p:cNvSpPr/>
          <p:nvPr/>
        </p:nvSpPr>
        <p:spPr>
          <a:xfrm>
            <a:off x="8778240" y="365760"/>
            <a:ext cx="20117" cy="20117"/>
          </a:xfrm>
          <a:prstGeom prst="ellipse">
            <a:avLst/>
          </a:prstGeom>
          <a:solidFill>
            <a:srgbClr val="D9D9E0"/>
          </a:solidFill>
          <a:ln w="12700">
            <a:solidFill>
              <a:srgbClr val="D9D9E0"/>
            </a:solidFill>
            <a:prstDash val="solid"/>
          </a:ln>
        </p:spPr>
      </p:sp>
      <p:sp>
        <p:nvSpPr>
          <p:cNvPr id="60" name="bg#58"/>
          <p:cNvSpPr/>
          <p:nvPr/>
        </p:nvSpPr>
        <p:spPr>
          <a:xfrm>
            <a:off x="9144000" y="365760"/>
            <a:ext cx="20117" cy="20117"/>
          </a:xfrm>
          <a:prstGeom prst="ellipse">
            <a:avLst/>
          </a:prstGeom>
          <a:solidFill>
            <a:srgbClr val="D9D9E0"/>
          </a:solidFill>
          <a:ln w="12700">
            <a:solidFill>
              <a:srgbClr val="D9D9E0"/>
            </a:solidFill>
            <a:prstDash val="solid"/>
          </a:ln>
        </p:spPr>
      </p:sp>
      <p:sp>
        <p:nvSpPr>
          <p:cNvPr id="61" name="bg#59"/>
          <p:cNvSpPr/>
          <p:nvPr/>
        </p:nvSpPr>
        <p:spPr>
          <a:xfrm>
            <a:off x="9509760" y="365760"/>
            <a:ext cx="20117" cy="20117"/>
          </a:xfrm>
          <a:prstGeom prst="ellipse">
            <a:avLst/>
          </a:prstGeom>
          <a:solidFill>
            <a:srgbClr val="D9D9E0"/>
          </a:solidFill>
          <a:ln w="12700">
            <a:solidFill>
              <a:srgbClr val="D9D9E0"/>
            </a:solidFill>
            <a:prstDash val="solid"/>
          </a:ln>
        </p:spPr>
      </p:sp>
      <p:sp>
        <p:nvSpPr>
          <p:cNvPr id="62" name="bg#60"/>
          <p:cNvSpPr/>
          <p:nvPr/>
        </p:nvSpPr>
        <p:spPr>
          <a:xfrm>
            <a:off x="9875520" y="365760"/>
            <a:ext cx="20117" cy="20117"/>
          </a:xfrm>
          <a:prstGeom prst="ellipse">
            <a:avLst/>
          </a:prstGeom>
          <a:solidFill>
            <a:srgbClr val="D9D9E0"/>
          </a:solidFill>
          <a:ln w="12700">
            <a:solidFill>
              <a:srgbClr val="D9D9E0"/>
            </a:solidFill>
            <a:prstDash val="solid"/>
          </a:ln>
        </p:spPr>
      </p:sp>
      <p:sp>
        <p:nvSpPr>
          <p:cNvPr id="63" name="bg#61"/>
          <p:cNvSpPr/>
          <p:nvPr/>
        </p:nvSpPr>
        <p:spPr>
          <a:xfrm>
            <a:off x="10241280" y="365760"/>
            <a:ext cx="20117" cy="20117"/>
          </a:xfrm>
          <a:prstGeom prst="ellipse">
            <a:avLst/>
          </a:prstGeom>
          <a:solidFill>
            <a:srgbClr val="D9D9E0"/>
          </a:solidFill>
          <a:ln w="12700">
            <a:solidFill>
              <a:srgbClr val="D9D9E0"/>
            </a:solidFill>
            <a:prstDash val="solid"/>
          </a:ln>
        </p:spPr>
      </p:sp>
      <p:sp>
        <p:nvSpPr>
          <p:cNvPr id="64" name="bg#62"/>
          <p:cNvSpPr/>
          <p:nvPr/>
        </p:nvSpPr>
        <p:spPr>
          <a:xfrm>
            <a:off x="10607040" y="365760"/>
            <a:ext cx="20117" cy="20117"/>
          </a:xfrm>
          <a:prstGeom prst="ellipse">
            <a:avLst/>
          </a:prstGeom>
          <a:solidFill>
            <a:srgbClr val="D9D9E0"/>
          </a:solidFill>
          <a:ln w="12700">
            <a:solidFill>
              <a:srgbClr val="D9D9E0"/>
            </a:solidFill>
            <a:prstDash val="solid"/>
          </a:ln>
        </p:spPr>
      </p:sp>
      <p:sp>
        <p:nvSpPr>
          <p:cNvPr id="65" name="bg#63"/>
          <p:cNvSpPr/>
          <p:nvPr/>
        </p:nvSpPr>
        <p:spPr>
          <a:xfrm>
            <a:off x="10972800" y="365760"/>
            <a:ext cx="20117" cy="20117"/>
          </a:xfrm>
          <a:prstGeom prst="ellipse">
            <a:avLst/>
          </a:prstGeom>
          <a:solidFill>
            <a:srgbClr val="D9D9E0"/>
          </a:solidFill>
          <a:ln w="12700">
            <a:solidFill>
              <a:srgbClr val="D9D9E0"/>
            </a:solidFill>
            <a:prstDash val="solid"/>
          </a:ln>
        </p:spPr>
      </p:sp>
      <p:sp>
        <p:nvSpPr>
          <p:cNvPr id="66" name="bg#64"/>
          <p:cNvSpPr/>
          <p:nvPr/>
        </p:nvSpPr>
        <p:spPr>
          <a:xfrm>
            <a:off x="11338560" y="365760"/>
            <a:ext cx="20117" cy="20117"/>
          </a:xfrm>
          <a:prstGeom prst="ellipse">
            <a:avLst/>
          </a:prstGeom>
          <a:solidFill>
            <a:srgbClr val="D9D9E0"/>
          </a:solidFill>
          <a:ln w="12700">
            <a:solidFill>
              <a:srgbClr val="D9D9E0"/>
            </a:solidFill>
            <a:prstDash val="solid"/>
          </a:ln>
        </p:spPr>
      </p:sp>
      <p:sp>
        <p:nvSpPr>
          <p:cNvPr id="67" name="bg#65"/>
          <p:cNvSpPr/>
          <p:nvPr/>
        </p:nvSpPr>
        <p:spPr>
          <a:xfrm>
            <a:off x="11704320" y="365760"/>
            <a:ext cx="20117" cy="20117"/>
          </a:xfrm>
          <a:prstGeom prst="ellipse">
            <a:avLst/>
          </a:prstGeom>
          <a:solidFill>
            <a:srgbClr val="D9D9E0"/>
          </a:solidFill>
          <a:ln w="12700">
            <a:solidFill>
              <a:srgbClr val="D9D9E0"/>
            </a:solidFill>
            <a:prstDash val="solid"/>
          </a:ln>
        </p:spPr>
      </p:sp>
      <p:sp>
        <p:nvSpPr>
          <p:cNvPr id="68" name="bg#66"/>
          <p:cNvSpPr/>
          <p:nvPr/>
        </p:nvSpPr>
        <p:spPr>
          <a:xfrm>
            <a:off x="0" y="731520"/>
            <a:ext cx="20117" cy="20117"/>
          </a:xfrm>
          <a:prstGeom prst="ellipse">
            <a:avLst/>
          </a:prstGeom>
          <a:solidFill>
            <a:srgbClr val="D9D9E0"/>
          </a:solidFill>
          <a:ln w="12700">
            <a:solidFill>
              <a:srgbClr val="D9D9E0"/>
            </a:solidFill>
            <a:prstDash val="solid"/>
          </a:ln>
        </p:spPr>
      </p:sp>
      <p:sp>
        <p:nvSpPr>
          <p:cNvPr id="69" name="bg#67"/>
          <p:cNvSpPr/>
          <p:nvPr/>
        </p:nvSpPr>
        <p:spPr>
          <a:xfrm>
            <a:off x="365760" y="731520"/>
            <a:ext cx="20117" cy="20117"/>
          </a:xfrm>
          <a:prstGeom prst="ellipse">
            <a:avLst/>
          </a:prstGeom>
          <a:solidFill>
            <a:srgbClr val="D9D9E0"/>
          </a:solidFill>
          <a:ln w="12700">
            <a:solidFill>
              <a:srgbClr val="D9D9E0"/>
            </a:solidFill>
            <a:prstDash val="solid"/>
          </a:ln>
        </p:spPr>
      </p:sp>
      <p:sp>
        <p:nvSpPr>
          <p:cNvPr id="70" name="bg#68"/>
          <p:cNvSpPr/>
          <p:nvPr/>
        </p:nvSpPr>
        <p:spPr>
          <a:xfrm>
            <a:off x="731520" y="731520"/>
            <a:ext cx="20117" cy="20117"/>
          </a:xfrm>
          <a:prstGeom prst="ellipse">
            <a:avLst/>
          </a:prstGeom>
          <a:solidFill>
            <a:srgbClr val="D9D9E0"/>
          </a:solidFill>
          <a:ln w="12700">
            <a:solidFill>
              <a:srgbClr val="D9D9E0"/>
            </a:solidFill>
            <a:prstDash val="solid"/>
          </a:ln>
        </p:spPr>
      </p:sp>
      <p:sp>
        <p:nvSpPr>
          <p:cNvPr id="71" name="bg#69"/>
          <p:cNvSpPr/>
          <p:nvPr/>
        </p:nvSpPr>
        <p:spPr>
          <a:xfrm>
            <a:off x="1097280" y="731520"/>
            <a:ext cx="20117" cy="20117"/>
          </a:xfrm>
          <a:prstGeom prst="ellipse">
            <a:avLst/>
          </a:prstGeom>
          <a:solidFill>
            <a:srgbClr val="D9D9E0"/>
          </a:solidFill>
          <a:ln w="12700">
            <a:solidFill>
              <a:srgbClr val="D9D9E0"/>
            </a:solidFill>
            <a:prstDash val="solid"/>
          </a:ln>
        </p:spPr>
      </p:sp>
      <p:sp>
        <p:nvSpPr>
          <p:cNvPr id="72" name="bg#70"/>
          <p:cNvSpPr/>
          <p:nvPr/>
        </p:nvSpPr>
        <p:spPr>
          <a:xfrm>
            <a:off x="1463040" y="731520"/>
            <a:ext cx="20117" cy="20117"/>
          </a:xfrm>
          <a:prstGeom prst="ellipse">
            <a:avLst/>
          </a:prstGeom>
          <a:solidFill>
            <a:srgbClr val="D9D9E0"/>
          </a:solidFill>
          <a:ln w="12700">
            <a:solidFill>
              <a:srgbClr val="D9D9E0"/>
            </a:solidFill>
            <a:prstDash val="solid"/>
          </a:ln>
        </p:spPr>
      </p:sp>
      <p:sp>
        <p:nvSpPr>
          <p:cNvPr id="73" name="bg#71"/>
          <p:cNvSpPr/>
          <p:nvPr/>
        </p:nvSpPr>
        <p:spPr>
          <a:xfrm>
            <a:off x="1828800" y="731520"/>
            <a:ext cx="20117" cy="20117"/>
          </a:xfrm>
          <a:prstGeom prst="ellipse">
            <a:avLst/>
          </a:prstGeom>
          <a:solidFill>
            <a:srgbClr val="D9D9E0"/>
          </a:solidFill>
          <a:ln w="12700">
            <a:solidFill>
              <a:srgbClr val="D9D9E0"/>
            </a:solidFill>
            <a:prstDash val="solid"/>
          </a:ln>
        </p:spPr>
      </p:sp>
      <p:sp>
        <p:nvSpPr>
          <p:cNvPr id="74" name="bg#72"/>
          <p:cNvSpPr/>
          <p:nvPr/>
        </p:nvSpPr>
        <p:spPr>
          <a:xfrm>
            <a:off x="2194560" y="731520"/>
            <a:ext cx="20117" cy="20117"/>
          </a:xfrm>
          <a:prstGeom prst="ellipse">
            <a:avLst/>
          </a:prstGeom>
          <a:solidFill>
            <a:srgbClr val="D9D9E0"/>
          </a:solidFill>
          <a:ln w="12700">
            <a:solidFill>
              <a:srgbClr val="D9D9E0"/>
            </a:solidFill>
            <a:prstDash val="solid"/>
          </a:ln>
        </p:spPr>
      </p:sp>
      <p:sp>
        <p:nvSpPr>
          <p:cNvPr id="75" name="bg#73"/>
          <p:cNvSpPr/>
          <p:nvPr/>
        </p:nvSpPr>
        <p:spPr>
          <a:xfrm>
            <a:off x="2560320" y="731520"/>
            <a:ext cx="20117" cy="20117"/>
          </a:xfrm>
          <a:prstGeom prst="ellipse">
            <a:avLst/>
          </a:prstGeom>
          <a:solidFill>
            <a:srgbClr val="D9D9E0"/>
          </a:solidFill>
          <a:ln w="12700">
            <a:solidFill>
              <a:srgbClr val="D9D9E0"/>
            </a:solidFill>
            <a:prstDash val="solid"/>
          </a:ln>
        </p:spPr>
      </p:sp>
      <p:sp>
        <p:nvSpPr>
          <p:cNvPr id="76" name="bg#74"/>
          <p:cNvSpPr/>
          <p:nvPr/>
        </p:nvSpPr>
        <p:spPr>
          <a:xfrm>
            <a:off x="2926080" y="731520"/>
            <a:ext cx="20117" cy="20117"/>
          </a:xfrm>
          <a:prstGeom prst="ellipse">
            <a:avLst/>
          </a:prstGeom>
          <a:solidFill>
            <a:srgbClr val="D9D9E0"/>
          </a:solidFill>
          <a:ln w="12700">
            <a:solidFill>
              <a:srgbClr val="D9D9E0"/>
            </a:solidFill>
            <a:prstDash val="solid"/>
          </a:ln>
        </p:spPr>
      </p:sp>
      <p:sp>
        <p:nvSpPr>
          <p:cNvPr id="77" name="bg#75"/>
          <p:cNvSpPr/>
          <p:nvPr/>
        </p:nvSpPr>
        <p:spPr>
          <a:xfrm>
            <a:off x="3291840" y="731520"/>
            <a:ext cx="20117" cy="20117"/>
          </a:xfrm>
          <a:prstGeom prst="ellipse">
            <a:avLst/>
          </a:prstGeom>
          <a:solidFill>
            <a:srgbClr val="D9D9E0"/>
          </a:solidFill>
          <a:ln w="12700">
            <a:solidFill>
              <a:srgbClr val="D9D9E0"/>
            </a:solidFill>
            <a:prstDash val="solid"/>
          </a:ln>
        </p:spPr>
      </p:sp>
      <p:sp>
        <p:nvSpPr>
          <p:cNvPr id="78" name="bg#76"/>
          <p:cNvSpPr/>
          <p:nvPr/>
        </p:nvSpPr>
        <p:spPr>
          <a:xfrm>
            <a:off x="3657600" y="731520"/>
            <a:ext cx="20117" cy="20117"/>
          </a:xfrm>
          <a:prstGeom prst="ellipse">
            <a:avLst/>
          </a:prstGeom>
          <a:solidFill>
            <a:srgbClr val="D9D9E0"/>
          </a:solidFill>
          <a:ln w="12700">
            <a:solidFill>
              <a:srgbClr val="D9D9E0"/>
            </a:solidFill>
            <a:prstDash val="solid"/>
          </a:ln>
        </p:spPr>
      </p:sp>
      <p:sp>
        <p:nvSpPr>
          <p:cNvPr id="79" name="bg#77"/>
          <p:cNvSpPr/>
          <p:nvPr/>
        </p:nvSpPr>
        <p:spPr>
          <a:xfrm>
            <a:off x="4023360" y="731520"/>
            <a:ext cx="20117" cy="20117"/>
          </a:xfrm>
          <a:prstGeom prst="ellipse">
            <a:avLst/>
          </a:prstGeom>
          <a:solidFill>
            <a:srgbClr val="D9D9E0"/>
          </a:solidFill>
          <a:ln w="12700">
            <a:solidFill>
              <a:srgbClr val="D9D9E0"/>
            </a:solidFill>
            <a:prstDash val="solid"/>
          </a:ln>
        </p:spPr>
      </p:sp>
      <p:sp>
        <p:nvSpPr>
          <p:cNvPr id="80" name="bg#78"/>
          <p:cNvSpPr/>
          <p:nvPr/>
        </p:nvSpPr>
        <p:spPr>
          <a:xfrm>
            <a:off x="4389120" y="731520"/>
            <a:ext cx="20117" cy="20117"/>
          </a:xfrm>
          <a:prstGeom prst="ellipse">
            <a:avLst/>
          </a:prstGeom>
          <a:solidFill>
            <a:srgbClr val="D9D9E0"/>
          </a:solidFill>
          <a:ln w="12700">
            <a:solidFill>
              <a:srgbClr val="D9D9E0"/>
            </a:solidFill>
            <a:prstDash val="solid"/>
          </a:ln>
        </p:spPr>
      </p:sp>
      <p:sp>
        <p:nvSpPr>
          <p:cNvPr id="81" name="bg#79"/>
          <p:cNvSpPr/>
          <p:nvPr/>
        </p:nvSpPr>
        <p:spPr>
          <a:xfrm>
            <a:off x="4754880" y="731520"/>
            <a:ext cx="20117" cy="20117"/>
          </a:xfrm>
          <a:prstGeom prst="ellipse">
            <a:avLst/>
          </a:prstGeom>
          <a:solidFill>
            <a:srgbClr val="D9D9E0"/>
          </a:solidFill>
          <a:ln w="12700">
            <a:solidFill>
              <a:srgbClr val="D9D9E0"/>
            </a:solidFill>
            <a:prstDash val="solid"/>
          </a:ln>
        </p:spPr>
      </p:sp>
      <p:sp>
        <p:nvSpPr>
          <p:cNvPr id="82" name="bg#80"/>
          <p:cNvSpPr/>
          <p:nvPr/>
        </p:nvSpPr>
        <p:spPr>
          <a:xfrm>
            <a:off x="5120640" y="731520"/>
            <a:ext cx="20117" cy="20117"/>
          </a:xfrm>
          <a:prstGeom prst="ellipse">
            <a:avLst/>
          </a:prstGeom>
          <a:solidFill>
            <a:srgbClr val="D9D9E0"/>
          </a:solidFill>
          <a:ln w="12700">
            <a:solidFill>
              <a:srgbClr val="D9D9E0"/>
            </a:solidFill>
            <a:prstDash val="solid"/>
          </a:ln>
        </p:spPr>
      </p:sp>
      <p:sp>
        <p:nvSpPr>
          <p:cNvPr id="83" name="bg#81"/>
          <p:cNvSpPr/>
          <p:nvPr/>
        </p:nvSpPr>
        <p:spPr>
          <a:xfrm>
            <a:off x="5486400" y="731520"/>
            <a:ext cx="20117" cy="20117"/>
          </a:xfrm>
          <a:prstGeom prst="ellipse">
            <a:avLst/>
          </a:prstGeom>
          <a:solidFill>
            <a:srgbClr val="D9D9E0"/>
          </a:solidFill>
          <a:ln w="12700">
            <a:solidFill>
              <a:srgbClr val="D9D9E0"/>
            </a:solidFill>
            <a:prstDash val="solid"/>
          </a:ln>
        </p:spPr>
      </p:sp>
      <p:sp>
        <p:nvSpPr>
          <p:cNvPr id="84" name="bg#82"/>
          <p:cNvSpPr/>
          <p:nvPr/>
        </p:nvSpPr>
        <p:spPr>
          <a:xfrm>
            <a:off x="5852160" y="731520"/>
            <a:ext cx="20117" cy="20117"/>
          </a:xfrm>
          <a:prstGeom prst="ellipse">
            <a:avLst/>
          </a:prstGeom>
          <a:solidFill>
            <a:srgbClr val="D9D9E0"/>
          </a:solidFill>
          <a:ln w="12700">
            <a:solidFill>
              <a:srgbClr val="D9D9E0"/>
            </a:solidFill>
            <a:prstDash val="solid"/>
          </a:ln>
        </p:spPr>
      </p:sp>
      <p:sp>
        <p:nvSpPr>
          <p:cNvPr id="85" name="bg#83"/>
          <p:cNvSpPr/>
          <p:nvPr/>
        </p:nvSpPr>
        <p:spPr>
          <a:xfrm>
            <a:off x="6217920" y="731520"/>
            <a:ext cx="20117" cy="20117"/>
          </a:xfrm>
          <a:prstGeom prst="ellipse">
            <a:avLst/>
          </a:prstGeom>
          <a:solidFill>
            <a:srgbClr val="D9D9E0"/>
          </a:solidFill>
          <a:ln w="12700">
            <a:solidFill>
              <a:srgbClr val="D9D9E0"/>
            </a:solidFill>
            <a:prstDash val="solid"/>
          </a:ln>
        </p:spPr>
      </p:sp>
      <p:sp>
        <p:nvSpPr>
          <p:cNvPr id="86" name="bg#84"/>
          <p:cNvSpPr/>
          <p:nvPr/>
        </p:nvSpPr>
        <p:spPr>
          <a:xfrm>
            <a:off x="6583680" y="731520"/>
            <a:ext cx="20117" cy="20117"/>
          </a:xfrm>
          <a:prstGeom prst="ellipse">
            <a:avLst/>
          </a:prstGeom>
          <a:solidFill>
            <a:srgbClr val="D9D9E0"/>
          </a:solidFill>
          <a:ln w="12700">
            <a:solidFill>
              <a:srgbClr val="D9D9E0"/>
            </a:solidFill>
            <a:prstDash val="solid"/>
          </a:ln>
        </p:spPr>
      </p:sp>
      <p:sp>
        <p:nvSpPr>
          <p:cNvPr id="87" name="bg#85"/>
          <p:cNvSpPr/>
          <p:nvPr/>
        </p:nvSpPr>
        <p:spPr>
          <a:xfrm>
            <a:off x="6949440" y="731520"/>
            <a:ext cx="20117" cy="20117"/>
          </a:xfrm>
          <a:prstGeom prst="ellipse">
            <a:avLst/>
          </a:prstGeom>
          <a:solidFill>
            <a:srgbClr val="D9D9E0"/>
          </a:solidFill>
          <a:ln w="12700">
            <a:solidFill>
              <a:srgbClr val="D9D9E0"/>
            </a:solidFill>
            <a:prstDash val="solid"/>
          </a:ln>
        </p:spPr>
      </p:sp>
      <p:sp>
        <p:nvSpPr>
          <p:cNvPr id="88" name="bg#86"/>
          <p:cNvSpPr/>
          <p:nvPr/>
        </p:nvSpPr>
        <p:spPr>
          <a:xfrm>
            <a:off x="7315200" y="731520"/>
            <a:ext cx="20117" cy="20117"/>
          </a:xfrm>
          <a:prstGeom prst="ellipse">
            <a:avLst/>
          </a:prstGeom>
          <a:solidFill>
            <a:srgbClr val="D9D9E0"/>
          </a:solidFill>
          <a:ln w="12700">
            <a:solidFill>
              <a:srgbClr val="D9D9E0"/>
            </a:solidFill>
            <a:prstDash val="solid"/>
          </a:ln>
        </p:spPr>
      </p:sp>
      <p:sp>
        <p:nvSpPr>
          <p:cNvPr id="89" name="bg#87"/>
          <p:cNvSpPr/>
          <p:nvPr/>
        </p:nvSpPr>
        <p:spPr>
          <a:xfrm>
            <a:off x="7680960" y="731520"/>
            <a:ext cx="20117" cy="20117"/>
          </a:xfrm>
          <a:prstGeom prst="ellipse">
            <a:avLst/>
          </a:prstGeom>
          <a:solidFill>
            <a:srgbClr val="D9D9E0"/>
          </a:solidFill>
          <a:ln w="12700">
            <a:solidFill>
              <a:srgbClr val="D9D9E0"/>
            </a:solidFill>
            <a:prstDash val="solid"/>
          </a:ln>
        </p:spPr>
      </p:sp>
      <p:sp>
        <p:nvSpPr>
          <p:cNvPr id="90" name="bg#88"/>
          <p:cNvSpPr/>
          <p:nvPr/>
        </p:nvSpPr>
        <p:spPr>
          <a:xfrm>
            <a:off x="8046720" y="731520"/>
            <a:ext cx="20117" cy="20117"/>
          </a:xfrm>
          <a:prstGeom prst="ellipse">
            <a:avLst/>
          </a:prstGeom>
          <a:solidFill>
            <a:srgbClr val="D9D9E0"/>
          </a:solidFill>
          <a:ln w="12700">
            <a:solidFill>
              <a:srgbClr val="D9D9E0"/>
            </a:solidFill>
            <a:prstDash val="solid"/>
          </a:ln>
        </p:spPr>
      </p:sp>
      <p:sp>
        <p:nvSpPr>
          <p:cNvPr id="91" name="bg#89"/>
          <p:cNvSpPr/>
          <p:nvPr/>
        </p:nvSpPr>
        <p:spPr>
          <a:xfrm>
            <a:off x="8412480" y="731520"/>
            <a:ext cx="20117" cy="20117"/>
          </a:xfrm>
          <a:prstGeom prst="ellipse">
            <a:avLst/>
          </a:prstGeom>
          <a:solidFill>
            <a:srgbClr val="D9D9E0"/>
          </a:solidFill>
          <a:ln w="12700">
            <a:solidFill>
              <a:srgbClr val="D9D9E0"/>
            </a:solidFill>
            <a:prstDash val="solid"/>
          </a:ln>
        </p:spPr>
      </p:sp>
      <p:sp>
        <p:nvSpPr>
          <p:cNvPr id="92" name="bg#90"/>
          <p:cNvSpPr/>
          <p:nvPr/>
        </p:nvSpPr>
        <p:spPr>
          <a:xfrm>
            <a:off x="8778240" y="731520"/>
            <a:ext cx="20117" cy="20117"/>
          </a:xfrm>
          <a:prstGeom prst="ellipse">
            <a:avLst/>
          </a:prstGeom>
          <a:solidFill>
            <a:srgbClr val="D9D9E0"/>
          </a:solidFill>
          <a:ln w="12700">
            <a:solidFill>
              <a:srgbClr val="D9D9E0"/>
            </a:solidFill>
            <a:prstDash val="solid"/>
          </a:ln>
        </p:spPr>
      </p:sp>
      <p:sp>
        <p:nvSpPr>
          <p:cNvPr id="93" name="bg#91"/>
          <p:cNvSpPr/>
          <p:nvPr/>
        </p:nvSpPr>
        <p:spPr>
          <a:xfrm>
            <a:off x="9144000" y="731520"/>
            <a:ext cx="20117" cy="20117"/>
          </a:xfrm>
          <a:prstGeom prst="ellipse">
            <a:avLst/>
          </a:prstGeom>
          <a:solidFill>
            <a:srgbClr val="D9D9E0"/>
          </a:solidFill>
          <a:ln w="12700">
            <a:solidFill>
              <a:srgbClr val="D9D9E0"/>
            </a:solidFill>
            <a:prstDash val="solid"/>
          </a:ln>
        </p:spPr>
      </p:sp>
      <p:sp>
        <p:nvSpPr>
          <p:cNvPr id="94" name="bg#92"/>
          <p:cNvSpPr/>
          <p:nvPr/>
        </p:nvSpPr>
        <p:spPr>
          <a:xfrm>
            <a:off x="9509760" y="731520"/>
            <a:ext cx="20117" cy="20117"/>
          </a:xfrm>
          <a:prstGeom prst="ellipse">
            <a:avLst/>
          </a:prstGeom>
          <a:solidFill>
            <a:srgbClr val="D9D9E0"/>
          </a:solidFill>
          <a:ln w="12700">
            <a:solidFill>
              <a:srgbClr val="D9D9E0"/>
            </a:solidFill>
            <a:prstDash val="solid"/>
          </a:ln>
        </p:spPr>
      </p:sp>
      <p:sp>
        <p:nvSpPr>
          <p:cNvPr id="95" name="bg#93"/>
          <p:cNvSpPr/>
          <p:nvPr/>
        </p:nvSpPr>
        <p:spPr>
          <a:xfrm>
            <a:off x="9875520" y="731520"/>
            <a:ext cx="20117" cy="20117"/>
          </a:xfrm>
          <a:prstGeom prst="ellipse">
            <a:avLst/>
          </a:prstGeom>
          <a:solidFill>
            <a:srgbClr val="D9D9E0"/>
          </a:solidFill>
          <a:ln w="12700">
            <a:solidFill>
              <a:srgbClr val="D9D9E0"/>
            </a:solidFill>
            <a:prstDash val="solid"/>
          </a:ln>
        </p:spPr>
      </p:sp>
      <p:sp>
        <p:nvSpPr>
          <p:cNvPr id="96" name="bg#94"/>
          <p:cNvSpPr/>
          <p:nvPr/>
        </p:nvSpPr>
        <p:spPr>
          <a:xfrm>
            <a:off x="10241280" y="731520"/>
            <a:ext cx="20117" cy="20117"/>
          </a:xfrm>
          <a:prstGeom prst="ellipse">
            <a:avLst/>
          </a:prstGeom>
          <a:solidFill>
            <a:srgbClr val="D9D9E0"/>
          </a:solidFill>
          <a:ln w="12700">
            <a:solidFill>
              <a:srgbClr val="D9D9E0"/>
            </a:solidFill>
            <a:prstDash val="solid"/>
          </a:ln>
        </p:spPr>
      </p:sp>
      <p:sp>
        <p:nvSpPr>
          <p:cNvPr id="97" name="bg#95"/>
          <p:cNvSpPr/>
          <p:nvPr/>
        </p:nvSpPr>
        <p:spPr>
          <a:xfrm>
            <a:off x="10607040" y="731520"/>
            <a:ext cx="20117" cy="20117"/>
          </a:xfrm>
          <a:prstGeom prst="ellipse">
            <a:avLst/>
          </a:prstGeom>
          <a:solidFill>
            <a:srgbClr val="D9D9E0"/>
          </a:solidFill>
          <a:ln w="12700">
            <a:solidFill>
              <a:srgbClr val="D9D9E0"/>
            </a:solidFill>
            <a:prstDash val="solid"/>
          </a:ln>
        </p:spPr>
      </p:sp>
      <p:sp>
        <p:nvSpPr>
          <p:cNvPr id="98" name="bg#96"/>
          <p:cNvSpPr/>
          <p:nvPr/>
        </p:nvSpPr>
        <p:spPr>
          <a:xfrm>
            <a:off x="10972800" y="731520"/>
            <a:ext cx="20117" cy="20117"/>
          </a:xfrm>
          <a:prstGeom prst="ellipse">
            <a:avLst/>
          </a:prstGeom>
          <a:solidFill>
            <a:srgbClr val="D9D9E0"/>
          </a:solidFill>
          <a:ln w="12700">
            <a:solidFill>
              <a:srgbClr val="D9D9E0"/>
            </a:solidFill>
            <a:prstDash val="solid"/>
          </a:ln>
        </p:spPr>
      </p:sp>
      <p:sp>
        <p:nvSpPr>
          <p:cNvPr id="99" name="bg#97"/>
          <p:cNvSpPr/>
          <p:nvPr/>
        </p:nvSpPr>
        <p:spPr>
          <a:xfrm>
            <a:off x="11338560" y="731520"/>
            <a:ext cx="20117" cy="20117"/>
          </a:xfrm>
          <a:prstGeom prst="ellipse">
            <a:avLst/>
          </a:prstGeom>
          <a:solidFill>
            <a:srgbClr val="D9D9E0"/>
          </a:solidFill>
          <a:ln w="12700">
            <a:solidFill>
              <a:srgbClr val="D9D9E0"/>
            </a:solidFill>
            <a:prstDash val="solid"/>
          </a:ln>
        </p:spPr>
      </p:sp>
      <p:sp>
        <p:nvSpPr>
          <p:cNvPr id="100" name="bg#98"/>
          <p:cNvSpPr/>
          <p:nvPr/>
        </p:nvSpPr>
        <p:spPr>
          <a:xfrm>
            <a:off x="11704320" y="731520"/>
            <a:ext cx="20117" cy="20117"/>
          </a:xfrm>
          <a:prstGeom prst="ellipse">
            <a:avLst/>
          </a:prstGeom>
          <a:solidFill>
            <a:srgbClr val="D9D9E0"/>
          </a:solidFill>
          <a:ln w="12700">
            <a:solidFill>
              <a:srgbClr val="D9D9E0"/>
            </a:solidFill>
            <a:prstDash val="solid"/>
          </a:ln>
        </p:spPr>
      </p:sp>
      <p:sp>
        <p:nvSpPr>
          <p:cNvPr id="101" name="bg#99"/>
          <p:cNvSpPr/>
          <p:nvPr/>
        </p:nvSpPr>
        <p:spPr>
          <a:xfrm>
            <a:off x="0" y="1097280"/>
            <a:ext cx="20117" cy="20117"/>
          </a:xfrm>
          <a:prstGeom prst="ellipse">
            <a:avLst/>
          </a:prstGeom>
          <a:solidFill>
            <a:srgbClr val="D9D9E0"/>
          </a:solidFill>
          <a:ln w="12700">
            <a:solidFill>
              <a:srgbClr val="D9D9E0"/>
            </a:solidFill>
            <a:prstDash val="solid"/>
          </a:ln>
        </p:spPr>
      </p:sp>
      <p:sp>
        <p:nvSpPr>
          <p:cNvPr id="102" name="bg#100"/>
          <p:cNvSpPr/>
          <p:nvPr/>
        </p:nvSpPr>
        <p:spPr>
          <a:xfrm>
            <a:off x="365760" y="1097280"/>
            <a:ext cx="20117" cy="20117"/>
          </a:xfrm>
          <a:prstGeom prst="ellipse">
            <a:avLst/>
          </a:prstGeom>
          <a:solidFill>
            <a:srgbClr val="D9D9E0"/>
          </a:solidFill>
          <a:ln w="12700">
            <a:solidFill>
              <a:srgbClr val="D9D9E0"/>
            </a:solidFill>
            <a:prstDash val="solid"/>
          </a:ln>
        </p:spPr>
      </p:sp>
      <p:sp>
        <p:nvSpPr>
          <p:cNvPr id="103" name="bg#101"/>
          <p:cNvSpPr/>
          <p:nvPr/>
        </p:nvSpPr>
        <p:spPr>
          <a:xfrm>
            <a:off x="731520" y="1097280"/>
            <a:ext cx="20117" cy="20117"/>
          </a:xfrm>
          <a:prstGeom prst="ellipse">
            <a:avLst/>
          </a:prstGeom>
          <a:solidFill>
            <a:srgbClr val="D9D9E0"/>
          </a:solidFill>
          <a:ln w="12700">
            <a:solidFill>
              <a:srgbClr val="D9D9E0"/>
            </a:solidFill>
            <a:prstDash val="solid"/>
          </a:ln>
        </p:spPr>
      </p:sp>
      <p:sp>
        <p:nvSpPr>
          <p:cNvPr id="104" name="bg#102"/>
          <p:cNvSpPr/>
          <p:nvPr/>
        </p:nvSpPr>
        <p:spPr>
          <a:xfrm>
            <a:off x="1097280" y="1097280"/>
            <a:ext cx="20117" cy="20117"/>
          </a:xfrm>
          <a:prstGeom prst="ellipse">
            <a:avLst/>
          </a:prstGeom>
          <a:solidFill>
            <a:srgbClr val="D9D9E0"/>
          </a:solidFill>
          <a:ln w="12700">
            <a:solidFill>
              <a:srgbClr val="D9D9E0"/>
            </a:solidFill>
            <a:prstDash val="solid"/>
          </a:ln>
        </p:spPr>
      </p:sp>
      <p:sp>
        <p:nvSpPr>
          <p:cNvPr id="105" name="bg#103"/>
          <p:cNvSpPr/>
          <p:nvPr/>
        </p:nvSpPr>
        <p:spPr>
          <a:xfrm>
            <a:off x="1463040" y="1097280"/>
            <a:ext cx="20117" cy="20117"/>
          </a:xfrm>
          <a:prstGeom prst="ellipse">
            <a:avLst/>
          </a:prstGeom>
          <a:solidFill>
            <a:srgbClr val="D9D9E0"/>
          </a:solidFill>
          <a:ln w="12700">
            <a:solidFill>
              <a:srgbClr val="D9D9E0"/>
            </a:solidFill>
            <a:prstDash val="solid"/>
          </a:ln>
        </p:spPr>
      </p:sp>
      <p:sp>
        <p:nvSpPr>
          <p:cNvPr id="106" name="bg#104"/>
          <p:cNvSpPr/>
          <p:nvPr/>
        </p:nvSpPr>
        <p:spPr>
          <a:xfrm>
            <a:off x="1828800" y="1097280"/>
            <a:ext cx="20117" cy="20117"/>
          </a:xfrm>
          <a:prstGeom prst="ellipse">
            <a:avLst/>
          </a:prstGeom>
          <a:solidFill>
            <a:srgbClr val="D9D9E0"/>
          </a:solidFill>
          <a:ln w="12700">
            <a:solidFill>
              <a:srgbClr val="D9D9E0"/>
            </a:solidFill>
            <a:prstDash val="solid"/>
          </a:ln>
        </p:spPr>
      </p:sp>
      <p:sp>
        <p:nvSpPr>
          <p:cNvPr id="107" name="bg#105"/>
          <p:cNvSpPr/>
          <p:nvPr/>
        </p:nvSpPr>
        <p:spPr>
          <a:xfrm>
            <a:off x="2194560" y="1097280"/>
            <a:ext cx="20117" cy="20117"/>
          </a:xfrm>
          <a:prstGeom prst="ellipse">
            <a:avLst/>
          </a:prstGeom>
          <a:solidFill>
            <a:srgbClr val="D9D9E0"/>
          </a:solidFill>
          <a:ln w="12700">
            <a:solidFill>
              <a:srgbClr val="D9D9E0"/>
            </a:solidFill>
            <a:prstDash val="solid"/>
          </a:ln>
        </p:spPr>
      </p:sp>
      <p:sp>
        <p:nvSpPr>
          <p:cNvPr id="108" name="bg#106"/>
          <p:cNvSpPr/>
          <p:nvPr/>
        </p:nvSpPr>
        <p:spPr>
          <a:xfrm>
            <a:off x="2560320" y="1097280"/>
            <a:ext cx="20117" cy="20117"/>
          </a:xfrm>
          <a:prstGeom prst="ellipse">
            <a:avLst/>
          </a:prstGeom>
          <a:solidFill>
            <a:srgbClr val="D9D9E0"/>
          </a:solidFill>
          <a:ln w="12700">
            <a:solidFill>
              <a:srgbClr val="D9D9E0"/>
            </a:solidFill>
            <a:prstDash val="solid"/>
          </a:ln>
        </p:spPr>
      </p:sp>
      <p:sp>
        <p:nvSpPr>
          <p:cNvPr id="109" name="bg#107"/>
          <p:cNvSpPr/>
          <p:nvPr/>
        </p:nvSpPr>
        <p:spPr>
          <a:xfrm>
            <a:off x="2926080" y="1097280"/>
            <a:ext cx="20117" cy="20117"/>
          </a:xfrm>
          <a:prstGeom prst="ellipse">
            <a:avLst/>
          </a:prstGeom>
          <a:solidFill>
            <a:srgbClr val="D9D9E0"/>
          </a:solidFill>
          <a:ln w="12700">
            <a:solidFill>
              <a:srgbClr val="D9D9E0"/>
            </a:solidFill>
            <a:prstDash val="solid"/>
          </a:ln>
        </p:spPr>
      </p:sp>
      <p:sp>
        <p:nvSpPr>
          <p:cNvPr id="110" name="bg#108"/>
          <p:cNvSpPr/>
          <p:nvPr/>
        </p:nvSpPr>
        <p:spPr>
          <a:xfrm>
            <a:off x="3291840" y="1097280"/>
            <a:ext cx="20117" cy="20117"/>
          </a:xfrm>
          <a:prstGeom prst="ellipse">
            <a:avLst/>
          </a:prstGeom>
          <a:solidFill>
            <a:srgbClr val="D9D9E0"/>
          </a:solidFill>
          <a:ln w="12700">
            <a:solidFill>
              <a:srgbClr val="D9D9E0"/>
            </a:solidFill>
            <a:prstDash val="solid"/>
          </a:ln>
        </p:spPr>
      </p:sp>
      <p:sp>
        <p:nvSpPr>
          <p:cNvPr id="111" name="bg#109"/>
          <p:cNvSpPr/>
          <p:nvPr/>
        </p:nvSpPr>
        <p:spPr>
          <a:xfrm>
            <a:off x="3657600" y="1097280"/>
            <a:ext cx="20117" cy="20117"/>
          </a:xfrm>
          <a:prstGeom prst="ellipse">
            <a:avLst/>
          </a:prstGeom>
          <a:solidFill>
            <a:srgbClr val="D9D9E0"/>
          </a:solidFill>
          <a:ln w="12700">
            <a:solidFill>
              <a:srgbClr val="D9D9E0"/>
            </a:solidFill>
            <a:prstDash val="solid"/>
          </a:ln>
        </p:spPr>
      </p:sp>
      <p:sp>
        <p:nvSpPr>
          <p:cNvPr id="112" name="bg#110"/>
          <p:cNvSpPr/>
          <p:nvPr/>
        </p:nvSpPr>
        <p:spPr>
          <a:xfrm>
            <a:off x="4023360" y="1097280"/>
            <a:ext cx="20117" cy="20117"/>
          </a:xfrm>
          <a:prstGeom prst="ellipse">
            <a:avLst/>
          </a:prstGeom>
          <a:solidFill>
            <a:srgbClr val="D9D9E0"/>
          </a:solidFill>
          <a:ln w="12700">
            <a:solidFill>
              <a:srgbClr val="D9D9E0"/>
            </a:solidFill>
            <a:prstDash val="solid"/>
          </a:ln>
        </p:spPr>
      </p:sp>
      <p:sp>
        <p:nvSpPr>
          <p:cNvPr id="113" name="bg#111"/>
          <p:cNvSpPr/>
          <p:nvPr/>
        </p:nvSpPr>
        <p:spPr>
          <a:xfrm>
            <a:off x="4389120" y="1097280"/>
            <a:ext cx="20117" cy="20117"/>
          </a:xfrm>
          <a:prstGeom prst="ellipse">
            <a:avLst/>
          </a:prstGeom>
          <a:solidFill>
            <a:srgbClr val="D9D9E0"/>
          </a:solidFill>
          <a:ln w="12700">
            <a:solidFill>
              <a:srgbClr val="D9D9E0"/>
            </a:solidFill>
            <a:prstDash val="solid"/>
          </a:ln>
        </p:spPr>
      </p:sp>
      <p:sp>
        <p:nvSpPr>
          <p:cNvPr id="114" name="bg#112"/>
          <p:cNvSpPr/>
          <p:nvPr/>
        </p:nvSpPr>
        <p:spPr>
          <a:xfrm>
            <a:off x="4754880" y="1097280"/>
            <a:ext cx="20117" cy="20117"/>
          </a:xfrm>
          <a:prstGeom prst="ellipse">
            <a:avLst/>
          </a:prstGeom>
          <a:solidFill>
            <a:srgbClr val="D9D9E0"/>
          </a:solidFill>
          <a:ln w="12700">
            <a:solidFill>
              <a:srgbClr val="D9D9E0"/>
            </a:solidFill>
            <a:prstDash val="solid"/>
          </a:ln>
        </p:spPr>
      </p:sp>
      <p:sp>
        <p:nvSpPr>
          <p:cNvPr id="115" name="bg#113"/>
          <p:cNvSpPr/>
          <p:nvPr/>
        </p:nvSpPr>
        <p:spPr>
          <a:xfrm>
            <a:off x="5120640" y="1097280"/>
            <a:ext cx="20117" cy="20117"/>
          </a:xfrm>
          <a:prstGeom prst="ellipse">
            <a:avLst/>
          </a:prstGeom>
          <a:solidFill>
            <a:srgbClr val="D9D9E0"/>
          </a:solidFill>
          <a:ln w="12700">
            <a:solidFill>
              <a:srgbClr val="D9D9E0"/>
            </a:solidFill>
            <a:prstDash val="solid"/>
          </a:ln>
        </p:spPr>
      </p:sp>
      <p:sp>
        <p:nvSpPr>
          <p:cNvPr id="116" name="bg#114"/>
          <p:cNvSpPr/>
          <p:nvPr/>
        </p:nvSpPr>
        <p:spPr>
          <a:xfrm>
            <a:off x="5486400" y="1097280"/>
            <a:ext cx="20117" cy="20117"/>
          </a:xfrm>
          <a:prstGeom prst="ellipse">
            <a:avLst/>
          </a:prstGeom>
          <a:solidFill>
            <a:srgbClr val="D9D9E0"/>
          </a:solidFill>
          <a:ln w="12700">
            <a:solidFill>
              <a:srgbClr val="D9D9E0"/>
            </a:solidFill>
            <a:prstDash val="solid"/>
          </a:ln>
        </p:spPr>
      </p:sp>
      <p:sp>
        <p:nvSpPr>
          <p:cNvPr id="117" name="bg#115"/>
          <p:cNvSpPr/>
          <p:nvPr/>
        </p:nvSpPr>
        <p:spPr>
          <a:xfrm>
            <a:off x="5852160" y="1097280"/>
            <a:ext cx="20117" cy="20117"/>
          </a:xfrm>
          <a:prstGeom prst="ellipse">
            <a:avLst/>
          </a:prstGeom>
          <a:solidFill>
            <a:srgbClr val="D9D9E0"/>
          </a:solidFill>
          <a:ln w="12700">
            <a:solidFill>
              <a:srgbClr val="D9D9E0"/>
            </a:solidFill>
            <a:prstDash val="solid"/>
          </a:ln>
        </p:spPr>
      </p:sp>
      <p:sp>
        <p:nvSpPr>
          <p:cNvPr id="118" name="bg#116"/>
          <p:cNvSpPr/>
          <p:nvPr/>
        </p:nvSpPr>
        <p:spPr>
          <a:xfrm>
            <a:off x="6217920" y="1097280"/>
            <a:ext cx="20117" cy="20117"/>
          </a:xfrm>
          <a:prstGeom prst="ellipse">
            <a:avLst/>
          </a:prstGeom>
          <a:solidFill>
            <a:srgbClr val="D9D9E0"/>
          </a:solidFill>
          <a:ln w="12700">
            <a:solidFill>
              <a:srgbClr val="D9D9E0"/>
            </a:solidFill>
            <a:prstDash val="solid"/>
          </a:ln>
        </p:spPr>
      </p:sp>
      <p:sp>
        <p:nvSpPr>
          <p:cNvPr id="119" name="bg#117"/>
          <p:cNvSpPr/>
          <p:nvPr/>
        </p:nvSpPr>
        <p:spPr>
          <a:xfrm>
            <a:off x="6583680" y="1097280"/>
            <a:ext cx="20117" cy="20117"/>
          </a:xfrm>
          <a:prstGeom prst="ellipse">
            <a:avLst/>
          </a:prstGeom>
          <a:solidFill>
            <a:srgbClr val="D9D9E0"/>
          </a:solidFill>
          <a:ln w="12700">
            <a:solidFill>
              <a:srgbClr val="D9D9E0"/>
            </a:solidFill>
            <a:prstDash val="solid"/>
          </a:ln>
        </p:spPr>
      </p:sp>
      <p:sp>
        <p:nvSpPr>
          <p:cNvPr id="120" name="bg#118"/>
          <p:cNvSpPr/>
          <p:nvPr/>
        </p:nvSpPr>
        <p:spPr>
          <a:xfrm>
            <a:off x="6949440" y="1097280"/>
            <a:ext cx="20117" cy="20117"/>
          </a:xfrm>
          <a:prstGeom prst="ellipse">
            <a:avLst/>
          </a:prstGeom>
          <a:solidFill>
            <a:srgbClr val="D9D9E0"/>
          </a:solidFill>
          <a:ln w="12700">
            <a:solidFill>
              <a:srgbClr val="D9D9E0"/>
            </a:solidFill>
            <a:prstDash val="solid"/>
          </a:ln>
        </p:spPr>
      </p:sp>
      <p:sp>
        <p:nvSpPr>
          <p:cNvPr id="121" name="bg#119"/>
          <p:cNvSpPr/>
          <p:nvPr/>
        </p:nvSpPr>
        <p:spPr>
          <a:xfrm>
            <a:off x="7315200" y="1097280"/>
            <a:ext cx="20117" cy="20117"/>
          </a:xfrm>
          <a:prstGeom prst="ellipse">
            <a:avLst/>
          </a:prstGeom>
          <a:solidFill>
            <a:srgbClr val="D9D9E0"/>
          </a:solidFill>
          <a:ln w="12700">
            <a:solidFill>
              <a:srgbClr val="D9D9E0"/>
            </a:solidFill>
            <a:prstDash val="solid"/>
          </a:ln>
        </p:spPr>
      </p:sp>
      <p:sp>
        <p:nvSpPr>
          <p:cNvPr id="122" name="bg#120"/>
          <p:cNvSpPr/>
          <p:nvPr/>
        </p:nvSpPr>
        <p:spPr>
          <a:xfrm>
            <a:off x="7680960" y="1097280"/>
            <a:ext cx="20117" cy="20117"/>
          </a:xfrm>
          <a:prstGeom prst="ellipse">
            <a:avLst/>
          </a:prstGeom>
          <a:solidFill>
            <a:srgbClr val="D9D9E0"/>
          </a:solidFill>
          <a:ln w="12700">
            <a:solidFill>
              <a:srgbClr val="D9D9E0"/>
            </a:solidFill>
            <a:prstDash val="solid"/>
          </a:ln>
        </p:spPr>
      </p:sp>
      <p:sp>
        <p:nvSpPr>
          <p:cNvPr id="123" name="bg#121"/>
          <p:cNvSpPr/>
          <p:nvPr/>
        </p:nvSpPr>
        <p:spPr>
          <a:xfrm>
            <a:off x="8046720" y="1097280"/>
            <a:ext cx="20117" cy="20117"/>
          </a:xfrm>
          <a:prstGeom prst="ellipse">
            <a:avLst/>
          </a:prstGeom>
          <a:solidFill>
            <a:srgbClr val="D9D9E0"/>
          </a:solidFill>
          <a:ln w="12700">
            <a:solidFill>
              <a:srgbClr val="D9D9E0"/>
            </a:solidFill>
            <a:prstDash val="solid"/>
          </a:ln>
        </p:spPr>
      </p:sp>
      <p:sp>
        <p:nvSpPr>
          <p:cNvPr id="124" name="bg#122"/>
          <p:cNvSpPr/>
          <p:nvPr/>
        </p:nvSpPr>
        <p:spPr>
          <a:xfrm>
            <a:off x="8412480" y="1097280"/>
            <a:ext cx="20117" cy="20117"/>
          </a:xfrm>
          <a:prstGeom prst="ellipse">
            <a:avLst/>
          </a:prstGeom>
          <a:solidFill>
            <a:srgbClr val="D9D9E0"/>
          </a:solidFill>
          <a:ln w="12700">
            <a:solidFill>
              <a:srgbClr val="D9D9E0"/>
            </a:solidFill>
            <a:prstDash val="solid"/>
          </a:ln>
        </p:spPr>
      </p:sp>
      <p:sp>
        <p:nvSpPr>
          <p:cNvPr id="125" name="bg#123"/>
          <p:cNvSpPr/>
          <p:nvPr/>
        </p:nvSpPr>
        <p:spPr>
          <a:xfrm>
            <a:off x="8778240" y="1097280"/>
            <a:ext cx="20117" cy="20117"/>
          </a:xfrm>
          <a:prstGeom prst="ellipse">
            <a:avLst/>
          </a:prstGeom>
          <a:solidFill>
            <a:srgbClr val="D9D9E0"/>
          </a:solidFill>
          <a:ln w="12700">
            <a:solidFill>
              <a:srgbClr val="D9D9E0"/>
            </a:solidFill>
            <a:prstDash val="solid"/>
          </a:ln>
        </p:spPr>
      </p:sp>
      <p:sp>
        <p:nvSpPr>
          <p:cNvPr id="126" name="bg#124"/>
          <p:cNvSpPr/>
          <p:nvPr/>
        </p:nvSpPr>
        <p:spPr>
          <a:xfrm>
            <a:off x="9144000" y="1097280"/>
            <a:ext cx="20117" cy="20117"/>
          </a:xfrm>
          <a:prstGeom prst="ellipse">
            <a:avLst/>
          </a:prstGeom>
          <a:solidFill>
            <a:srgbClr val="D9D9E0"/>
          </a:solidFill>
          <a:ln w="12700">
            <a:solidFill>
              <a:srgbClr val="D9D9E0"/>
            </a:solidFill>
            <a:prstDash val="solid"/>
          </a:ln>
        </p:spPr>
      </p:sp>
      <p:sp>
        <p:nvSpPr>
          <p:cNvPr id="127" name="bg#125"/>
          <p:cNvSpPr/>
          <p:nvPr/>
        </p:nvSpPr>
        <p:spPr>
          <a:xfrm>
            <a:off x="9509760" y="1097280"/>
            <a:ext cx="20117" cy="20117"/>
          </a:xfrm>
          <a:prstGeom prst="ellipse">
            <a:avLst/>
          </a:prstGeom>
          <a:solidFill>
            <a:srgbClr val="D9D9E0"/>
          </a:solidFill>
          <a:ln w="12700">
            <a:solidFill>
              <a:srgbClr val="D9D9E0"/>
            </a:solidFill>
            <a:prstDash val="solid"/>
          </a:ln>
        </p:spPr>
      </p:sp>
      <p:sp>
        <p:nvSpPr>
          <p:cNvPr id="128" name="bg#126"/>
          <p:cNvSpPr/>
          <p:nvPr/>
        </p:nvSpPr>
        <p:spPr>
          <a:xfrm>
            <a:off x="9875520" y="1097280"/>
            <a:ext cx="20117" cy="20117"/>
          </a:xfrm>
          <a:prstGeom prst="ellipse">
            <a:avLst/>
          </a:prstGeom>
          <a:solidFill>
            <a:srgbClr val="D9D9E0"/>
          </a:solidFill>
          <a:ln w="12700">
            <a:solidFill>
              <a:srgbClr val="D9D9E0"/>
            </a:solidFill>
            <a:prstDash val="solid"/>
          </a:ln>
        </p:spPr>
      </p:sp>
      <p:sp>
        <p:nvSpPr>
          <p:cNvPr id="129" name="bg#127"/>
          <p:cNvSpPr/>
          <p:nvPr/>
        </p:nvSpPr>
        <p:spPr>
          <a:xfrm>
            <a:off x="10241280" y="1097280"/>
            <a:ext cx="20117" cy="20117"/>
          </a:xfrm>
          <a:prstGeom prst="ellipse">
            <a:avLst/>
          </a:prstGeom>
          <a:solidFill>
            <a:srgbClr val="D9D9E0"/>
          </a:solidFill>
          <a:ln w="12700">
            <a:solidFill>
              <a:srgbClr val="D9D9E0"/>
            </a:solidFill>
            <a:prstDash val="solid"/>
          </a:ln>
        </p:spPr>
      </p:sp>
      <p:sp>
        <p:nvSpPr>
          <p:cNvPr id="130" name="bg#128"/>
          <p:cNvSpPr/>
          <p:nvPr/>
        </p:nvSpPr>
        <p:spPr>
          <a:xfrm>
            <a:off x="10607040" y="1097280"/>
            <a:ext cx="20117" cy="20117"/>
          </a:xfrm>
          <a:prstGeom prst="ellipse">
            <a:avLst/>
          </a:prstGeom>
          <a:solidFill>
            <a:srgbClr val="D9D9E0"/>
          </a:solidFill>
          <a:ln w="12700">
            <a:solidFill>
              <a:srgbClr val="D9D9E0"/>
            </a:solidFill>
            <a:prstDash val="solid"/>
          </a:ln>
        </p:spPr>
      </p:sp>
      <p:sp>
        <p:nvSpPr>
          <p:cNvPr id="131" name="bg#129"/>
          <p:cNvSpPr/>
          <p:nvPr/>
        </p:nvSpPr>
        <p:spPr>
          <a:xfrm>
            <a:off x="10972800" y="1097280"/>
            <a:ext cx="20117" cy="20117"/>
          </a:xfrm>
          <a:prstGeom prst="ellipse">
            <a:avLst/>
          </a:prstGeom>
          <a:solidFill>
            <a:srgbClr val="D9D9E0"/>
          </a:solidFill>
          <a:ln w="12700">
            <a:solidFill>
              <a:srgbClr val="D9D9E0"/>
            </a:solidFill>
            <a:prstDash val="solid"/>
          </a:ln>
        </p:spPr>
      </p:sp>
      <p:sp>
        <p:nvSpPr>
          <p:cNvPr id="132" name="bg#130"/>
          <p:cNvSpPr/>
          <p:nvPr/>
        </p:nvSpPr>
        <p:spPr>
          <a:xfrm>
            <a:off x="11338560" y="1097280"/>
            <a:ext cx="20117" cy="20117"/>
          </a:xfrm>
          <a:prstGeom prst="ellipse">
            <a:avLst/>
          </a:prstGeom>
          <a:solidFill>
            <a:srgbClr val="D9D9E0"/>
          </a:solidFill>
          <a:ln w="12700">
            <a:solidFill>
              <a:srgbClr val="D9D9E0"/>
            </a:solidFill>
            <a:prstDash val="solid"/>
          </a:ln>
        </p:spPr>
      </p:sp>
      <p:sp>
        <p:nvSpPr>
          <p:cNvPr id="133" name="bg#131"/>
          <p:cNvSpPr/>
          <p:nvPr/>
        </p:nvSpPr>
        <p:spPr>
          <a:xfrm>
            <a:off x="11704320" y="1097280"/>
            <a:ext cx="20117" cy="20117"/>
          </a:xfrm>
          <a:prstGeom prst="ellipse">
            <a:avLst/>
          </a:prstGeom>
          <a:solidFill>
            <a:srgbClr val="D9D9E0"/>
          </a:solidFill>
          <a:ln w="12700">
            <a:solidFill>
              <a:srgbClr val="D9D9E0"/>
            </a:solidFill>
            <a:prstDash val="solid"/>
          </a:ln>
        </p:spPr>
      </p:sp>
      <p:sp>
        <p:nvSpPr>
          <p:cNvPr id="134" name="bg#132"/>
          <p:cNvSpPr/>
          <p:nvPr/>
        </p:nvSpPr>
        <p:spPr>
          <a:xfrm>
            <a:off x="0" y="1463040"/>
            <a:ext cx="20117" cy="20117"/>
          </a:xfrm>
          <a:prstGeom prst="ellipse">
            <a:avLst/>
          </a:prstGeom>
          <a:solidFill>
            <a:srgbClr val="D9D9E0"/>
          </a:solidFill>
          <a:ln w="12700">
            <a:solidFill>
              <a:srgbClr val="D9D9E0"/>
            </a:solidFill>
            <a:prstDash val="solid"/>
          </a:ln>
        </p:spPr>
      </p:sp>
      <p:sp>
        <p:nvSpPr>
          <p:cNvPr id="135" name="bg#133"/>
          <p:cNvSpPr/>
          <p:nvPr/>
        </p:nvSpPr>
        <p:spPr>
          <a:xfrm>
            <a:off x="365760" y="1463040"/>
            <a:ext cx="20117" cy="20117"/>
          </a:xfrm>
          <a:prstGeom prst="ellipse">
            <a:avLst/>
          </a:prstGeom>
          <a:solidFill>
            <a:srgbClr val="D9D9E0"/>
          </a:solidFill>
          <a:ln w="12700">
            <a:solidFill>
              <a:srgbClr val="D9D9E0"/>
            </a:solidFill>
            <a:prstDash val="solid"/>
          </a:ln>
        </p:spPr>
      </p:sp>
      <p:sp>
        <p:nvSpPr>
          <p:cNvPr id="136" name="bg#134"/>
          <p:cNvSpPr/>
          <p:nvPr/>
        </p:nvSpPr>
        <p:spPr>
          <a:xfrm>
            <a:off x="731520" y="1463040"/>
            <a:ext cx="20117" cy="20117"/>
          </a:xfrm>
          <a:prstGeom prst="ellipse">
            <a:avLst/>
          </a:prstGeom>
          <a:solidFill>
            <a:srgbClr val="D9D9E0"/>
          </a:solidFill>
          <a:ln w="12700">
            <a:solidFill>
              <a:srgbClr val="D9D9E0"/>
            </a:solidFill>
            <a:prstDash val="solid"/>
          </a:ln>
        </p:spPr>
      </p:sp>
      <p:sp>
        <p:nvSpPr>
          <p:cNvPr id="137" name="bg#135"/>
          <p:cNvSpPr/>
          <p:nvPr/>
        </p:nvSpPr>
        <p:spPr>
          <a:xfrm>
            <a:off x="1097280" y="1463040"/>
            <a:ext cx="20117" cy="20117"/>
          </a:xfrm>
          <a:prstGeom prst="ellipse">
            <a:avLst/>
          </a:prstGeom>
          <a:solidFill>
            <a:srgbClr val="D9D9E0"/>
          </a:solidFill>
          <a:ln w="12700">
            <a:solidFill>
              <a:srgbClr val="D9D9E0"/>
            </a:solidFill>
            <a:prstDash val="solid"/>
          </a:ln>
        </p:spPr>
      </p:sp>
      <p:sp>
        <p:nvSpPr>
          <p:cNvPr id="138" name="bg#136"/>
          <p:cNvSpPr/>
          <p:nvPr/>
        </p:nvSpPr>
        <p:spPr>
          <a:xfrm>
            <a:off x="1463040" y="1463040"/>
            <a:ext cx="20117" cy="20117"/>
          </a:xfrm>
          <a:prstGeom prst="ellipse">
            <a:avLst/>
          </a:prstGeom>
          <a:solidFill>
            <a:srgbClr val="D9D9E0"/>
          </a:solidFill>
          <a:ln w="12700">
            <a:solidFill>
              <a:srgbClr val="D9D9E0"/>
            </a:solidFill>
            <a:prstDash val="solid"/>
          </a:ln>
        </p:spPr>
      </p:sp>
      <p:sp>
        <p:nvSpPr>
          <p:cNvPr id="139" name="bg#137"/>
          <p:cNvSpPr/>
          <p:nvPr/>
        </p:nvSpPr>
        <p:spPr>
          <a:xfrm>
            <a:off x="1828800" y="1463040"/>
            <a:ext cx="20117" cy="20117"/>
          </a:xfrm>
          <a:prstGeom prst="ellipse">
            <a:avLst/>
          </a:prstGeom>
          <a:solidFill>
            <a:srgbClr val="D9D9E0"/>
          </a:solidFill>
          <a:ln w="12700">
            <a:solidFill>
              <a:srgbClr val="D9D9E0"/>
            </a:solidFill>
            <a:prstDash val="solid"/>
          </a:ln>
        </p:spPr>
      </p:sp>
      <p:sp>
        <p:nvSpPr>
          <p:cNvPr id="140" name="bg#138"/>
          <p:cNvSpPr/>
          <p:nvPr/>
        </p:nvSpPr>
        <p:spPr>
          <a:xfrm>
            <a:off x="2194560" y="1463040"/>
            <a:ext cx="20117" cy="20117"/>
          </a:xfrm>
          <a:prstGeom prst="ellipse">
            <a:avLst/>
          </a:prstGeom>
          <a:solidFill>
            <a:srgbClr val="D9D9E0"/>
          </a:solidFill>
          <a:ln w="12700">
            <a:solidFill>
              <a:srgbClr val="D9D9E0"/>
            </a:solidFill>
            <a:prstDash val="solid"/>
          </a:ln>
        </p:spPr>
      </p:sp>
      <p:sp>
        <p:nvSpPr>
          <p:cNvPr id="141" name="bg#139"/>
          <p:cNvSpPr/>
          <p:nvPr/>
        </p:nvSpPr>
        <p:spPr>
          <a:xfrm>
            <a:off x="2560320" y="1463040"/>
            <a:ext cx="20117" cy="20117"/>
          </a:xfrm>
          <a:prstGeom prst="ellipse">
            <a:avLst/>
          </a:prstGeom>
          <a:solidFill>
            <a:srgbClr val="D9D9E0"/>
          </a:solidFill>
          <a:ln w="12700">
            <a:solidFill>
              <a:srgbClr val="D9D9E0"/>
            </a:solidFill>
            <a:prstDash val="solid"/>
          </a:ln>
        </p:spPr>
      </p:sp>
      <p:sp>
        <p:nvSpPr>
          <p:cNvPr id="142" name="bg#140"/>
          <p:cNvSpPr/>
          <p:nvPr/>
        </p:nvSpPr>
        <p:spPr>
          <a:xfrm>
            <a:off x="2926080" y="1463040"/>
            <a:ext cx="20117" cy="20117"/>
          </a:xfrm>
          <a:prstGeom prst="ellipse">
            <a:avLst/>
          </a:prstGeom>
          <a:solidFill>
            <a:srgbClr val="D9D9E0"/>
          </a:solidFill>
          <a:ln w="12700">
            <a:solidFill>
              <a:srgbClr val="D9D9E0"/>
            </a:solidFill>
            <a:prstDash val="solid"/>
          </a:ln>
        </p:spPr>
      </p:sp>
      <p:sp>
        <p:nvSpPr>
          <p:cNvPr id="143" name="bg#141"/>
          <p:cNvSpPr/>
          <p:nvPr/>
        </p:nvSpPr>
        <p:spPr>
          <a:xfrm>
            <a:off x="3291840" y="1463040"/>
            <a:ext cx="20117" cy="20117"/>
          </a:xfrm>
          <a:prstGeom prst="ellipse">
            <a:avLst/>
          </a:prstGeom>
          <a:solidFill>
            <a:srgbClr val="D9D9E0"/>
          </a:solidFill>
          <a:ln w="12700">
            <a:solidFill>
              <a:srgbClr val="D9D9E0"/>
            </a:solidFill>
            <a:prstDash val="solid"/>
          </a:ln>
        </p:spPr>
      </p:sp>
      <p:sp>
        <p:nvSpPr>
          <p:cNvPr id="144" name="bg#142"/>
          <p:cNvSpPr/>
          <p:nvPr/>
        </p:nvSpPr>
        <p:spPr>
          <a:xfrm>
            <a:off x="3657600" y="1463040"/>
            <a:ext cx="20117" cy="20117"/>
          </a:xfrm>
          <a:prstGeom prst="ellipse">
            <a:avLst/>
          </a:prstGeom>
          <a:solidFill>
            <a:srgbClr val="D9D9E0"/>
          </a:solidFill>
          <a:ln w="12700">
            <a:solidFill>
              <a:srgbClr val="D9D9E0"/>
            </a:solidFill>
            <a:prstDash val="solid"/>
          </a:ln>
        </p:spPr>
      </p:sp>
      <p:sp>
        <p:nvSpPr>
          <p:cNvPr id="145" name="bg#143"/>
          <p:cNvSpPr/>
          <p:nvPr/>
        </p:nvSpPr>
        <p:spPr>
          <a:xfrm>
            <a:off x="4023360" y="1463040"/>
            <a:ext cx="20117" cy="20117"/>
          </a:xfrm>
          <a:prstGeom prst="ellipse">
            <a:avLst/>
          </a:prstGeom>
          <a:solidFill>
            <a:srgbClr val="D9D9E0"/>
          </a:solidFill>
          <a:ln w="12700">
            <a:solidFill>
              <a:srgbClr val="D9D9E0"/>
            </a:solidFill>
            <a:prstDash val="solid"/>
          </a:ln>
        </p:spPr>
      </p:sp>
      <p:sp>
        <p:nvSpPr>
          <p:cNvPr id="146" name="bg#144"/>
          <p:cNvSpPr/>
          <p:nvPr/>
        </p:nvSpPr>
        <p:spPr>
          <a:xfrm>
            <a:off x="4389120" y="1463040"/>
            <a:ext cx="20117" cy="20117"/>
          </a:xfrm>
          <a:prstGeom prst="ellipse">
            <a:avLst/>
          </a:prstGeom>
          <a:solidFill>
            <a:srgbClr val="D9D9E0"/>
          </a:solidFill>
          <a:ln w="12700">
            <a:solidFill>
              <a:srgbClr val="D9D9E0"/>
            </a:solidFill>
            <a:prstDash val="solid"/>
          </a:ln>
        </p:spPr>
      </p:sp>
      <p:sp>
        <p:nvSpPr>
          <p:cNvPr id="147" name="bg#145"/>
          <p:cNvSpPr/>
          <p:nvPr/>
        </p:nvSpPr>
        <p:spPr>
          <a:xfrm>
            <a:off x="4754880" y="1463040"/>
            <a:ext cx="20117" cy="20117"/>
          </a:xfrm>
          <a:prstGeom prst="ellipse">
            <a:avLst/>
          </a:prstGeom>
          <a:solidFill>
            <a:srgbClr val="D9D9E0"/>
          </a:solidFill>
          <a:ln w="12700">
            <a:solidFill>
              <a:srgbClr val="D9D9E0"/>
            </a:solidFill>
            <a:prstDash val="solid"/>
          </a:ln>
        </p:spPr>
      </p:sp>
      <p:sp>
        <p:nvSpPr>
          <p:cNvPr id="148" name="bg#146"/>
          <p:cNvSpPr/>
          <p:nvPr/>
        </p:nvSpPr>
        <p:spPr>
          <a:xfrm>
            <a:off x="5120640" y="1463040"/>
            <a:ext cx="20117" cy="20117"/>
          </a:xfrm>
          <a:prstGeom prst="ellipse">
            <a:avLst/>
          </a:prstGeom>
          <a:solidFill>
            <a:srgbClr val="D9D9E0"/>
          </a:solidFill>
          <a:ln w="12700">
            <a:solidFill>
              <a:srgbClr val="D9D9E0"/>
            </a:solidFill>
            <a:prstDash val="solid"/>
          </a:ln>
        </p:spPr>
      </p:sp>
      <p:sp>
        <p:nvSpPr>
          <p:cNvPr id="149" name="bg#147"/>
          <p:cNvSpPr/>
          <p:nvPr/>
        </p:nvSpPr>
        <p:spPr>
          <a:xfrm>
            <a:off x="5486400" y="1463040"/>
            <a:ext cx="20117" cy="20117"/>
          </a:xfrm>
          <a:prstGeom prst="ellipse">
            <a:avLst/>
          </a:prstGeom>
          <a:solidFill>
            <a:srgbClr val="D9D9E0"/>
          </a:solidFill>
          <a:ln w="12700">
            <a:solidFill>
              <a:srgbClr val="D9D9E0"/>
            </a:solidFill>
            <a:prstDash val="solid"/>
          </a:ln>
        </p:spPr>
      </p:sp>
      <p:sp>
        <p:nvSpPr>
          <p:cNvPr id="150" name="bg#148"/>
          <p:cNvSpPr/>
          <p:nvPr/>
        </p:nvSpPr>
        <p:spPr>
          <a:xfrm>
            <a:off x="5852160" y="1463040"/>
            <a:ext cx="20117" cy="20117"/>
          </a:xfrm>
          <a:prstGeom prst="ellipse">
            <a:avLst/>
          </a:prstGeom>
          <a:solidFill>
            <a:srgbClr val="D9D9E0"/>
          </a:solidFill>
          <a:ln w="12700">
            <a:solidFill>
              <a:srgbClr val="D9D9E0"/>
            </a:solidFill>
            <a:prstDash val="solid"/>
          </a:ln>
        </p:spPr>
      </p:sp>
      <p:sp>
        <p:nvSpPr>
          <p:cNvPr id="151" name="bg#149"/>
          <p:cNvSpPr/>
          <p:nvPr/>
        </p:nvSpPr>
        <p:spPr>
          <a:xfrm>
            <a:off x="6217920" y="1463040"/>
            <a:ext cx="20117" cy="20117"/>
          </a:xfrm>
          <a:prstGeom prst="ellipse">
            <a:avLst/>
          </a:prstGeom>
          <a:solidFill>
            <a:srgbClr val="D9D9E0"/>
          </a:solidFill>
          <a:ln w="12700">
            <a:solidFill>
              <a:srgbClr val="D9D9E0"/>
            </a:solidFill>
            <a:prstDash val="solid"/>
          </a:ln>
        </p:spPr>
      </p:sp>
      <p:sp>
        <p:nvSpPr>
          <p:cNvPr id="152" name="bg#150"/>
          <p:cNvSpPr/>
          <p:nvPr/>
        </p:nvSpPr>
        <p:spPr>
          <a:xfrm>
            <a:off x="6583680" y="1463040"/>
            <a:ext cx="20117" cy="20117"/>
          </a:xfrm>
          <a:prstGeom prst="ellipse">
            <a:avLst/>
          </a:prstGeom>
          <a:solidFill>
            <a:srgbClr val="D9D9E0"/>
          </a:solidFill>
          <a:ln w="12700">
            <a:solidFill>
              <a:srgbClr val="D9D9E0"/>
            </a:solidFill>
            <a:prstDash val="solid"/>
          </a:ln>
        </p:spPr>
      </p:sp>
      <p:sp>
        <p:nvSpPr>
          <p:cNvPr id="153" name="bg#151"/>
          <p:cNvSpPr/>
          <p:nvPr/>
        </p:nvSpPr>
        <p:spPr>
          <a:xfrm>
            <a:off x="6949440" y="1463040"/>
            <a:ext cx="20117" cy="20117"/>
          </a:xfrm>
          <a:prstGeom prst="ellipse">
            <a:avLst/>
          </a:prstGeom>
          <a:solidFill>
            <a:srgbClr val="D9D9E0"/>
          </a:solidFill>
          <a:ln w="12700">
            <a:solidFill>
              <a:srgbClr val="D9D9E0"/>
            </a:solidFill>
            <a:prstDash val="solid"/>
          </a:ln>
        </p:spPr>
      </p:sp>
      <p:sp>
        <p:nvSpPr>
          <p:cNvPr id="154" name="bg#152"/>
          <p:cNvSpPr/>
          <p:nvPr/>
        </p:nvSpPr>
        <p:spPr>
          <a:xfrm>
            <a:off x="7315200" y="1463040"/>
            <a:ext cx="20117" cy="20117"/>
          </a:xfrm>
          <a:prstGeom prst="ellipse">
            <a:avLst/>
          </a:prstGeom>
          <a:solidFill>
            <a:srgbClr val="D9D9E0"/>
          </a:solidFill>
          <a:ln w="12700">
            <a:solidFill>
              <a:srgbClr val="D9D9E0"/>
            </a:solidFill>
            <a:prstDash val="solid"/>
          </a:ln>
        </p:spPr>
      </p:sp>
      <p:sp>
        <p:nvSpPr>
          <p:cNvPr id="155" name="bg#153"/>
          <p:cNvSpPr/>
          <p:nvPr/>
        </p:nvSpPr>
        <p:spPr>
          <a:xfrm>
            <a:off x="7680960" y="1463040"/>
            <a:ext cx="20117" cy="20117"/>
          </a:xfrm>
          <a:prstGeom prst="ellipse">
            <a:avLst/>
          </a:prstGeom>
          <a:solidFill>
            <a:srgbClr val="D9D9E0"/>
          </a:solidFill>
          <a:ln w="12700">
            <a:solidFill>
              <a:srgbClr val="D9D9E0"/>
            </a:solidFill>
            <a:prstDash val="solid"/>
          </a:ln>
        </p:spPr>
      </p:sp>
      <p:sp>
        <p:nvSpPr>
          <p:cNvPr id="156" name="bg#154"/>
          <p:cNvSpPr/>
          <p:nvPr/>
        </p:nvSpPr>
        <p:spPr>
          <a:xfrm>
            <a:off x="8046720" y="1463040"/>
            <a:ext cx="20117" cy="20117"/>
          </a:xfrm>
          <a:prstGeom prst="ellipse">
            <a:avLst/>
          </a:prstGeom>
          <a:solidFill>
            <a:srgbClr val="D9D9E0"/>
          </a:solidFill>
          <a:ln w="12700">
            <a:solidFill>
              <a:srgbClr val="D9D9E0"/>
            </a:solidFill>
            <a:prstDash val="solid"/>
          </a:ln>
        </p:spPr>
      </p:sp>
      <p:sp>
        <p:nvSpPr>
          <p:cNvPr id="157" name="bg#155"/>
          <p:cNvSpPr/>
          <p:nvPr/>
        </p:nvSpPr>
        <p:spPr>
          <a:xfrm>
            <a:off x="8412480" y="1463040"/>
            <a:ext cx="20117" cy="20117"/>
          </a:xfrm>
          <a:prstGeom prst="ellipse">
            <a:avLst/>
          </a:prstGeom>
          <a:solidFill>
            <a:srgbClr val="D9D9E0"/>
          </a:solidFill>
          <a:ln w="12700">
            <a:solidFill>
              <a:srgbClr val="D9D9E0"/>
            </a:solidFill>
            <a:prstDash val="solid"/>
          </a:ln>
        </p:spPr>
      </p:sp>
      <p:sp>
        <p:nvSpPr>
          <p:cNvPr id="158" name="bg#156"/>
          <p:cNvSpPr/>
          <p:nvPr/>
        </p:nvSpPr>
        <p:spPr>
          <a:xfrm>
            <a:off x="8778240" y="1463040"/>
            <a:ext cx="20117" cy="20117"/>
          </a:xfrm>
          <a:prstGeom prst="ellipse">
            <a:avLst/>
          </a:prstGeom>
          <a:solidFill>
            <a:srgbClr val="D9D9E0"/>
          </a:solidFill>
          <a:ln w="12700">
            <a:solidFill>
              <a:srgbClr val="D9D9E0"/>
            </a:solidFill>
            <a:prstDash val="solid"/>
          </a:ln>
        </p:spPr>
      </p:sp>
      <p:sp>
        <p:nvSpPr>
          <p:cNvPr id="159" name="bg#157"/>
          <p:cNvSpPr/>
          <p:nvPr/>
        </p:nvSpPr>
        <p:spPr>
          <a:xfrm>
            <a:off x="9144000" y="1463040"/>
            <a:ext cx="20117" cy="20117"/>
          </a:xfrm>
          <a:prstGeom prst="ellipse">
            <a:avLst/>
          </a:prstGeom>
          <a:solidFill>
            <a:srgbClr val="D9D9E0"/>
          </a:solidFill>
          <a:ln w="12700">
            <a:solidFill>
              <a:srgbClr val="D9D9E0"/>
            </a:solidFill>
            <a:prstDash val="solid"/>
          </a:ln>
        </p:spPr>
      </p:sp>
      <p:sp>
        <p:nvSpPr>
          <p:cNvPr id="160" name="bg#158"/>
          <p:cNvSpPr/>
          <p:nvPr/>
        </p:nvSpPr>
        <p:spPr>
          <a:xfrm>
            <a:off x="9509760" y="1463040"/>
            <a:ext cx="20117" cy="20117"/>
          </a:xfrm>
          <a:prstGeom prst="ellipse">
            <a:avLst/>
          </a:prstGeom>
          <a:solidFill>
            <a:srgbClr val="D9D9E0"/>
          </a:solidFill>
          <a:ln w="12700">
            <a:solidFill>
              <a:srgbClr val="D9D9E0"/>
            </a:solidFill>
            <a:prstDash val="solid"/>
          </a:ln>
        </p:spPr>
      </p:sp>
      <p:sp>
        <p:nvSpPr>
          <p:cNvPr id="161" name="bg#159"/>
          <p:cNvSpPr/>
          <p:nvPr/>
        </p:nvSpPr>
        <p:spPr>
          <a:xfrm>
            <a:off x="9875520" y="1463040"/>
            <a:ext cx="20117" cy="20117"/>
          </a:xfrm>
          <a:prstGeom prst="ellipse">
            <a:avLst/>
          </a:prstGeom>
          <a:solidFill>
            <a:srgbClr val="D9D9E0"/>
          </a:solidFill>
          <a:ln w="12700">
            <a:solidFill>
              <a:srgbClr val="D9D9E0"/>
            </a:solidFill>
            <a:prstDash val="solid"/>
          </a:ln>
        </p:spPr>
      </p:sp>
      <p:sp>
        <p:nvSpPr>
          <p:cNvPr id="162" name="bg#160"/>
          <p:cNvSpPr/>
          <p:nvPr/>
        </p:nvSpPr>
        <p:spPr>
          <a:xfrm>
            <a:off x="10241280" y="1463040"/>
            <a:ext cx="20117" cy="20117"/>
          </a:xfrm>
          <a:prstGeom prst="ellipse">
            <a:avLst/>
          </a:prstGeom>
          <a:solidFill>
            <a:srgbClr val="D9D9E0"/>
          </a:solidFill>
          <a:ln w="12700">
            <a:solidFill>
              <a:srgbClr val="D9D9E0"/>
            </a:solidFill>
            <a:prstDash val="solid"/>
          </a:ln>
        </p:spPr>
      </p:sp>
      <p:sp>
        <p:nvSpPr>
          <p:cNvPr id="163" name="bg#161"/>
          <p:cNvSpPr/>
          <p:nvPr/>
        </p:nvSpPr>
        <p:spPr>
          <a:xfrm>
            <a:off x="10607040" y="1463040"/>
            <a:ext cx="20117" cy="20117"/>
          </a:xfrm>
          <a:prstGeom prst="ellipse">
            <a:avLst/>
          </a:prstGeom>
          <a:solidFill>
            <a:srgbClr val="D9D9E0"/>
          </a:solidFill>
          <a:ln w="12700">
            <a:solidFill>
              <a:srgbClr val="D9D9E0"/>
            </a:solidFill>
            <a:prstDash val="solid"/>
          </a:ln>
        </p:spPr>
      </p:sp>
      <p:sp>
        <p:nvSpPr>
          <p:cNvPr id="164" name="bg#162"/>
          <p:cNvSpPr/>
          <p:nvPr/>
        </p:nvSpPr>
        <p:spPr>
          <a:xfrm>
            <a:off x="10972800" y="1463040"/>
            <a:ext cx="20117" cy="20117"/>
          </a:xfrm>
          <a:prstGeom prst="ellipse">
            <a:avLst/>
          </a:prstGeom>
          <a:solidFill>
            <a:srgbClr val="D9D9E0"/>
          </a:solidFill>
          <a:ln w="12700">
            <a:solidFill>
              <a:srgbClr val="D9D9E0"/>
            </a:solidFill>
            <a:prstDash val="solid"/>
          </a:ln>
        </p:spPr>
      </p:sp>
      <p:sp>
        <p:nvSpPr>
          <p:cNvPr id="165" name="bg#163"/>
          <p:cNvSpPr/>
          <p:nvPr/>
        </p:nvSpPr>
        <p:spPr>
          <a:xfrm>
            <a:off x="11338560" y="1463040"/>
            <a:ext cx="20117" cy="20117"/>
          </a:xfrm>
          <a:prstGeom prst="ellipse">
            <a:avLst/>
          </a:prstGeom>
          <a:solidFill>
            <a:srgbClr val="D9D9E0"/>
          </a:solidFill>
          <a:ln w="12700">
            <a:solidFill>
              <a:srgbClr val="D9D9E0"/>
            </a:solidFill>
            <a:prstDash val="solid"/>
          </a:ln>
        </p:spPr>
      </p:sp>
      <p:sp>
        <p:nvSpPr>
          <p:cNvPr id="166" name="bg#164"/>
          <p:cNvSpPr/>
          <p:nvPr/>
        </p:nvSpPr>
        <p:spPr>
          <a:xfrm>
            <a:off x="11704320" y="1463040"/>
            <a:ext cx="20117" cy="20117"/>
          </a:xfrm>
          <a:prstGeom prst="ellipse">
            <a:avLst/>
          </a:prstGeom>
          <a:solidFill>
            <a:srgbClr val="D9D9E0"/>
          </a:solidFill>
          <a:ln w="12700">
            <a:solidFill>
              <a:srgbClr val="D9D9E0"/>
            </a:solidFill>
            <a:prstDash val="solid"/>
          </a:ln>
        </p:spPr>
      </p:sp>
      <p:sp>
        <p:nvSpPr>
          <p:cNvPr id="167" name="bg#165"/>
          <p:cNvSpPr/>
          <p:nvPr/>
        </p:nvSpPr>
        <p:spPr>
          <a:xfrm>
            <a:off x="0" y="5120640"/>
            <a:ext cx="20117" cy="20117"/>
          </a:xfrm>
          <a:prstGeom prst="ellipse">
            <a:avLst/>
          </a:prstGeom>
          <a:solidFill>
            <a:srgbClr val="D9D9E0"/>
          </a:solidFill>
          <a:ln w="12700">
            <a:solidFill>
              <a:srgbClr val="D9D9E0"/>
            </a:solidFill>
            <a:prstDash val="solid"/>
          </a:ln>
        </p:spPr>
      </p:sp>
      <p:sp>
        <p:nvSpPr>
          <p:cNvPr id="168" name="bg#166"/>
          <p:cNvSpPr/>
          <p:nvPr/>
        </p:nvSpPr>
        <p:spPr>
          <a:xfrm>
            <a:off x="365760" y="5120640"/>
            <a:ext cx="20117" cy="20117"/>
          </a:xfrm>
          <a:prstGeom prst="ellipse">
            <a:avLst/>
          </a:prstGeom>
          <a:solidFill>
            <a:srgbClr val="D9D9E0"/>
          </a:solidFill>
          <a:ln w="12700">
            <a:solidFill>
              <a:srgbClr val="D9D9E0"/>
            </a:solidFill>
            <a:prstDash val="solid"/>
          </a:ln>
        </p:spPr>
      </p:sp>
      <p:sp>
        <p:nvSpPr>
          <p:cNvPr id="169" name="bg#167"/>
          <p:cNvSpPr/>
          <p:nvPr/>
        </p:nvSpPr>
        <p:spPr>
          <a:xfrm>
            <a:off x="731520" y="5120640"/>
            <a:ext cx="20117" cy="20117"/>
          </a:xfrm>
          <a:prstGeom prst="ellipse">
            <a:avLst/>
          </a:prstGeom>
          <a:solidFill>
            <a:srgbClr val="D9D9E0"/>
          </a:solidFill>
          <a:ln w="12700">
            <a:solidFill>
              <a:srgbClr val="D9D9E0"/>
            </a:solidFill>
            <a:prstDash val="solid"/>
          </a:ln>
        </p:spPr>
      </p:sp>
      <p:sp>
        <p:nvSpPr>
          <p:cNvPr id="170" name="bg#168"/>
          <p:cNvSpPr/>
          <p:nvPr/>
        </p:nvSpPr>
        <p:spPr>
          <a:xfrm>
            <a:off x="1097280" y="5120640"/>
            <a:ext cx="20117" cy="20117"/>
          </a:xfrm>
          <a:prstGeom prst="ellipse">
            <a:avLst/>
          </a:prstGeom>
          <a:solidFill>
            <a:srgbClr val="D9D9E0"/>
          </a:solidFill>
          <a:ln w="12700">
            <a:solidFill>
              <a:srgbClr val="D9D9E0"/>
            </a:solidFill>
            <a:prstDash val="solid"/>
          </a:ln>
        </p:spPr>
      </p:sp>
      <p:sp>
        <p:nvSpPr>
          <p:cNvPr id="171" name="bg#169"/>
          <p:cNvSpPr/>
          <p:nvPr/>
        </p:nvSpPr>
        <p:spPr>
          <a:xfrm>
            <a:off x="1463040" y="5120640"/>
            <a:ext cx="20117" cy="20117"/>
          </a:xfrm>
          <a:prstGeom prst="ellipse">
            <a:avLst/>
          </a:prstGeom>
          <a:solidFill>
            <a:srgbClr val="D9D9E0"/>
          </a:solidFill>
          <a:ln w="12700">
            <a:solidFill>
              <a:srgbClr val="D9D9E0"/>
            </a:solidFill>
            <a:prstDash val="solid"/>
          </a:ln>
        </p:spPr>
      </p:sp>
      <p:sp>
        <p:nvSpPr>
          <p:cNvPr id="172" name="bg#170"/>
          <p:cNvSpPr/>
          <p:nvPr/>
        </p:nvSpPr>
        <p:spPr>
          <a:xfrm>
            <a:off x="1828800" y="5120640"/>
            <a:ext cx="20117" cy="20117"/>
          </a:xfrm>
          <a:prstGeom prst="ellipse">
            <a:avLst/>
          </a:prstGeom>
          <a:solidFill>
            <a:srgbClr val="D9D9E0"/>
          </a:solidFill>
          <a:ln w="12700">
            <a:solidFill>
              <a:srgbClr val="D9D9E0"/>
            </a:solidFill>
            <a:prstDash val="solid"/>
          </a:ln>
        </p:spPr>
      </p:sp>
      <p:sp>
        <p:nvSpPr>
          <p:cNvPr id="173" name="bg#171"/>
          <p:cNvSpPr/>
          <p:nvPr/>
        </p:nvSpPr>
        <p:spPr>
          <a:xfrm>
            <a:off x="2194560" y="5120640"/>
            <a:ext cx="20117" cy="20117"/>
          </a:xfrm>
          <a:prstGeom prst="ellipse">
            <a:avLst/>
          </a:prstGeom>
          <a:solidFill>
            <a:srgbClr val="D9D9E0"/>
          </a:solidFill>
          <a:ln w="12700">
            <a:solidFill>
              <a:srgbClr val="D9D9E0"/>
            </a:solidFill>
            <a:prstDash val="solid"/>
          </a:ln>
        </p:spPr>
      </p:sp>
      <p:sp>
        <p:nvSpPr>
          <p:cNvPr id="174" name="bg#172"/>
          <p:cNvSpPr/>
          <p:nvPr/>
        </p:nvSpPr>
        <p:spPr>
          <a:xfrm>
            <a:off x="2560320" y="5120640"/>
            <a:ext cx="20117" cy="20117"/>
          </a:xfrm>
          <a:prstGeom prst="ellipse">
            <a:avLst/>
          </a:prstGeom>
          <a:solidFill>
            <a:srgbClr val="D9D9E0"/>
          </a:solidFill>
          <a:ln w="12700">
            <a:solidFill>
              <a:srgbClr val="D9D9E0"/>
            </a:solidFill>
            <a:prstDash val="solid"/>
          </a:ln>
        </p:spPr>
      </p:sp>
      <p:sp>
        <p:nvSpPr>
          <p:cNvPr id="175" name="bg#173"/>
          <p:cNvSpPr/>
          <p:nvPr/>
        </p:nvSpPr>
        <p:spPr>
          <a:xfrm>
            <a:off x="2926080" y="5120640"/>
            <a:ext cx="20117" cy="20117"/>
          </a:xfrm>
          <a:prstGeom prst="ellipse">
            <a:avLst/>
          </a:prstGeom>
          <a:solidFill>
            <a:srgbClr val="D9D9E0"/>
          </a:solidFill>
          <a:ln w="12700">
            <a:solidFill>
              <a:srgbClr val="D9D9E0"/>
            </a:solidFill>
            <a:prstDash val="solid"/>
          </a:ln>
        </p:spPr>
      </p:sp>
      <p:sp>
        <p:nvSpPr>
          <p:cNvPr id="176" name="bg#174"/>
          <p:cNvSpPr/>
          <p:nvPr/>
        </p:nvSpPr>
        <p:spPr>
          <a:xfrm>
            <a:off x="3291840" y="5120640"/>
            <a:ext cx="20117" cy="20117"/>
          </a:xfrm>
          <a:prstGeom prst="ellipse">
            <a:avLst/>
          </a:prstGeom>
          <a:solidFill>
            <a:srgbClr val="D9D9E0"/>
          </a:solidFill>
          <a:ln w="12700">
            <a:solidFill>
              <a:srgbClr val="D9D9E0"/>
            </a:solidFill>
            <a:prstDash val="solid"/>
          </a:ln>
        </p:spPr>
      </p:sp>
      <p:sp>
        <p:nvSpPr>
          <p:cNvPr id="177" name="bg#175"/>
          <p:cNvSpPr/>
          <p:nvPr/>
        </p:nvSpPr>
        <p:spPr>
          <a:xfrm>
            <a:off x="3657600" y="5120640"/>
            <a:ext cx="20117" cy="20117"/>
          </a:xfrm>
          <a:prstGeom prst="ellipse">
            <a:avLst/>
          </a:prstGeom>
          <a:solidFill>
            <a:srgbClr val="D9D9E0"/>
          </a:solidFill>
          <a:ln w="12700">
            <a:solidFill>
              <a:srgbClr val="D9D9E0"/>
            </a:solidFill>
            <a:prstDash val="solid"/>
          </a:ln>
        </p:spPr>
      </p:sp>
      <p:sp>
        <p:nvSpPr>
          <p:cNvPr id="178" name="bg#176"/>
          <p:cNvSpPr/>
          <p:nvPr/>
        </p:nvSpPr>
        <p:spPr>
          <a:xfrm>
            <a:off x="4023360" y="5120640"/>
            <a:ext cx="20117" cy="20117"/>
          </a:xfrm>
          <a:prstGeom prst="ellipse">
            <a:avLst/>
          </a:prstGeom>
          <a:solidFill>
            <a:srgbClr val="D9D9E0"/>
          </a:solidFill>
          <a:ln w="12700">
            <a:solidFill>
              <a:srgbClr val="D9D9E0"/>
            </a:solidFill>
            <a:prstDash val="solid"/>
          </a:ln>
        </p:spPr>
      </p:sp>
      <p:sp>
        <p:nvSpPr>
          <p:cNvPr id="179" name="bg#177"/>
          <p:cNvSpPr/>
          <p:nvPr/>
        </p:nvSpPr>
        <p:spPr>
          <a:xfrm>
            <a:off x="4389120" y="5120640"/>
            <a:ext cx="20117" cy="20117"/>
          </a:xfrm>
          <a:prstGeom prst="ellipse">
            <a:avLst/>
          </a:prstGeom>
          <a:solidFill>
            <a:srgbClr val="D9D9E0"/>
          </a:solidFill>
          <a:ln w="12700">
            <a:solidFill>
              <a:srgbClr val="D9D9E0"/>
            </a:solidFill>
            <a:prstDash val="solid"/>
          </a:ln>
        </p:spPr>
      </p:sp>
      <p:sp>
        <p:nvSpPr>
          <p:cNvPr id="180" name="bg#178"/>
          <p:cNvSpPr/>
          <p:nvPr/>
        </p:nvSpPr>
        <p:spPr>
          <a:xfrm>
            <a:off x="4754880" y="5120640"/>
            <a:ext cx="20117" cy="20117"/>
          </a:xfrm>
          <a:prstGeom prst="ellipse">
            <a:avLst/>
          </a:prstGeom>
          <a:solidFill>
            <a:srgbClr val="D9D9E0"/>
          </a:solidFill>
          <a:ln w="12700">
            <a:solidFill>
              <a:srgbClr val="D9D9E0"/>
            </a:solidFill>
            <a:prstDash val="solid"/>
          </a:ln>
        </p:spPr>
      </p:sp>
      <p:sp>
        <p:nvSpPr>
          <p:cNvPr id="181" name="bg#179"/>
          <p:cNvSpPr/>
          <p:nvPr/>
        </p:nvSpPr>
        <p:spPr>
          <a:xfrm>
            <a:off x="5120640" y="5120640"/>
            <a:ext cx="20117" cy="20117"/>
          </a:xfrm>
          <a:prstGeom prst="ellipse">
            <a:avLst/>
          </a:prstGeom>
          <a:solidFill>
            <a:srgbClr val="D9D9E0"/>
          </a:solidFill>
          <a:ln w="12700">
            <a:solidFill>
              <a:srgbClr val="D9D9E0"/>
            </a:solidFill>
            <a:prstDash val="solid"/>
          </a:ln>
        </p:spPr>
      </p:sp>
      <p:sp>
        <p:nvSpPr>
          <p:cNvPr id="182" name="bg#180"/>
          <p:cNvSpPr/>
          <p:nvPr/>
        </p:nvSpPr>
        <p:spPr>
          <a:xfrm>
            <a:off x="5486400" y="5120640"/>
            <a:ext cx="20117" cy="20117"/>
          </a:xfrm>
          <a:prstGeom prst="ellipse">
            <a:avLst/>
          </a:prstGeom>
          <a:solidFill>
            <a:srgbClr val="D9D9E0"/>
          </a:solidFill>
          <a:ln w="12700">
            <a:solidFill>
              <a:srgbClr val="D9D9E0"/>
            </a:solidFill>
            <a:prstDash val="solid"/>
          </a:ln>
        </p:spPr>
      </p:sp>
      <p:sp>
        <p:nvSpPr>
          <p:cNvPr id="183" name="bg#181"/>
          <p:cNvSpPr/>
          <p:nvPr/>
        </p:nvSpPr>
        <p:spPr>
          <a:xfrm>
            <a:off x="5852160" y="5120640"/>
            <a:ext cx="20117" cy="20117"/>
          </a:xfrm>
          <a:prstGeom prst="ellipse">
            <a:avLst/>
          </a:prstGeom>
          <a:solidFill>
            <a:srgbClr val="D9D9E0"/>
          </a:solidFill>
          <a:ln w="12700">
            <a:solidFill>
              <a:srgbClr val="D9D9E0"/>
            </a:solidFill>
            <a:prstDash val="solid"/>
          </a:ln>
        </p:spPr>
      </p:sp>
      <p:sp>
        <p:nvSpPr>
          <p:cNvPr id="184" name="bg#182"/>
          <p:cNvSpPr/>
          <p:nvPr/>
        </p:nvSpPr>
        <p:spPr>
          <a:xfrm>
            <a:off x="6217920" y="5120640"/>
            <a:ext cx="20117" cy="20117"/>
          </a:xfrm>
          <a:prstGeom prst="ellipse">
            <a:avLst/>
          </a:prstGeom>
          <a:solidFill>
            <a:srgbClr val="D9D9E0"/>
          </a:solidFill>
          <a:ln w="12700">
            <a:solidFill>
              <a:srgbClr val="D9D9E0"/>
            </a:solidFill>
            <a:prstDash val="solid"/>
          </a:ln>
        </p:spPr>
      </p:sp>
      <p:sp>
        <p:nvSpPr>
          <p:cNvPr id="185" name="bg#183"/>
          <p:cNvSpPr/>
          <p:nvPr/>
        </p:nvSpPr>
        <p:spPr>
          <a:xfrm>
            <a:off x="6583680" y="5120640"/>
            <a:ext cx="20117" cy="20117"/>
          </a:xfrm>
          <a:prstGeom prst="ellipse">
            <a:avLst/>
          </a:prstGeom>
          <a:solidFill>
            <a:srgbClr val="D9D9E0"/>
          </a:solidFill>
          <a:ln w="12700">
            <a:solidFill>
              <a:srgbClr val="D9D9E0"/>
            </a:solidFill>
            <a:prstDash val="solid"/>
          </a:ln>
        </p:spPr>
      </p:sp>
      <p:sp>
        <p:nvSpPr>
          <p:cNvPr id="186" name="bg#184"/>
          <p:cNvSpPr/>
          <p:nvPr/>
        </p:nvSpPr>
        <p:spPr>
          <a:xfrm>
            <a:off x="6949440" y="5120640"/>
            <a:ext cx="20117" cy="20117"/>
          </a:xfrm>
          <a:prstGeom prst="ellipse">
            <a:avLst/>
          </a:prstGeom>
          <a:solidFill>
            <a:srgbClr val="D9D9E0"/>
          </a:solidFill>
          <a:ln w="12700">
            <a:solidFill>
              <a:srgbClr val="D9D9E0"/>
            </a:solidFill>
            <a:prstDash val="solid"/>
          </a:ln>
        </p:spPr>
      </p:sp>
      <p:sp>
        <p:nvSpPr>
          <p:cNvPr id="187" name="bg#185"/>
          <p:cNvSpPr/>
          <p:nvPr/>
        </p:nvSpPr>
        <p:spPr>
          <a:xfrm>
            <a:off x="7315200" y="5120640"/>
            <a:ext cx="20117" cy="20117"/>
          </a:xfrm>
          <a:prstGeom prst="ellipse">
            <a:avLst/>
          </a:prstGeom>
          <a:solidFill>
            <a:srgbClr val="D9D9E0"/>
          </a:solidFill>
          <a:ln w="12700">
            <a:solidFill>
              <a:srgbClr val="D9D9E0"/>
            </a:solidFill>
            <a:prstDash val="solid"/>
          </a:ln>
        </p:spPr>
      </p:sp>
      <p:sp>
        <p:nvSpPr>
          <p:cNvPr id="188" name="bg#186"/>
          <p:cNvSpPr/>
          <p:nvPr/>
        </p:nvSpPr>
        <p:spPr>
          <a:xfrm>
            <a:off x="7680960" y="5120640"/>
            <a:ext cx="20117" cy="20117"/>
          </a:xfrm>
          <a:prstGeom prst="ellipse">
            <a:avLst/>
          </a:prstGeom>
          <a:solidFill>
            <a:srgbClr val="D9D9E0"/>
          </a:solidFill>
          <a:ln w="12700">
            <a:solidFill>
              <a:srgbClr val="D9D9E0"/>
            </a:solidFill>
            <a:prstDash val="solid"/>
          </a:ln>
        </p:spPr>
      </p:sp>
      <p:sp>
        <p:nvSpPr>
          <p:cNvPr id="189" name="bg#187"/>
          <p:cNvSpPr/>
          <p:nvPr/>
        </p:nvSpPr>
        <p:spPr>
          <a:xfrm>
            <a:off x="8046720" y="5120640"/>
            <a:ext cx="20117" cy="20117"/>
          </a:xfrm>
          <a:prstGeom prst="ellipse">
            <a:avLst/>
          </a:prstGeom>
          <a:solidFill>
            <a:srgbClr val="D9D9E0"/>
          </a:solidFill>
          <a:ln w="12700">
            <a:solidFill>
              <a:srgbClr val="D9D9E0"/>
            </a:solidFill>
            <a:prstDash val="solid"/>
          </a:ln>
        </p:spPr>
      </p:sp>
      <p:sp>
        <p:nvSpPr>
          <p:cNvPr id="190" name="bg#188"/>
          <p:cNvSpPr/>
          <p:nvPr/>
        </p:nvSpPr>
        <p:spPr>
          <a:xfrm>
            <a:off x="8412480" y="5120640"/>
            <a:ext cx="20117" cy="20117"/>
          </a:xfrm>
          <a:prstGeom prst="ellipse">
            <a:avLst/>
          </a:prstGeom>
          <a:solidFill>
            <a:srgbClr val="D9D9E0"/>
          </a:solidFill>
          <a:ln w="12700">
            <a:solidFill>
              <a:srgbClr val="D9D9E0"/>
            </a:solidFill>
            <a:prstDash val="solid"/>
          </a:ln>
        </p:spPr>
      </p:sp>
      <p:sp>
        <p:nvSpPr>
          <p:cNvPr id="191" name="bg#189"/>
          <p:cNvSpPr/>
          <p:nvPr/>
        </p:nvSpPr>
        <p:spPr>
          <a:xfrm>
            <a:off x="8778240" y="5120640"/>
            <a:ext cx="20117" cy="20117"/>
          </a:xfrm>
          <a:prstGeom prst="ellipse">
            <a:avLst/>
          </a:prstGeom>
          <a:solidFill>
            <a:srgbClr val="D9D9E0"/>
          </a:solidFill>
          <a:ln w="12700">
            <a:solidFill>
              <a:srgbClr val="D9D9E0"/>
            </a:solidFill>
            <a:prstDash val="solid"/>
          </a:ln>
        </p:spPr>
      </p:sp>
      <p:sp>
        <p:nvSpPr>
          <p:cNvPr id="192" name="bg#190"/>
          <p:cNvSpPr/>
          <p:nvPr/>
        </p:nvSpPr>
        <p:spPr>
          <a:xfrm>
            <a:off x="9144000" y="5120640"/>
            <a:ext cx="20117" cy="20117"/>
          </a:xfrm>
          <a:prstGeom prst="ellipse">
            <a:avLst/>
          </a:prstGeom>
          <a:solidFill>
            <a:srgbClr val="D9D9E0"/>
          </a:solidFill>
          <a:ln w="12700">
            <a:solidFill>
              <a:srgbClr val="D9D9E0"/>
            </a:solidFill>
            <a:prstDash val="solid"/>
          </a:ln>
        </p:spPr>
      </p:sp>
      <p:sp>
        <p:nvSpPr>
          <p:cNvPr id="193" name="bg#191"/>
          <p:cNvSpPr/>
          <p:nvPr/>
        </p:nvSpPr>
        <p:spPr>
          <a:xfrm>
            <a:off x="9509760" y="5120640"/>
            <a:ext cx="20117" cy="20117"/>
          </a:xfrm>
          <a:prstGeom prst="ellipse">
            <a:avLst/>
          </a:prstGeom>
          <a:solidFill>
            <a:srgbClr val="D9D9E0"/>
          </a:solidFill>
          <a:ln w="12700">
            <a:solidFill>
              <a:srgbClr val="D9D9E0"/>
            </a:solidFill>
            <a:prstDash val="solid"/>
          </a:ln>
        </p:spPr>
      </p:sp>
      <p:sp>
        <p:nvSpPr>
          <p:cNvPr id="194" name="bg#192"/>
          <p:cNvSpPr/>
          <p:nvPr/>
        </p:nvSpPr>
        <p:spPr>
          <a:xfrm>
            <a:off x="9875520" y="5120640"/>
            <a:ext cx="20117" cy="20117"/>
          </a:xfrm>
          <a:prstGeom prst="ellipse">
            <a:avLst/>
          </a:prstGeom>
          <a:solidFill>
            <a:srgbClr val="D9D9E0"/>
          </a:solidFill>
          <a:ln w="12700">
            <a:solidFill>
              <a:srgbClr val="D9D9E0"/>
            </a:solidFill>
            <a:prstDash val="solid"/>
          </a:ln>
        </p:spPr>
      </p:sp>
      <p:sp>
        <p:nvSpPr>
          <p:cNvPr id="195" name="bg#193"/>
          <p:cNvSpPr/>
          <p:nvPr/>
        </p:nvSpPr>
        <p:spPr>
          <a:xfrm>
            <a:off x="10241280" y="5120640"/>
            <a:ext cx="20117" cy="20117"/>
          </a:xfrm>
          <a:prstGeom prst="ellipse">
            <a:avLst/>
          </a:prstGeom>
          <a:solidFill>
            <a:srgbClr val="D9D9E0"/>
          </a:solidFill>
          <a:ln w="12700">
            <a:solidFill>
              <a:srgbClr val="D9D9E0"/>
            </a:solidFill>
            <a:prstDash val="solid"/>
          </a:ln>
        </p:spPr>
      </p:sp>
      <p:sp>
        <p:nvSpPr>
          <p:cNvPr id="196" name="bg#194"/>
          <p:cNvSpPr/>
          <p:nvPr/>
        </p:nvSpPr>
        <p:spPr>
          <a:xfrm>
            <a:off x="10607040" y="5120640"/>
            <a:ext cx="20117" cy="20117"/>
          </a:xfrm>
          <a:prstGeom prst="ellipse">
            <a:avLst/>
          </a:prstGeom>
          <a:solidFill>
            <a:srgbClr val="D9D9E0"/>
          </a:solidFill>
          <a:ln w="12700">
            <a:solidFill>
              <a:srgbClr val="D9D9E0"/>
            </a:solidFill>
            <a:prstDash val="solid"/>
          </a:ln>
        </p:spPr>
      </p:sp>
      <p:sp>
        <p:nvSpPr>
          <p:cNvPr id="197" name="bg#195"/>
          <p:cNvSpPr/>
          <p:nvPr/>
        </p:nvSpPr>
        <p:spPr>
          <a:xfrm>
            <a:off x="10972800" y="5120640"/>
            <a:ext cx="20117" cy="20117"/>
          </a:xfrm>
          <a:prstGeom prst="ellipse">
            <a:avLst/>
          </a:prstGeom>
          <a:solidFill>
            <a:srgbClr val="D9D9E0"/>
          </a:solidFill>
          <a:ln w="12700">
            <a:solidFill>
              <a:srgbClr val="D9D9E0"/>
            </a:solidFill>
            <a:prstDash val="solid"/>
          </a:ln>
        </p:spPr>
      </p:sp>
      <p:sp>
        <p:nvSpPr>
          <p:cNvPr id="198" name="bg#196"/>
          <p:cNvSpPr/>
          <p:nvPr/>
        </p:nvSpPr>
        <p:spPr>
          <a:xfrm>
            <a:off x="11338560" y="5120640"/>
            <a:ext cx="20117" cy="20117"/>
          </a:xfrm>
          <a:prstGeom prst="ellipse">
            <a:avLst/>
          </a:prstGeom>
          <a:solidFill>
            <a:srgbClr val="D9D9E0"/>
          </a:solidFill>
          <a:ln w="12700">
            <a:solidFill>
              <a:srgbClr val="D9D9E0"/>
            </a:solidFill>
            <a:prstDash val="solid"/>
          </a:ln>
        </p:spPr>
      </p:sp>
      <p:sp>
        <p:nvSpPr>
          <p:cNvPr id="199" name="bg#197"/>
          <p:cNvSpPr/>
          <p:nvPr/>
        </p:nvSpPr>
        <p:spPr>
          <a:xfrm>
            <a:off x="11704320" y="5120640"/>
            <a:ext cx="20117" cy="20117"/>
          </a:xfrm>
          <a:prstGeom prst="ellipse">
            <a:avLst/>
          </a:prstGeom>
          <a:solidFill>
            <a:srgbClr val="D9D9E0"/>
          </a:solidFill>
          <a:ln w="12700">
            <a:solidFill>
              <a:srgbClr val="D9D9E0"/>
            </a:solidFill>
            <a:prstDash val="solid"/>
          </a:ln>
        </p:spPr>
      </p:sp>
      <p:sp>
        <p:nvSpPr>
          <p:cNvPr id="200" name="bg#198"/>
          <p:cNvSpPr/>
          <p:nvPr/>
        </p:nvSpPr>
        <p:spPr>
          <a:xfrm>
            <a:off x="0" y="5486400"/>
            <a:ext cx="20117" cy="20117"/>
          </a:xfrm>
          <a:prstGeom prst="ellipse">
            <a:avLst/>
          </a:prstGeom>
          <a:solidFill>
            <a:srgbClr val="D9D9E0"/>
          </a:solidFill>
          <a:ln w="12700">
            <a:solidFill>
              <a:srgbClr val="D9D9E0"/>
            </a:solidFill>
            <a:prstDash val="solid"/>
          </a:ln>
        </p:spPr>
      </p:sp>
      <p:sp>
        <p:nvSpPr>
          <p:cNvPr id="201" name="bg#199"/>
          <p:cNvSpPr/>
          <p:nvPr/>
        </p:nvSpPr>
        <p:spPr>
          <a:xfrm>
            <a:off x="365760" y="5486400"/>
            <a:ext cx="20117" cy="20117"/>
          </a:xfrm>
          <a:prstGeom prst="ellipse">
            <a:avLst/>
          </a:prstGeom>
          <a:solidFill>
            <a:srgbClr val="D9D9E0"/>
          </a:solidFill>
          <a:ln w="12700">
            <a:solidFill>
              <a:srgbClr val="D9D9E0"/>
            </a:solidFill>
            <a:prstDash val="solid"/>
          </a:ln>
        </p:spPr>
      </p:sp>
      <p:sp>
        <p:nvSpPr>
          <p:cNvPr id="202" name="bg#200"/>
          <p:cNvSpPr/>
          <p:nvPr/>
        </p:nvSpPr>
        <p:spPr>
          <a:xfrm>
            <a:off x="731520" y="5486400"/>
            <a:ext cx="20117" cy="20117"/>
          </a:xfrm>
          <a:prstGeom prst="ellipse">
            <a:avLst/>
          </a:prstGeom>
          <a:solidFill>
            <a:srgbClr val="D9D9E0"/>
          </a:solidFill>
          <a:ln w="12700">
            <a:solidFill>
              <a:srgbClr val="D9D9E0"/>
            </a:solidFill>
            <a:prstDash val="solid"/>
          </a:ln>
        </p:spPr>
      </p:sp>
      <p:sp>
        <p:nvSpPr>
          <p:cNvPr id="203" name="bg#201"/>
          <p:cNvSpPr/>
          <p:nvPr/>
        </p:nvSpPr>
        <p:spPr>
          <a:xfrm>
            <a:off x="1097280" y="5486400"/>
            <a:ext cx="20117" cy="20117"/>
          </a:xfrm>
          <a:prstGeom prst="ellipse">
            <a:avLst/>
          </a:prstGeom>
          <a:solidFill>
            <a:srgbClr val="D9D9E0"/>
          </a:solidFill>
          <a:ln w="12700">
            <a:solidFill>
              <a:srgbClr val="D9D9E0"/>
            </a:solidFill>
            <a:prstDash val="solid"/>
          </a:ln>
        </p:spPr>
      </p:sp>
      <p:sp>
        <p:nvSpPr>
          <p:cNvPr id="204" name="bg#202"/>
          <p:cNvSpPr/>
          <p:nvPr/>
        </p:nvSpPr>
        <p:spPr>
          <a:xfrm>
            <a:off x="1463040" y="5486400"/>
            <a:ext cx="20117" cy="20117"/>
          </a:xfrm>
          <a:prstGeom prst="ellipse">
            <a:avLst/>
          </a:prstGeom>
          <a:solidFill>
            <a:srgbClr val="D9D9E0"/>
          </a:solidFill>
          <a:ln w="12700">
            <a:solidFill>
              <a:srgbClr val="D9D9E0"/>
            </a:solidFill>
            <a:prstDash val="solid"/>
          </a:ln>
        </p:spPr>
      </p:sp>
      <p:sp>
        <p:nvSpPr>
          <p:cNvPr id="205" name="bg#203"/>
          <p:cNvSpPr/>
          <p:nvPr/>
        </p:nvSpPr>
        <p:spPr>
          <a:xfrm>
            <a:off x="1828800" y="5486400"/>
            <a:ext cx="20117" cy="20117"/>
          </a:xfrm>
          <a:prstGeom prst="ellipse">
            <a:avLst/>
          </a:prstGeom>
          <a:solidFill>
            <a:srgbClr val="D9D9E0"/>
          </a:solidFill>
          <a:ln w="12700">
            <a:solidFill>
              <a:srgbClr val="D9D9E0"/>
            </a:solidFill>
            <a:prstDash val="solid"/>
          </a:ln>
        </p:spPr>
      </p:sp>
      <p:sp>
        <p:nvSpPr>
          <p:cNvPr id="206" name="bg#204"/>
          <p:cNvSpPr/>
          <p:nvPr/>
        </p:nvSpPr>
        <p:spPr>
          <a:xfrm>
            <a:off x="2194560" y="5486400"/>
            <a:ext cx="20117" cy="20117"/>
          </a:xfrm>
          <a:prstGeom prst="ellipse">
            <a:avLst/>
          </a:prstGeom>
          <a:solidFill>
            <a:srgbClr val="D9D9E0"/>
          </a:solidFill>
          <a:ln w="12700">
            <a:solidFill>
              <a:srgbClr val="D9D9E0"/>
            </a:solidFill>
            <a:prstDash val="solid"/>
          </a:ln>
        </p:spPr>
      </p:sp>
      <p:sp>
        <p:nvSpPr>
          <p:cNvPr id="207" name="bg#205"/>
          <p:cNvSpPr/>
          <p:nvPr/>
        </p:nvSpPr>
        <p:spPr>
          <a:xfrm>
            <a:off x="2560320" y="5486400"/>
            <a:ext cx="20117" cy="20117"/>
          </a:xfrm>
          <a:prstGeom prst="ellipse">
            <a:avLst/>
          </a:prstGeom>
          <a:solidFill>
            <a:srgbClr val="D9D9E0"/>
          </a:solidFill>
          <a:ln w="12700">
            <a:solidFill>
              <a:srgbClr val="D9D9E0"/>
            </a:solidFill>
            <a:prstDash val="solid"/>
          </a:ln>
        </p:spPr>
      </p:sp>
      <p:sp>
        <p:nvSpPr>
          <p:cNvPr id="208" name="bg#206"/>
          <p:cNvSpPr/>
          <p:nvPr/>
        </p:nvSpPr>
        <p:spPr>
          <a:xfrm>
            <a:off x="2926080" y="5486400"/>
            <a:ext cx="20117" cy="20117"/>
          </a:xfrm>
          <a:prstGeom prst="ellipse">
            <a:avLst/>
          </a:prstGeom>
          <a:solidFill>
            <a:srgbClr val="D9D9E0"/>
          </a:solidFill>
          <a:ln w="12700">
            <a:solidFill>
              <a:srgbClr val="D9D9E0"/>
            </a:solidFill>
            <a:prstDash val="solid"/>
          </a:ln>
        </p:spPr>
      </p:sp>
      <p:sp>
        <p:nvSpPr>
          <p:cNvPr id="209" name="bg#207"/>
          <p:cNvSpPr/>
          <p:nvPr/>
        </p:nvSpPr>
        <p:spPr>
          <a:xfrm>
            <a:off x="3291840" y="5486400"/>
            <a:ext cx="20117" cy="20117"/>
          </a:xfrm>
          <a:prstGeom prst="ellipse">
            <a:avLst/>
          </a:prstGeom>
          <a:solidFill>
            <a:srgbClr val="D9D9E0"/>
          </a:solidFill>
          <a:ln w="12700">
            <a:solidFill>
              <a:srgbClr val="D9D9E0"/>
            </a:solidFill>
            <a:prstDash val="solid"/>
          </a:ln>
        </p:spPr>
      </p:sp>
      <p:sp>
        <p:nvSpPr>
          <p:cNvPr id="210" name="bg#208"/>
          <p:cNvSpPr/>
          <p:nvPr/>
        </p:nvSpPr>
        <p:spPr>
          <a:xfrm>
            <a:off x="3657600" y="5486400"/>
            <a:ext cx="20117" cy="20117"/>
          </a:xfrm>
          <a:prstGeom prst="ellipse">
            <a:avLst/>
          </a:prstGeom>
          <a:solidFill>
            <a:srgbClr val="D9D9E0"/>
          </a:solidFill>
          <a:ln w="12700">
            <a:solidFill>
              <a:srgbClr val="D9D9E0"/>
            </a:solidFill>
            <a:prstDash val="solid"/>
          </a:ln>
        </p:spPr>
      </p:sp>
      <p:sp>
        <p:nvSpPr>
          <p:cNvPr id="211" name="bg#209"/>
          <p:cNvSpPr/>
          <p:nvPr/>
        </p:nvSpPr>
        <p:spPr>
          <a:xfrm>
            <a:off x="4023360" y="5486400"/>
            <a:ext cx="20117" cy="20117"/>
          </a:xfrm>
          <a:prstGeom prst="ellipse">
            <a:avLst/>
          </a:prstGeom>
          <a:solidFill>
            <a:srgbClr val="D9D9E0"/>
          </a:solidFill>
          <a:ln w="12700">
            <a:solidFill>
              <a:srgbClr val="D9D9E0"/>
            </a:solidFill>
            <a:prstDash val="solid"/>
          </a:ln>
        </p:spPr>
      </p:sp>
      <p:sp>
        <p:nvSpPr>
          <p:cNvPr id="212" name="bg#210"/>
          <p:cNvSpPr/>
          <p:nvPr/>
        </p:nvSpPr>
        <p:spPr>
          <a:xfrm>
            <a:off x="4389120" y="5486400"/>
            <a:ext cx="20117" cy="20117"/>
          </a:xfrm>
          <a:prstGeom prst="ellipse">
            <a:avLst/>
          </a:prstGeom>
          <a:solidFill>
            <a:srgbClr val="D9D9E0"/>
          </a:solidFill>
          <a:ln w="12700">
            <a:solidFill>
              <a:srgbClr val="D9D9E0"/>
            </a:solidFill>
            <a:prstDash val="solid"/>
          </a:ln>
        </p:spPr>
      </p:sp>
      <p:sp>
        <p:nvSpPr>
          <p:cNvPr id="213" name="bg#211"/>
          <p:cNvSpPr/>
          <p:nvPr/>
        </p:nvSpPr>
        <p:spPr>
          <a:xfrm>
            <a:off x="4754880" y="5486400"/>
            <a:ext cx="20117" cy="20117"/>
          </a:xfrm>
          <a:prstGeom prst="ellipse">
            <a:avLst/>
          </a:prstGeom>
          <a:solidFill>
            <a:srgbClr val="D9D9E0"/>
          </a:solidFill>
          <a:ln w="12700">
            <a:solidFill>
              <a:srgbClr val="D9D9E0"/>
            </a:solidFill>
            <a:prstDash val="solid"/>
          </a:ln>
        </p:spPr>
      </p:sp>
      <p:sp>
        <p:nvSpPr>
          <p:cNvPr id="214" name="bg#212"/>
          <p:cNvSpPr/>
          <p:nvPr/>
        </p:nvSpPr>
        <p:spPr>
          <a:xfrm>
            <a:off x="5120640" y="5486400"/>
            <a:ext cx="20117" cy="20117"/>
          </a:xfrm>
          <a:prstGeom prst="ellipse">
            <a:avLst/>
          </a:prstGeom>
          <a:solidFill>
            <a:srgbClr val="D9D9E0"/>
          </a:solidFill>
          <a:ln w="12700">
            <a:solidFill>
              <a:srgbClr val="D9D9E0"/>
            </a:solidFill>
            <a:prstDash val="solid"/>
          </a:ln>
        </p:spPr>
      </p:sp>
      <p:sp>
        <p:nvSpPr>
          <p:cNvPr id="215" name="bg#213"/>
          <p:cNvSpPr/>
          <p:nvPr/>
        </p:nvSpPr>
        <p:spPr>
          <a:xfrm>
            <a:off x="5486400" y="5486400"/>
            <a:ext cx="20117" cy="20117"/>
          </a:xfrm>
          <a:prstGeom prst="ellipse">
            <a:avLst/>
          </a:prstGeom>
          <a:solidFill>
            <a:srgbClr val="D9D9E0"/>
          </a:solidFill>
          <a:ln w="12700">
            <a:solidFill>
              <a:srgbClr val="D9D9E0"/>
            </a:solidFill>
            <a:prstDash val="solid"/>
          </a:ln>
        </p:spPr>
      </p:sp>
      <p:sp>
        <p:nvSpPr>
          <p:cNvPr id="216" name="bg#214"/>
          <p:cNvSpPr/>
          <p:nvPr/>
        </p:nvSpPr>
        <p:spPr>
          <a:xfrm>
            <a:off x="5852160" y="5486400"/>
            <a:ext cx="20117" cy="20117"/>
          </a:xfrm>
          <a:prstGeom prst="ellipse">
            <a:avLst/>
          </a:prstGeom>
          <a:solidFill>
            <a:srgbClr val="D9D9E0"/>
          </a:solidFill>
          <a:ln w="12700">
            <a:solidFill>
              <a:srgbClr val="D9D9E0"/>
            </a:solidFill>
            <a:prstDash val="solid"/>
          </a:ln>
        </p:spPr>
      </p:sp>
      <p:sp>
        <p:nvSpPr>
          <p:cNvPr id="217" name="bg#215"/>
          <p:cNvSpPr/>
          <p:nvPr/>
        </p:nvSpPr>
        <p:spPr>
          <a:xfrm>
            <a:off x="6217920" y="5486400"/>
            <a:ext cx="20117" cy="20117"/>
          </a:xfrm>
          <a:prstGeom prst="ellipse">
            <a:avLst/>
          </a:prstGeom>
          <a:solidFill>
            <a:srgbClr val="D9D9E0"/>
          </a:solidFill>
          <a:ln w="12700">
            <a:solidFill>
              <a:srgbClr val="D9D9E0"/>
            </a:solidFill>
            <a:prstDash val="solid"/>
          </a:ln>
        </p:spPr>
      </p:sp>
      <p:sp>
        <p:nvSpPr>
          <p:cNvPr id="218" name="bg#216"/>
          <p:cNvSpPr/>
          <p:nvPr/>
        </p:nvSpPr>
        <p:spPr>
          <a:xfrm>
            <a:off x="6583680" y="5486400"/>
            <a:ext cx="20117" cy="20117"/>
          </a:xfrm>
          <a:prstGeom prst="ellipse">
            <a:avLst/>
          </a:prstGeom>
          <a:solidFill>
            <a:srgbClr val="D9D9E0"/>
          </a:solidFill>
          <a:ln w="12700">
            <a:solidFill>
              <a:srgbClr val="D9D9E0"/>
            </a:solidFill>
            <a:prstDash val="solid"/>
          </a:ln>
        </p:spPr>
      </p:sp>
      <p:sp>
        <p:nvSpPr>
          <p:cNvPr id="219" name="bg#217"/>
          <p:cNvSpPr/>
          <p:nvPr/>
        </p:nvSpPr>
        <p:spPr>
          <a:xfrm>
            <a:off x="6949440" y="5486400"/>
            <a:ext cx="20117" cy="20117"/>
          </a:xfrm>
          <a:prstGeom prst="ellipse">
            <a:avLst/>
          </a:prstGeom>
          <a:solidFill>
            <a:srgbClr val="D9D9E0"/>
          </a:solidFill>
          <a:ln w="12700">
            <a:solidFill>
              <a:srgbClr val="D9D9E0"/>
            </a:solidFill>
            <a:prstDash val="solid"/>
          </a:ln>
        </p:spPr>
      </p:sp>
      <p:sp>
        <p:nvSpPr>
          <p:cNvPr id="220" name="bg#218"/>
          <p:cNvSpPr/>
          <p:nvPr/>
        </p:nvSpPr>
        <p:spPr>
          <a:xfrm>
            <a:off x="7315200" y="5486400"/>
            <a:ext cx="20117" cy="20117"/>
          </a:xfrm>
          <a:prstGeom prst="ellipse">
            <a:avLst/>
          </a:prstGeom>
          <a:solidFill>
            <a:srgbClr val="D9D9E0"/>
          </a:solidFill>
          <a:ln w="12700">
            <a:solidFill>
              <a:srgbClr val="D9D9E0"/>
            </a:solidFill>
            <a:prstDash val="solid"/>
          </a:ln>
        </p:spPr>
      </p:sp>
      <p:sp>
        <p:nvSpPr>
          <p:cNvPr id="221" name="bg#219"/>
          <p:cNvSpPr/>
          <p:nvPr/>
        </p:nvSpPr>
        <p:spPr>
          <a:xfrm>
            <a:off x="7680960" y="5486400"/>
            <a:ext cx="20117" cy="20117"/>
          </a:xfrm>
          <a:prstGeom prst="ellipse">
            <a:avLst/>
          </a:prstGeom>
          <a:solidFill>
            <a:srgbClr val="D9D9E0"/>
          </a:solidFill>
          <a:ln w="12700">
            <a:solidFill>
              <a:srgbClr val="D9D9E0"/>
            </a:solidFill>
            <a:prstDash val="solid"/>
          </a:ln>
        </p:spPr>
      </p:sp>
      <p:sp>
        <p:nvSpPr>
          <p:cNvPr id="222" name="bg#220"/>
          <p:cNvSpPr/>
          <p:nvPr/>
        </p:nvSpPr>
        <p:spPr>
          <a:xfrm>
            <a:off x="8046720" y="5486400"/>
            <a:ext cx="20117" cy="20117"/>
          </a:xfrm>
          <a:prstGeom prst="ellipse">
            <a:avLst/>
          </a:prstGeom>
          <a:solidFill>
            <a:srgbClr val="D9D9E0"/>
          </a:solidFill>
          <a:ln w="12700">
            <a:solidFill>
              <a:srgbClr val="D9D9E0"/>
            </a:solidFill>
            <a:prstDash val="solid"/>
          </a:ln>
        </p:spPr>
      </p:sp>
      <p:sp>
        <p:nvSpPr>
          <p:cNvPr id="223" name="bg#221"/>
          <p:cNvSpPr/>
          <p:nvPr/>
        </p:nvSpPr>
        <p:spPr>
          <a:xfrm>
            <a:off x="8412480" y="5486400"/>
            <a:ext cx="20117" cy="20117"/>
          </a:xfrm>
          <a:prstGeom prst="ellipse">
            <a:avLst/>
          </a:prstGeom>
          <a:solidFill>
            <a:srgbClr val="D9D9E0"/>
          </a:solidFill>
          <a:ln w="12700">
            <a:solidFill>
              <a:srgbClr val="D9D9E0"/>
            </a:solidFill>
            <a:prstDash val="solid"/>
          </a:ln>
        </p:spPr>
      </p:sp>
      <p:sp>
        <p:nvSpPr>
          <p:cNvPr id="224" name="bg#222"/>
          <p:cNvSpPr/>
          <p:nvPr/>
        </p:nvSpPr>
        <p:spPr>
          <a:xfrm>
            <a:off x="8778240" y="5486400"/>
            <a:ext cx="20117" cy="20117"/>
          </a:xfrm>
          <a:prstGeom prst="ellipse">
            <a:avLst/>
          </a:prstGeom>
          <a:solidFill>
            <a:srgbClr val="D9D9E0"/>
          </a:solidFill>
          <a:ln w="12700">
            <a:solidFill>
              <a:srgbClr val="D9D9E0"/>
            </a:solidFill>
            <a:prstDash val="solid"/>
          </a:ln>
        </p:spPr>
      </p:sp>
      <p:sp>
        <p:nvSpPr>
          <p:cNvPr id="225" name="bg#223"/>
          <p:cNvSpPr/>
          <p:nvPr/>
        </p:nvSpPr>
        <p:spPr>
          <a:xfrm>
            <a:off x="9144000" y="5486400"/>
            <a:ext cx="20117" cy="20117"/>
          </a:xfrm>
          <a:prstGeom prst="ellipse">
            <a:avLst/>
          </a:prstGeom>
          <a:solidFill>
            <a:srgbClr val="D9D9E0"/>
          </a:solidFill>
          <a:ln w="12700">
            <a:solidFill>
              <a:srgbClr val="D9D9E0"/>
            </a:solidFill>
            <a:prstDash val="solid"/>
          </a:ln>
        </p:spPr>
      </p:sp>
      <p:sp>
        <p:nvSpPr>
          <p:cNvPr id="226" name="bg#224"/>
          <p:cNvSpPr/>
          <p:nvPr/>
        </p:nvSpPr>
        <p:spPr>
          <a:xfrm>
            <a:off x="9509760" y="5486400"/>
            <a:ext cx="20117" cy="20117"/>
          </a:xfrm>
          <a:prstGeom prst="ellipse">
            <a:avLst/>
          </a:prstGeom>
          <a:solidFill>
            <a:srgbClr val="D9D9E0"/>
          </a:solidFill>
          <a:ln w="12700">
            <a:solidFill>
              <a:srgbClr val="D9D9E0"/>
            </a:solidFill>
            <a:prstDash val="solid"/>
          </a:ln>
        </p:spPr>
      </p:sp>
      <p:sp>
        <p:nvSpPr>
          <p:cNvPr id="227" name="bg#225"/>
          <p:cNvSpPr/>
          <p:nvPr/>
        </p:nvSpPr>
        <p:spPr>
          <a:xfrm>
            <a:off x="9875520" y="5486400"/>
            <a:ext cx="20117" cy="20117"/>
          </a:xfrm>
          <a:prstGeom prst="ellipse">
            <a:avLst/>
          </a:prstGeom>
          <a:solidFill>
            <a:srgbClr val="D9D9E0"/>
          </a:solidFill>
          <a:ln w="12700">
            <a:solidFill>
              <a:srgbClr val="D9D9E0"/>
            </a:solidFill>
            <a:prstDash val="solid"/>
          </a:ln>
        </p:spPr>
      </p:sp>
      <p:sp>
        <p:nvSpPr>
          <p:cNvPr id="228" name="bg#226"/>
          <p:cNvSpPr/>
          <p:nvPr/>
        </p:nvSpPr>
        <p:spPr>
          <a:xfrm>
            <a:off x="10241280" y="5486400"/>
            <a:ext cx="20117" cy="20117"/>
          </a:xfrm>
          <a:prstGeom prst="ellipse">
            <a:avLst/>
          </a:prstGeom>
          <a:solidFill>
            <a:srgbClr val="D9D9E0"/>
          </a:solidFill>
          <a:ln w="12700">
            <a:solidFill>
              <a:srgbClr val="D9D9E0"/>
            </a:solidFill>
            <a:prstDash val="solid"/>
          </a:ln>
        </p:spPr>
      </p:sp>
      <p:sp>
        <p:nvSpPr>
          <p:cNvPr id="229" name="bg#227"/>
          <p:cNvSpPr/>
          <p:nvPr/>
        </p:nvSpPr>
        <p:spPr>
          <a:xfrm>
            <a:off x="10607040" y="5486400"/>
            <a:ext cx="20117" cy="20117"/>
          </a:xfrm>
          <a:prstGeom prst="ellipse">
            <a:avLst/>
          </a:prstGeom>
          <a:solidFill>
            <a:srgbClr val="D9D9E0"/>
          </a:solidFill>
          <a:ln w="12700">
            <a:solidFill>
              <a:srgbClr val="D9D9E0"/>
            </a:solidFill>
            <a:prstDash val="solid"/>
          </a:ln>
        </p:spPr>
      </p:sp>
      <p:sp>
        <p:nvSpPr>
          <p:cNvPr id="230" name="bg#228"/>
          <p:cNvSpPr/>
          <p:nvPr/>
        </p:nvSpPr>
        <p:spPr>
          <a:xfrm>
            <a:off x="10972800" y="5486400"/>
            <a:ext cx="20117" cy="20117"/>
          </a:xfrm>
          <a:prstGeom prst="ellipse">
            <a:avLst/>
          </a:prstGeom>
          <a:solidFill>
            <a:srgbClr val="D9D9E0"/>
          </a:solidFill>
          <a:ln w="12700">
            <a:solidFill>
              <a:srgbClr val="D9D9E0"/>
            </a:solidFill>
            <a:prstDash val="solid"/>
          </a:ln>
        </p:spPr>
      </p:sp>
      <p:sp>
        <p:nvSpPr>
          <p:cNvPr id="231" name="bg#229"/>
          <p:cNvSpPr/>
          <p:nvPr/>
        </p:nvSpPr>
        <p:spPr>
          <a:xfrm>
            <a:off x="11338560" y="5486400"/>
            <a:ext cx="20117" cy="20117"/>
          </a:xfrm>
          <a:prstGeom prst="ellipse">
            <a:avLst/>
          </a:prstGeom>
          <a:solidFill>
            <a:srgbClr val="D9D9E0"/>
          </a:solidFill>
          <a:ln w="12700">
            <a:solidFill>
              <a:srgbClr val="D9D9E0"/>
            </a:solidFill>
            <a:prstDash val="solid"/>
          </a:ln>
        </p:spPr>
      </p:sp>
      <p:sp>
        <p:nvSpPr>
          <p:cNvPr id="232" name="bg#230"/>
          <p:cNvSpPr/>
          <p:nvPr/>
        </p:nvSpPr>
        <p:spPr>
          <a:xfrm>
            <a:off x="11704320" y="5486400"/>
            <a:ext cx="20117" cy="20117"/>
          </a:xfrm>
          <a:prstGeom prst="ellipse">
            <a:avLst/>
          </a:prstGeom>
          <a:solidFill>
            <a:srgbClr val="D9D9E0"/>
          </a:solidFill>
          <a:ln w="12700">
            <a:solidFill>
              <a:srgbClr val="D9D9E0"/>
            </a:solidFill>
            <a:prstDash val="solid"/>
          </a:ln>
        </p:spPr>
      </p:sp>
      <p:sp>
        <p:nvSpPr>
          <p:cNvPr id="233" name="bg#231"/>
          <p:cNvSpPr/>
          <p:nvPr/>
        </p:nvSpPr>
        <p:spPr>
          <a:xfrm>
            <a:off x="0" y="5852160"/>
            <a:ext cx="20117" cy="20117"/>
          </a:xfrm>
          <a:prstGeom prst="ellipse">
            <a:avLst/>
          </a:prstGeom>
          <a:solidFill>
            <a:srgbClr val="D9D9E0"/>
          </a:solidFill>
          <a:ln w="12700">
            <a:solidFill>
              <a:srgbClr val="D9D9E0"/>
            </a:solidFill>
            <a:prstDash val="solid"/>
          </a:ln>
        </p:spPr>
      </p:sp>
      <p:sp>
        <p:nvSpPr>
          <p:cNvPr id="234" name="bg#232"/>
          <p:cNvSpPr/>
          <p:nvPr/>
        </p:nvSpPr>
        <p:spPr>
          <a:xfrm>
            <a:off x="365760" y="5852160"/>
            <a:ext cx="20117" cy="20117"/>
          </a:xfrm>
          <a:prstGeom prst="ellipse">
            <a:avLst/>
          </a:prstGeom>
          <a:solidFill>
            <a:srgbClr val="D9D9E0"/>
          </a:solidFill>
          <a:ln w="12700">
            <a:solidFill>
              <a:srgbClr val="D9D9E0"/>
            </a:solidFill>
            <a:prstDash val="solid"/>
          </a:ln>
        </p:spPr>
      </p:sp>
      <p:sp>
        <p:nvSpPr>
          <p:cNvPr id="235" name="bg#233"/>
          <p:cNvSpPr/>
          <p:nvPr/>
        </p:nvSpPr>
        <p:spPr>
          <a:xfrm>
            <a:off x="731520" y="5852160"/>
            <a:ext cx="20117" cy="20117"/>
          </a:xfrm>
          <a:prstGeom prst="ellipse">
            <a:avLst/>
          </a:prstGeom>
          <a:solidFill>
            <a:srgbClr val="D9D9E0"/>
          </a:solidFill>
          <a:ln w="12700">
            <a:solidFill>
              <a:srgbClr val="D9D9E0"/>
            </a:solidFill>
            <a:prstDash val="solid"/>
          </a:ln>
        </p:spPr>
      </p:sp>
      <p:sp>
        <p:nvSpPr>
          <p:cNvPr id="236" name="bg#234"/>
          <p:cNvSpPr/>
          <p:nvPr/>
        </p:nvSpPr>
        <p:spPr>
          <a:xfrm>
            <a:off x="1097280" y="5852160"/>
            <a:ext cx="20117" cy="20117"/>
          </a:xfrm>
          <a:prstGeom prst="ellipse">
            <a:avLst/>
          </a:prstGeom>
          <a:solidFill>
            <a:srgbClr val="D9D9E0"/>
          </a:solidFill>
          <a:ln w="12700">
            <a:solidFill>
              <a:srgbClr val="D9D9E0"/>
            </a:solidFill>
            <a:prstDash val="solid"/>
          </a:ln>
        </p:spPr>
      </p:sp>
      <p:sp>
        <p:nvSpPr>
          <p:cNvPr id="237" name="bg#235"/>
          <p:cNvSpPr/>
          <p:nvPr/>
        </p:nvSpPr>
        <p:spPr>
          <a:xfrm>
            <a:off x="1463040" y="5852160"/>
            <a:ext cx="20117" cy="20117"/>
          </a:xfrm>
          <a:prstGeom prst="ellipse">
            <a:avLst/>
          </a:prstGeom>
          <a:solidFill>
            <a:srgbClr val="D9D9E0"/>
          </a:solidFill>
          <a:ln w="12700">
            <a:solidFill>
              <a:srgbClr val="D9D9E0"/>
            </a:solidFill>
            <a:prstDash val="solid"/>
          </a:ln>
        </p:spPr>
      </p:sp>
      <p:sp>
        <p:nvSpPr>
          <p:cNvPr id="238" name="bg#236"/>
          <p:cNvSpPr/>
          <p:nvPr/>
        </p:nvSpPr>
        <p:spPr>
          <a:xfrm>
            <a:off x="1828800" y="5852160"/>
            <a:ext cx="20117" cy="20117"/>
          </a:xfrm>
          <a:prstGeom prst="ellipse">
            <a:avLst/>
          </a:prstGeom>
          <a:solidFill>
            <a:srgbClr val="D9D9E0"/>
          </a:solidFill>
          <a:ln w="12700">
            <a:solidFill>
              <a:srgbClr val="D9D9E0"/>
            </a:solidFill>
            <a:prstDash val="solid"/>
          </a:ln>
        </p:spPr>
      </p:sp>
      <p:sp>
        <p:nvSpPr>
          <p:cNvPr id="239" name="bg#237"/>
          <p:cNvSpPr/>
          <p:nvPr/>
        </p:nvSpPr>
        <p:spPr>
          <a:xfrm>
            <a:off x="2194560" y="5852160"/>
            <a:ext cx="20117" cy="20117"/>
          </a:xfrm>
          <a:prstGeom prst="ellipse">
            <a:avLst/>
          </a:prstGeom>
          <a:solidFill>
            <a:srgbClr val="D9D9E0"/>
          </a:solidFill>
          <a:ln w="12700">
            <a:solidFill>
              <a:srgbClr val="D9D9E0"/>
            </a:solidFill>
            <a:prstDash val="solid"/>
          </a:ln>
        </p:spPr>
      </p:sp>
      <p:sp>
        <p:nvSpPr>
          <p:cNvPr id="240" name="bg#238"/>
          <p:cNvSpPr/>
          <p:nvPr/>
        </p:nvSpPr>
        <p:spPr>
          <a:xfrm>
            <a:off x="2560320" y="5852160"/>
            <a:ext cx="20117" cy="20117"/>
          </a:xfrm>
          <a:prstGeom prst="ellipse">
            <a:avLst/>
          </a:prstGeom>
          <a:solidFill>
            <a:srgbClr val="D9D9E0"/>
          </a:solidFill>
          <a:ln w="12700">
            <a:solidFill>
              <a:srgbClr val="D9D9E0"/>
            </a:solidFill>
            <a:prstDash val="solid"/>
          </a:ln>
        </p:spPr>
      </p:sp>
      <p:sp>
        <p:nvSpPr>
          <p:cNvPr id="241" name="bg#239"/>
          <p:cNvSpPr/>
          <p:nvPr/>
        </p:nvSpPr>
        <p:spPr>
          <a:xfrm>
            <a:off x="2926080" y="5852160"/>
            <a:ext cx="20117" cy="20117"/>
          </a:xfrm>
          <a:prstGeom prst="ellipse">
            <a:avLst/>
          </a:prstGeom>
          <a:solidFill>
            <a:srgbClr val="D9D9E0"/>
          </a:solidFill>
          <a:ln w="12700">
            <a:solidFill>
              <a:srgbClr val="D9D9E0"/>
            </a:solidFill>
            <a:prstDash val="solid"/>
          </a:ln>
        </p:spPr>
      </p:sp>
      <p:sp>
        <p:nvSpPr>
          <p:cNvPr id="242" name="bg#240"/>
          <p:cNvSpPr/>
          <p:nvPr/>
        </p:nvSpPr>
        <p:spPr>
          <a:xfrm>
            <a:off x="3291840" y="5852160"/>
            <a:ext cx="20117" cy="20117"/>
          </a:xfrm>
          <a:prstGeom prst="ellipse">
            <a:avLst/>
          </a:prstGeom>
          <a:solidFill>
            <a:srgbClr val="D9D9E0"/>
          </a:solidFill>
          <a:ln w="12700">
            <a:solidFill>
              <a:srgbClr val="D9D9E0"/>
            </a:solidFill>
            <a:prstDash val="solid"/>
          </a:ln>
        </p:spPr>
      </p:sp>
      <p:sp>
        <p:nvSpPr>
          <p:cNvPr id="243" name="bg#241"/>
          <p:cNvSpPr/>
          <p:nvPr/>
        </p:nvSpPr>
        <p:spPr>
          <a:xfrm>
            <a:off x="3657600" y="5852160"/>
            <a:ext cx="20117" cy="20117"/>
          </a:xfrm>
          <a:prstGeom prst="ellipse">
            <a:avLst/>
          </a:prstGeom>
          <a:solidFill>
            <a:srgbClr val="D9D9E0"/>
          </a:solidFill>
          <a:ln w="12700">
            <a:solidFill>
              <a:srgbClr val="D9D9E0"/>
            </a:solidFill>
            <a:prstDash val="solid"/>
          </a:ln>
        </p:spPr>
      </p:sp>
      <p:sp>
        <p:nvSpPr>
          <p:cNvPr id="244" name="bg#242"/>
          <p:cNvSpPr/>
          <p:nvPr/>
        </p:nvSpPr>
        <p:spPr>
          <a:xfrm>
            <a:off x="4023360" y="5852160"/>
            <a:ext cx="20117" cy="20117"/>
          </a:xfrm>
          <a:prstGeom prst="ellipse">
            <a:avLst/>
          </a:prstGeom>
          <a:solidFill>
            <a:srgbClr val="D9D9E0"/>
          </a:solidFill>
          <a:ln w="12700">
            <a:solidFill>
              <a:srgbClr val="D9D9E0"/>
            </a:solidFill>
            <a:prstDash val="solid"/>
          </a:ln>
        </p:spPr>
      </p:sp>
      <p:sp>
        <p:nvSpPr>
          <p:cNvPr id="245" name="bg#243"/>
          <p:cNvSpPr/>
          <p:nvPr/>
        </p:nvSpPr>
        <p:spPr>
          <a:xfrm>
            <a:off x="4389120" y="5852160"/>
            <a:ext cx="20117" cy="20117"/>
          </a:xfrm>
          <a:prstGeom prst="ellipse">
            <a:avLst/>
          </a:prstGeom>
          <a:solidFill>
            <a:srgbClr val="D9D9E0"/>
          </a:solidFill>
          <a:ln w="12700">
            <a:solidFill>
              <a:srgbClr val="D9D9E0"/>
            </a:solidFill>
            <a:prstDash val="solid"/>
          </a:ln>
        </p:spPr>
      </p:sp>
      <p:sp>
        <p:nvSpPr>
          <p:cNvPr id="246" name="bg#244"/>
          <p:cNvSpPr/>
          <p:nvPr/>
        </p:nvSpPr>
        <p:spPr>
          <a:xfrm>
            <a:off x="4754880" y="5852160"/>
            <a:ext cx="20117" cy="20117"/>
          </a:xfrm>
          <a:prstGeom prst="ellipse">
            <a:avLst/>
          </a:prstGeom>
          <a:solidFill>
            <a:srgbClr val="D9D9E0"/>
          </a:solidFill>
          <a:ln w="12700">
            <a:solidFill>
              <a:srgbClr val="D9D9E0"/>
            </a:solidFill>
            <a:prstDash val="solid"/>
          </a:ln>
        </p:spPr>
      </p:sp>
      <p:sp>
        <p:nvSpPr>
          <p:cNvPr id="247" name="bg#245"/>
          <p:cNvSpPr/>
          <p:nvPr/>
        </p:nvSpPr>
        <p:spPr>
          <a:xfrm>
            <a:off x="5120640" y="5852160"/>
            <a:ext cx="20117" cy="20117"/>
          </a:xfrm>
          <a:prstGeom prst="ellipse">
            <a:avLst/>
          </a:prstGeom>
          <a:solidFill>
            <a:srgbClr val="D9D9E0"/>
          </a:solidFill>
          <a:ln w="12700">
            <a:solidFill>
              <a:srgbClr val="D9D9E0"/>
            </a:solidFill>
            <a:prstDash val="solid"/>
          </a:ln>
        </p:spPr>
      </p:sp>
      <p:sp>
        <p:nvSpPr>
          <p:cNvPr id="248" name="bg#246"/>
          <p:cNvSpPr/>
          <p:nvPr/>
        </p:nvSpPr>
        <p:spPr>
          <a:xfrm>
            <a:off x="5486400" y="5852160"/>
            <a:ext cx="20117" cy="20117"/>
          </a:xfrm>
          <a:prstGeom prst="ellipse">
            <a:avLst/>
          </a:prstGeom>
          <a:solidFill>
            <a:srgbClr val="D9D9E0"/>
          </a:solidFill>
          <a:ln w="12700">
            <a:solidFill>
              <a:srgbClr val="D9D9E0"/>
            </a:solidFill>
            <a:prstDash val="solid"/>
          </a:ln>
        </p:spPr>
      </p:sp>
      <p:sp>
        <p:nvSpPr>
          <p:cNvPr id="249" name="bg#247"/>
          <p:cNvSpPr/>
          <p:nvPr/>
        </p:nvSpPr>
        <p:spPr>
          <a:xfrm>
            <a:off x="5852160" y="5852160"/>
            <a:ext cx="20117" cy="20117"/>
          </a:xfrm>
          <a:prstGeom prst="ellipse">
            <a:avLst/>
          </a:prstGeom>
          <a:solidFill>
            <a:srgbClr val="D9D9E0"/>
          </a:solidFill>
          <a:ln w="12700">
            <a:solidFill>
              <a:srgbClr val="D9D9E0"/>
            </a:solidFill>
            <a:prstDash val="solid"/>
          </a:ln>
        </p:spPr>
      </p:sp>
      <p:sp>
        <p:nvSpPr>
          <p:cNvPr id="250" name="bg#248"/>
          <p:cNvSpPr/>
          <p:nvPr/>
        </p:nvSpPr>
        <p:spPr>
          <a:xfrm>
            <a:off x="6217920" y="5852160"/>
            <a:ext cx="20117" cy="20117"/>
          </a:xfrm>
          <a:prstGeom prst="ellipse">
            <a:avLst/>
          </a:prstGeom>
          <a:solidFill>
            <a:srgbClr val="D9D9E0"/>
          </a:solidFill>
          <a:ln w="12700">
            <a:solidFill>
              <a:srgbClr val="D9D9E0"/>
            </a:solidFill>
            <a:prstDash val="solid"/>
          </a:ln>
        </p:spPr>
      </p:sp>
      <p:sp>
        <p:nvSpPr>
          <p:cNvPr id="251" name="bg#249"/>
          <p:cNvSpPr/>
          <p:nvPr/>
        </p:nvSpPr>
        <p:spPr>
          <a:xfrm>
            <a:off x="6583680" y="5852160"/>
            <a:ext cx="20117" cy="20117"/>
          </a:xfrm>
          <a:prstGeom prst="ellipse">
            <a:avLst/>
          </a:prstGeom>
          <a:solidFill>
            <a:srgbClr val="D9D9E0"/>
          </a:solidFill>
          <a:ln w="12700">
            <a:solidFill>
              <a:srgbClr val="D9D9E0"/>
            </a:solidFill>
            <a:prstDash val="solid"/>
          </a:ln>
        </p:spPr>
      </p:sp>
      <p:sp>
        <p:nvSpPr>
          <p:cNvPr id="252" name="bg#250"/>
          <p:cNvSpPr/>
          <p:nvPr/>
        </p:nvSpPr>
        <p:spPr>
          <a:xfrm>
            <a:off x="6949440" y="5852160"/>
            <a:ext cx="20117" cy="20117"/>
          </a:xfrm>
          <a:prstGeom prst="ellipse">
            <a:avLst/>
          </a:prstGeom>
          <a:solidFill>
            <a:srgbClr val="D9D9E0"/>
          </a:solidFill>
          <a:ln w="12700">
            <a:solidFill>
              <a:srgbClr val="D9D9E0"/>
            </a:solidFill>
            <a:prstDash val="solid"/>
          </a:ln>
        </p:spPr>
      </p:sp>
      <p:sp>
        <p:nvSpPr>
          <p:cNvPr id="253" name="bg#251"/>
          <p:cNvSpPr/>
          <p:nvPr/>
        </p:nvSpPr>
        <p:spPr>
          <a:xfrm>
            <a:off x="7315200" y="5852160"/>
            <a:ext cx="20117" cy="20117"/>
          </a:xfrm>
          <a:prstGeom prst="ellipse">
            <a:avLst/>
          </a:prstGeom>
          <a:solidFill>
            <a:srgbClr val="D9D9E0"/>
          </a:solidFill>
          <a:ln w="12700">
            <a:solidFill>
              <a:srgbClr val="D9D9E0"/>
            </a:solidFill>
            <a:prstDash val="solid"/>
          </a:ln>
        </p:spPr>
      </p:sp>
      <p:sp>
        <p:nvSpPr>
          <p:cNvPr id="254" name="bg#252"/>
          <p:cNvSpPr/>
          <p:nvPr/>
        </p:nvSpPr>
        <p:spPr>
          <a:xfrm>
            <a:off x="7680960" y="5852160"/>
            <a:ext cx="20117" cy="20117"/>
          </a:xfrm>
          <a:prstGeom prst="ellipse">
            <a:avLst/>
          </a:prstGeom>
          <a:solidFill>
            <a:srgbClr val="D9D9E0"/>
          </a:solidFill>
          <a:ln w="12700">
            <a:solidFill>
              <a:srgbClr val="D9D9E0"/>
            </a:solidFill>
            <a:prstDash val="solid"/>
          </a:ln>
        </p:spPr>
      </p:sp>
      <p:sp>
        <p:nvSpPr>
          <p:cNvPr id="255" name="bg#253"/>
          <p:cNvSpPr/>
          <p:nvPr/>
        </p:nvSpPr>
        <p:spPr>
          <a:xfrm>
            <a:off x="8046720" y="5852160"/>
            <a:ext cx="20117" cy="20117"/>
          </a:xfrm>
          <a:prstGeom prst="ellipse">
            <a:avLst/>
          </a:prstGeom>
          <a:solidFill>
            <a:srgbClr val="D9D9E0"/>
          </a:solidFill>
          <a:ln w="12700">
            <a:solidFill>
              <a:srgbClr val="D9D9E0"/>
            </a:solidFill>
            <a:prstDash val="solid"/>
          </a:ln>
        </p:spPr>
      </p:sp>
      <p:sp>
        <p:nvSpPr>
          <p:cNvPr id="256" name="bg#254"/>
          <p:cNvSpPr/>
          <p:nvPr/>
        </p:nvSpPr>
        <p:spPr>
          <a:xfrm>
            <a:off x="8412480" y="5852160"/>
            <a:ext cx="20117" cy="20117"/>
          </a:xfrm>
          <a:prstGeom prst="ellipse">
            <a:avLst/>
          </a:prstGeom>
          <a:solidFill>
            <a:srgbClr val="D9D9E0"/>
          </a:solidFill>
          <a:ln w="12700">
            <a:solidFill>
              <a:srgbClr val="D9D9E0"/>
            </a:solidFill>
            <a:prstDash val="solid"/>
          </a:ln>
        </p:spPr>
      </p:sp>
      <p:sp>
        <p:nvSpPr>
          <p:cNvPr id="257" name="bg#255"/>
          <p:cNvSpPr/>
          <p:nvPr/>
        </p:nvSpPr>
        <p:spPr>
          <a:xfrm>
            <a:off x="8778240" y="5852160"/>
            <a:ext cx="20117" cy="20117"/>
          </a:xfrm>
          <a:prstGeom prst="ellipse">
            <a:avLst/>
          </a:prstGeom>
          <a:solidFill>
            <a:srgbClr val="D9D9E0"/>
          </a:solidFill>
          <a:ln w="12700">
            <a:solidFill>
              <a:srgbClr val="D9D9E0"/>
            </a:solidFill>
            <a:prstDash val="solid"/>
          </a:ln>
        </p:spPr>
      </p:sp>
      <p:sp>
        <p:nvSpPr>
          <p:cNvPr id="258" name="bg#256"/>
          <p:cNvSpPr/>
          <p:nvPr/>
        </p:nvSpPr>
        <p:spPr>
          <a:xfrm>
            <a:off x="9144000" y="5852160"/>
            <a:ext cx="20117" cy="20117"/>
          </a:xfrm>
          <a:prstGeom prst="ellipse">
            <a:avLst/>
          </a:prstGeom>
          <a:solidFill>
            <a:srgbClr val="D9D9E0"/>
          </a:solidFill>
          <a:ln w="12700">
            <a:solidFill>
              <a:srgbClr val="D9D9E0"/>
            </a:solidFill>
            <a:prstDash val="solid"/>
          </a:ln>
        </p:spPr>
      </p:sp>
      <p:sp>
        <p:nvSpPr>
          <p:cNvPr id="259" name="bg#257"/>
          <p:cNvSpPr/>
          <p:nvPr/>
        </p:nvSpPr>
        <p:spPr>
          <a:xfrm>
            <a:off x="9509760" y="5852160"/>
            <a:ext cx="20117" cy="20117"/>
          </a:xfrm>
          <a:prstGeom prst="ellipse">
            <a:avLst/>
          </a:prstGeom>
          <a:solidFill>
            <a:srgbClr val="D9D9E0"/>
          </a:solidFill>
          <a:ln w="12700">
            <a:solidFill>
              <a:srgbClr val="D9D9E0"/>
            </a:solidFill>
            <a:prstDash val="solid"/>
          </a:ln>
        </p:spPr>
      </p:sp>
      <p:sp>
        <p:nvSpPr>
          <p:cNvPr id="260" name="bg#258"/>
          <p:cNvSpPr/>
          <p:nvPr/>
        </p:nvSpPr>
        <p:spPr>
          <a:xfrm>
            <a:off x="9875520" y="5852160"/>
            <a:ext cx="20117" cy="20117"/>
          </a:xfrm>
          <a:prstGeom prst="ellipse">
            <a:avLst/>
          </a:prstGeom>
          <a:solidFill>
            <a:srgbClr val="D9D9E0"/>
          </a:solidFill>
          <a:ln w="12700">
            <a:solidFill>
              <a:srgbClr val="D9D9E0"/>
            </a:solidFill>
            <a:prstDash val="solid"/>
          </a:ln>
        </p:spPr>
      </p:sp>
      <p:sp>
        <p:nvSpPr>
          <p:cNvPr id="261" name="bg#259"/>
          <p:cNvSpPr/>
          <p:nvPr/>
        </p:nvSpPr>
        <p:spPr>
          <a:xfrm>
            <a:off x="10241280" y="5852160"/>
            <a:ext cx="20117" cy="20117"/>
          </a:xfrm>
          <a:prstGeom prst="ellipse">
            <a:avLst/>
          </a:prstGeom>
          <a:solidFill>
            <a:srgbClr val="D9D9E0"/>
          </a:solidFill>
          <a:ln w="12700">
            <a:solidFill>
              <a:srgbClr val="D9D9E0"/>
            </a:solidFill>
            <a:prstDash val="solid"/>
          </a:ln>
        </p:spPr>
      </p:sp>
      <p:sp>
        <p:nvSpPr>
          <p:cNvPr id="262" name="bg#260"/>
          <p:cNvSpPr/>
          <p:nvPr/>
        </p:nvSpPr>
        <p:spPr>
          <a:xfrm>
            <a:off x="10607040" y="5852160"/>
            <a:ext cx="20117" cy="20117"/>
          </a:xfrm>
          <a:prstGeom prst="ellipse">
            <a:avLst/>
          </a:prstGeom>
          <a:solidFill>
            <a:srgbClr val="D9D9E0"/>
          </a:solidFill>
          <a:ln w="12700">
            <a:solidFill>
              <a:srgbClr val="D9D9E0"/>
            </a:solidFill>
            <a:prstDash val="solid"/>
          </a:ln>
        </p:spPr>
      </p:sp>
      <p:sp>
        <p:nvSpPr>
          <p:cNvPr id="263" name="bg#261"/>
          <p:cNvSpPr/>
          <p:nvPr/>
        </p:nvSpPr>
        <p:spPr>
          <a:xfrm>
            <a:off x="10972800" y="5852160"/>
            <a:ext cx="20117" cy="20117"/>
          </a:xfrm>
          <a:prstGeom prst="ellipse">
            <a:avLst/>
          </a:prstGeom>
          <a:solidFill>
            <a:srgbClr val="D9D9E0"/>
          </a:solidFill>
          <a:ln w="12700">
            <a:solidFill>
              <a:srgbClr val="D9D9E0"/>
            </a:solidFill>
            <a:prstDash val="solid"/>
          </a:ln>
        </p:spPr>
      </p:sp>
      <p:sp>
        <p:nvSpPr>
          <p:cNvPr id="264" name="bg#262"/>
          <p:cNvSpPr/>
          <p:nvPr/>
        </p:nvSpPr>
        <p:spPr>
          <a:xfrm>
            <a:off x="11338560" y="5852160"/>
            <a:ext cx="20117" cy="20117"/>
          </a:xfrm>
          <a:prstGeom prst="ellipse">
            <a:avLst/>
          </a:prstGeom>
          <a:solidFill>
            <a:srgbClr val="D9D9E0"/>
          </a:solidFill>
          <a:ln w="12700">
            <a:solidFill>
              <a:srgbClr val="D9D9E0"/>
            </a:solidFill>
            <a:prstDash val="solid"/>
          </a:ln>
        </p:spPr>
      </p:sp>
      <p:sp>
        <p:nvSpPr>
          <p:cNvPr id="265" name="bg#263"/>
          <p:cNvSpPr/>
          <p:nvPr/>
        </p:nvSpPr>
        <p:spPr>
          <a:xfrm>
            <a:off x="11704320" y="5852160"/>
            <a:ext cx="20117" cy="20117"/>
          </a:xfrm>
          <a:prstGeom prst="ellipse">
            <a:avLst/>
          </a:prstGeom>
          <a:solidFill>
            <a:srgbClr val="D9D9E0"/>
          </a:solidFill>
          <a:ln w="12700">
            <a:solidFill>
              <a:srgbClr val="D9D9E0"/>
            </a:solidFill>
            <a:prstDash val="solid"/>
          </a:ln>
        </p:spPr>
      </p:sp>
      <p:sp>
        <p:nvSpPr>
          <p:cNvPr id="266" name="bg#264"/>
          <p:cNvSpPr/>
          <p:nvPr/>
        </p:nvSpPr>
        <p:spPr>
          <a:xfrm>
            <a:off x="0" y="6217920"/>
            <a:ext cx="20117" cy="20117"/>
          </a:xfrm>
          <a:prstGeom prst="ellipse">
            <a:avLst/>
          </a:prstGeom>
          <a:solidFill>
            <a:srgbClr val="D9D9E0"/>
          </a:solidFill>
          <a:ln w="12700">
            <a:solidFill>
              <a:srgbClr val="D9D9E0"/>
            </a:solidFill>
            <a:prstDash val="solid"/>
          </a:ln>
        </p:spPr>
      </p:sp>
      <p:sp>
        <p:nvSpPr>
          <p:cNvPr id="267" name="bg#265"/>
          <p:cNvSpPr/>
          <p:nvPr/>
        </p:nvSpPr>
        <p:spPr>
          <a:xfrm>
            <a:off x="365760" y="6217920"/>
            <a:ext cx="20117" cy="20117"/>
          </a:xfrm>
          <a:prstGeom prst="ellipse">
            <a:avLst/>
          </a:prstGeom>
          <a:solidFill>
            <a:srgbClr val="D9D9E0"/>
          </a:solidFill>
          <a:ln w="12700">
            <a:solidFill>
              <a:srgbClr val="D9D9E0"/>
            </a:solidFill>
            <a:prstDash val="solid"/>
          </a:ln>
        </p:spPr>
      </p:sp>
      <p:sp>
        <p:nvSpPr>
          <p:cNvPr id="268" name="bg#266"/>
          <p:cNvSpPr/>
          <p:nvPr/>
        </p:nvSpPr>
        <p:spPr>
          <a:xfrm>
            <a:off x="731520" y="6217920"/>
            <a:ext cx="20117" cy="20117"/>
          </a:xfrm>
          <a:prstGeom prst="ellipse">
            <a:avLst/>
          </a:prstGeom>
          <a:solidFill>
            <a:srgbClr val="D9D9E0"/>
          </a:solidFill>
          <a:ln w="12700">
            <a:solidFill>
              <a:srgbClr val="D9D9E0"/>
            </a:solidFill>
            <a:prstDash val="solid"/>
          </a:ln>
        </p:spPr>
      </p:sp>
      <p:sp>
        <p:nvSpPr>
          <p:cNvPr id="269" name="bg#267"/>
          <p:cNvSpPr/>
          <p:nvPr/>
        </p:nvSpPr>
        <p:spPr>
          <a:xfrm>
            <a:off x="1097280" y="6217920"/>
            <a:ext cx="20117" cy="20117"/>
          </a:xfrm>
          <a:prstGeom prst="ellipse">
            <a:avLst/>
          </a:prstGeom>
          <a:solidFill>
            <a:srgbClr val="D9D9E0"/>
          </a:solidFill>
          <a:ln w="12700">
            <a:solidFill>
              <a:srgbClr val="D9D9E0"/>
            </a:solidFill>
            <a:prstDash val="solid"/>
          </a:ln>
        </p:spPr>
      </p:sp>
      <p:sp>
        <p:nvSpPr>
          <p:cNvPr id="270" name="bg#268"/>
          <p:cNvSpPr/>
          <p:nvPr/>
        </p:nvSpPr>
        <p:spPr>
          <a:xfrm>
            <a:off x="1463040" y="6217920"/>
            <a:ext cx="20117" cy="20117"/>
          </a:xfrm>
          <a:prstGeom prst="ellipse">
            <a:avLst/>
          </a:prstGeom>
          <a:solidFill>
            <a:srgbClr val="D9D9E0"/>
          </a:solidFill>
          <a:ln w="12700">
            <a:solidFill>
              <a:srgbClr val="D9D9E0"/>
            </a:solidFill>
            <a:prstDash val="solid"/>
          </a:ln>
        </p:spPr>
      </p:sp>
      <p:sp>
        <p:nvSpPr>
          <p:cNvPr id="271" name="bg#269"/>
          <p:cNvSpPr/>
          <p:nvPr/>
        </p:nvSpPr>
        <p:spPr>
          <a:xfrm>
            <a:off x="1828800" y="6217920"/>
            <a:ext cx="20117" cy="20117"/>
          </a:xfrm>
          <a:prstGeom prst="ellipse">
            <a:avLst/>
          </a:prstGeom>
          <a:solidFill>
            <a:srgbClr val="D9D9E0"/>
          </a:solidFill>
          <a:ln w="12700">
            <a:solidFill>
              <a:srgbClr val="D9D9E0"/>
            </a:solidFill>
            <a:prstDash val="solid"/>
          </a:ln>
        </p:spPr>
      </p:sp>
      <p:sp>
        <p:nvSpPr>
          <p:cNvPr id="272" name="bg#270"/>
          <p:cNvSpPr/>
          <p:nvPr/>
        </p:nvSpPr>
        <p:spPr>
          <a:xfrm>
            <a:off x="2194560" y="6217920"/>
            <a:ext cx="20117" cy="20117"/>
          </a:xfrm>
          <a:prstGeom prst="ellipse">
            <a:avLst/>
          </a:prstGeom>
          <a:solidFill>
            <a:srgbClr val="D9D9E0"/>
          </a:solidFill>
          <a:ln w="12700">
            <a:solidFill>
              <a:srgbClr val="D9D9E0"/>
            </a:solidFill>
            <a:prstDash val="solid"/>
          </a:ln>
        </p:spPr>
      </p:sp>
      <p:sp>
        <p:nvSpPr>
          <p:cNvPr id="273" name="bg#271"/>
          <p:cNvSpPr/>
          <p:nvPr/>
        </p:nvSpPr>
        <p:spPr>
          <a:xfrm>
            <a:off x="2560320" y="6217920"/>
            <a:ext cx="20117" cy="20117"/>
          </a:xfrm>
          <a:prstGeom prst="ellipse">
            <a:avLst/>
          </a:prstGeom>
          <a:solidFill>
            <a:srgbClr val="D9D9E0"/>
          </a:solidFill>
          <a:ln w="12700">
            <a:solidFill>
              <a:srgbClr val="D9D9E0"/>
            </a:solidFill>
            <a:prstDash val="solid"/>
          </a:ln>
        </p:spPr>
      </p:sp>
      <p:sp>
        <p:nvSpPr>
          <p:cNvPr id="274" name="bg#272"/>
          <p:cNvSpPr/>
          <p:nvPr/>
        </p:nvSpPr>
        <p:spPr>
          <a:xfrm>
            <a:off x="2926080" y="6217920"/>
            <a:ext cx="20117" cy="20117"/>
          </a:xfrm>
          <a:prstGeom prst="ellipse">
            <a:avLst/>
          </a:prstGeom>
          <a:solidFill>
            <a:srgbClr val="D9D9E0"/>
          </a:solidFill>
          <a:ln w="12700">
            <a:solidFill>
              <a:srgbClr val="D9D9E0"/>
            </a:solidFill>
            <a:prstDash val="solid"/>
          </a:ln>
        </p:spPr>
      </p:sp>
      <p:sp>
        <p:nvSpPr>
          <p:cNvPr id="275" name="bg#273"/>
          <p:cNvSpPr/>
          <p:nvPr/>
        </p:nvSpPr>
        <p:spPr>
          <a:xfrm>
            <a:off x="3291840" y="6217920"/>
            <a:ext cx="20117" cy="20117"/>
          </a:xfrm>
          <a:prstGeom prst="ellipse">
            <a:avLst/>
          </a:prstGeom>
          <a:solidFill>
            <a:srgbClr val="D9D9E0"/>
          </a:solidFill>
          <a:ln w="12700">
            <a:solidFill>
              <a:srgbClr val="D9D9E0"/>
            </a:solidFill>
            <a:prstDash val="solid"/>
          </a:ln>
        </p:spPr>
      </p:sp>
      <p:sp>
        <p:nvSpPr>
          <p:cNvPr id="276" name="bg#274"/>
          <p:cNvSpPr/>
          <p:nvPr/>
        </p:nvSpPr>
        <p:spPr>
          <a:xfrm>
            <a:off x="3657600" y="6217920"/>
            <a:ext cx="20117" cy="20117"/>
          </a:xfrm>
          <a:prstGeom prst="ellipse">
            <a:avLst/>
          </a:prstGeom>
          <a:solidFill>
            <a:srgbClr val="D9D9E0"/>
          </a:solidFill>
          <a:ln w="12700">
            <a:solidFill>
              <a:srgbClr val="D9D9E0"/>
            </a:solidFill>
            <a:prstDash val="solid"/>
          </a:ln>
        </p:spPr>
      </p:sp>
      <p:sp>
        <p:nvSpPr>
          <p:cNvPr id="277" name="bg#275"/>
          <p:cNvSpPr/>
          <p:nvPr/>
        </p:nvSpPr>
        <p:spPr>
          <a:xfrm>
            <a:off x="4023360" y="6217920"/>
            <a:ext cx="20117" cy="20117"/>
          </a:xfrm>
          <a:prstGeom prst="ellipse">
            <a:avLst/>
          </a:prstGeom>
          <a:solidFill>
            <a:srgbClr val="D9D9E0"/>
          </a:solidFill>
          <a:ln w="12700">
            <a:solidFill>
              <a:srgbClr val="D9D9E0"/>
            </a:solidFill>
            <a:prstDash val="solid"/>
          </a:ln>
        </p:spPr>
      </p:sp>
      <p:sp>
        <p:nvSpPr>
          <p:cNvPr id="278" name="bg#276"/>
          <p:cNvSpPr/>
          <p:nvPr/>
        </p:nvSpPr>
        <p:spPr>
          <a:xfrm>
            <a:off x="4389120" y="6217920"/>
            <a:ext cx="20117" cy="20117"/>
          </a:xfrm>
          <a:prstGeom prst="ellipse">
            <a:avLst/>
          </a:prstGeom>
          <a:solidFill>
            <a:srgbClr val="D9D9E0"/>
          </a:solidFill>
          <a:ln w="12700">
            <a:solidFill>
              <a:srgbClr val="D9D9E0"/>
            </a:solidFill>
            <a:prstDash val="solid"/>
          </a:ln>
        </p:spPr>
      </p:sp>
      <p:sp>
        <p:nvSpPr>
          <p:cNvPr id="279" name="bg#277"/>
          <p:cNvSpPr/>
          <p:nvPr/>
        </p:nvSpPr>
        <p:spPr>
          <a:xfrm>
            <a:off x="4754880" y="6217920"/>
            <a:ext cx="20117" cy="20117"/>
          </a:xfrm>
          <a:prstGeom prst="ellipse">
            <a:avLst/>
          </a:prstGeom>
          <a:solidFill>
            <a:srgbClr val="D9D9E0"/>
          </a:solidFill>
          <a:ln w="12700">
            <a:solidFill>
              <a:srgbClr val="D9D9E0"/>
            </a:solidFill>
            <a:prstDash val="solid"/>
          </a:ln>
        </p:spPr>
      </p:sp>
      <p:sp>
        <p:nvSpPr>
          <p:cNvPr id="280" name="bg#278"/>
          <p:cNvSpPr/>
          <p:nvPr/>
        </p:nvSpPr>
        <p:spPr>
          <a:xfrm>
            <a:off x="5120640" y="6217920"/>
            <a:ext cx="20117" cy="20117"/>
          </a:xfrm>
          <a:prstGeom prst="ellipse">
            <a:avLst/>
          </a:prstGeom>
          <a:solidFill>
            <a:srgbClr val="D9D9E0"/>
          </a:solidFill>
          <a:ln w="12700">
            <a:solidFill>
              <a:srgbClr val="D9D9E0"/>
            </a:solidFill>
            <a:prstDash val="solid"/>
          </a:ln>
        </p:spPr>
      </p:sp>
      <p:sp>
        <p:nvSpPr>
          <p:cNvPr id="281" name="bg#279"/>
          <p:cNvSpPr/>
          <p:nvPr/>
        </p:nvSpPr>
        <p:spPr>
          <a:xfrm>
            <a:off x="5486400" y="6217920"/>
            <a:ext cx="20117" cy="20117"/>
          </a:xfrm>
          <a:prstGeom prst="ellipse">
            <a:avLst/>
          </a:prstGeom>
          <a:solidFill>
            <a:srgbClr val="D9D9E0"/>
          </a:solidFill>
          <a:ln w="12700">
            <a:solidFill>
              <a:srgbClr val="D9D9E0"/>
            </a:solidFill>
            <a:prstDash val="solid"/>
          </a:ln>
        </p:spPr>
      </p:sp>
      <p:sp>
        <p:nvSpPr>
          <p:cNvPr id="282" name="bg#280"/>
          <p:cNvSpPr/>
          <p:nvPr/>
        </p:nvSpPr>
        <p:spPr>
          <a:xfrm>
            <a:off x="5852160" y="6217920"/>
            <a:ext cx="20117" cy="20117"/>
          </a:xfrm>
          <a:prstGeom prst="ellipse">
            <a:avLst/>
          </a:prstGeom>
          <a:solidFill>
            <a:srgbClr val="D9D9E0"/>
          </a:solidFill>
          <a:ln w="12700">
            <a:solidFill>
              <a:srgbClr val="D9D9E0"/>
            </a:solidFill>
            <a:prstDash val="solid"/>
          </a:ln>
        </p:spPr>
      </p:sp>
      <p:sp>
        <p:nvSpPr>
          <p:cNvPr id="283" name="bg#281"/>
          <p:cNvSpPr/>
          <p:nvPr/>
        </p:nvSpPr>
        <p:spPr>
          <a:xfrm>
            <a:off x="6217920" y="6217920"/>
            <a:ext cx="20117" cy="20117"/>
          </a:xfrm>
          <a:prstGeom prst="ellipse">
            <a:avLst/>
          </a:prstGeom>
          <a:solidFill>
            <a:srgbClr val="D9D9E0"/>
          </a:solidFill>
          <a:ln w="12700">
            <a:solidFill>
              <a:srgbClr val="D9D9E0"/>
            </a:solidFill>
            <a:prstDash val="solid"/>
          </a:ln>
        </p:spPr>
      </p:sp>
      <p:sp>
        <p:nvSpPr>
          <p:cNvPr id="284" name="bg#282"/>
          <p:cNvSpPr/>
          <p:nvPr/>
        </p:nvSpPr>
        <p:spPr>
          <a:xfrm>
            <a:off x="6583680" y="6217920"/>
            <a:ext cx="20117" cy="20117"/>
          </a:xfrm>
          <a:prstGeom prst="ellipse">
            <a:avLst/>
          </a:prstGeom>
          <a:solidFill>
            <a:srgbClr val="D9D9E0"/>
          </a:solidFill>
          <a:ln w="12700">
            <a:solidFill>
              <a:srgbClr val="D9D9E0"/>
            </a:solidFill>
            <a:prstDash val="solid"/>
          </a:ln>
        </p:spPr>
      </p:sp>
      <p:sp>
        <p:nvSpPr>
          <p:cNvPr id="285" name="bg#283"/>
          <p:cNvSpPr/>
          <p:nvPr/>
        </p:nvSpPr>
        <p:spPr>
          <a:xfrm>
            <a:off x="6949440" y="6217920"/>
            <a:ext cx="20117" cy="20117"/>
          </a:xfrm>
          <a:prstGeom prst="ellipse">
            <a:avLst/>
          </a:prstGeom>
          <a:solidFill>
            <a:srgbClr val="D9D9E0"/>
          </a:solidFill>
          <a:ln w="12700">
            <a:solidFill>
              <a:srgbClr val="D9D9E0"/>
            </a:solidFill>
            <a:prstDash val="solid"/>
          </a:ln>
        </p:spPr>
      </p:sp>
      <p:sp>
        <p:nvSpPr>
          <p:cNvPr id="286" name="bg#284"/>
          <p:cNvSpPr/>
          <p:nvPr/>
        </p:nvSpPr>
        <p:spPr>
          <a:xfrm>
            <a:off x="7315200" y="6217920"/>
            <a:ext cx="20117" cy="20117"/>
          </a:xfrm>
          <a:prstGeom prst="ellipse">
            <a:avLst/>
          </a:prstGeom>
          <a:solidFill>
            <a:srgbClr val="D9D9E0"/>
          </a:solidFill>
          <a:ln w="12700">
            <a:solidFill>
              <a:srgbClr val="D9D9E0"/>
            </a:solidFill>
            <a:prstDash val="solid"/>
          </a:ln>
        </p:spPr>
      </p:sp>
      <p:sp>
        <p:nvSpPr>
          <p:cNvPr id="287" name="bg#285"/>
          <p:cNvSpPr/>
          <p:nvPr/>
        </p:nvSpPr>
        <p:spPr>
          <a:xfrm>
            <a:off x="7680960" y="6217920"/>
            <a:ext cx="20117" cy="20117"/>
          </a:xfrm>
          <a:prstGeom prst="ellipse">
            <a:avLst/>
          </a:prstGeom>
          <a:solidFill>
            <a:srgbClr val="D9D9E0"/>
          </a:solidFill>
          <a:ln w="12700">
            <a:solidFill>
              <a:srgbClr val="D9D9E0"/>
            </a:solidFill>
            <a:prstDash val="solid"/>
          </a:ln>
        </p:spPr>
      </p:sp>
      <p:sp>
        <p:nvSpPr>
          <p:cNvPr id="288" name="bg#286"/>
          <p:cNvSpPr/>
          <p:nvPr/>
        </p:nvSpPr>
        <p:spPr>
          <a:xfrm>
            <a:off x="8046720" y="6217920"/>
            <a:ext cx="20117" cy="20117"/>
          </a:xfrm>
          <a:prstGeom prst="ellipse">
            <a:avLst/>
          </a:prstGeom>
          <a:solidFill>
            <a:srgbClr val="D9D9E0"/>
          </a:solidFill>
          <a:ln w="12700">
            <a:solidFill>
              <a:srgbClr val="D9D9E0"/>
            </a:solidFill>
            <a:prstDash val="solid"/>
          </a:ln>
        </p:spPr>
      </p:sp>
      <p:sp>
        <p:nvSpPr>
          <p:cNvPr id="289" name="bg#287"/>
          <p:cNvSpPr/>
          <p:nvPr/>
        </p:nvSpPr>
        <p:spPr>
          <a:xfrm>
            <a:off x="8412480" y="6217920"/>
            <a:ext cx="20117" cy="20117"/>
          </a:xfrm>
          <a:prstGeom prst="ellipse">
            <a:avLst/>
          </a:prstGeom>
          <a:solidFill>
            <a:srgbClr val="D9D9E0"/>
          </a:solidFill>
          <a:ln w="12700">
            <a:solidFill>
              <a:srgbClr val="D9D9E0"/>
            </a:solidFill>
            <a:prstDash val="solid"/>
          </a:ln>
        </p:spPr>
      </p:sp>
      <p:sp>
        <p:nvSpPr>
          <p:cNvPr id="290" name="bg#288"/>
          <p:cNvSpPr/>
          <p:nvPr/>
        </p:nvSpPr>
        <p:spPr>
          <a:xfrm>
            <a:off x="8778240" y="6217920"/>
            <a:ext cx="20117" cy="20117"/>
          </a:xfrm>
          <a:prstGeom prst="ellipse">
            <a:avLst/>
          </a:prstGeom>
          <a:solidFill>
            <a:srgbClr val="D9D9E0"/>
          </a:solidFill>
          <a:ln w="12700">
            <a:solidFill>
              <a:srgbClr val="D9D9E0"/>
            </a:solidFill>
            <a:prstDash val="solid"/>
          </a:ln>
        </p:spPr>
      </p:sp>
      <p:sp>
        <p:nvSpPr>
          <p:cNvPr id="291" name="bg#289"/>
          <p:cNvSpPr/>
          <p:nvPr/>
        </p:nvSpPr>
        <p:spPr>
          <a:xfrm>
            <a:off x="9144000" y="6217920"/>
            <a:ext cx="20117" cy="20117"/>
          </a:xfrm>
          <a:prstGeom prst="ellipse">
            <a:avLst/>
          </a:prstGeom>
          <a:solidFill>
            <a:srgbClr val="D9D9E0"/>
          </a:solidFill>
          <a:ln w="12700">
            <a:solidFill>
              <a:srgbClr val="D9D9E0"/>
            </a:solidFill>
            <a:prstDash val="solid"/>
          </a:ln>
        </p:spPr>
      </p:sp>
      <p:sp>
        <p:nvSpPr>
          <p:cNvPr id="292" name="bg#290"/>
          <p:cNvSpPr/>
          <p:nvPr/>
        </p:nvSpPr>
        <p:spPr>
          <a:xfrm>
            <a:off x="9509760" y="6217920"/>
            <a:ext cx="20117" cy="20117"/>
          </a:xfrm>
          <a:prstGeom prst="ellipse">
            <a:avLst/>
          </a:prstGeom>
          <a:solidFill>
            <a:srgbClr val="D9D9E0"/>
          </a:solidFill>
          <a:ln w="12700">
            <a:solidFill>
              <a:srgbClr val="D9D9E0"/>
            </a:solidFill>
            <a:prstDash val="solid"/>
          </a:ln>
        </p:spPr>
      </p:sp>
      <p:sp>
        <p:nvSpPr>
          <p:cNvPr id="293" name="bg#291"/>
          <p:cNvSpPr/>
          <p:nvPr/>
        </p:nvSpPr>
        <p:spPr>
          <a:xfrm>
            <a:off x="9875520" y="6217920"/>
            <a:ext cx="20117" cy="20117"/>
          </a:xfrm>
          <a:prstGeom prst="ellipse">
            <a:avLst/>
          </a:prstGeom>
          <a:solidFill>
            <a:srgbClr val="D9D9E0"/>
          </a:solidFill>
          <a:ln w="12700">
            <a:solidFill>
              <a:srgbClr val="D9D9E0"/>
            </a:solidFill>
            <a:prstDash val="solid"/>
          </a:ln>
        </p:spPr>
      </p:sp>
      <p:sp>
        <p:nvSpPr>
          <p:cNvPr id="294" name="bg#292"/>
          <p:cNvSpPr/>
          <p:nvPr/>
        </p:nvSpPr>
        <p:spPr>
          <a:xfrm>
            <a:off x="10241280" y="6217920"/>
            <a:ext cx="20117" cy="20117"/>
          </a:xfrm>
          <a:prstGeom prst="ellipse">
            <a:avLst/>
          </a:prstGeom>
          <a:solidFill>
            <a:srgbClr val="D9D9E0"/>
          </a:solidFill>
          <a:ln w="12700">
            <a:solidFill>
              <a:srgbClr val="D9D9E0"/>
            </a:solidFill>
            <a:prstDash val="solid"/>
          </a:ln>
        </p:spPr>
      </p:sp>
      <p:sp>
        <p:nvSpPr>
          <p:cNvPr id="295" name="bg#293"/>
          <p:cNvSpPr/>
          <p:nvPr/>
        </p:nvSpPr>
        <p:spPr>
          <a:xfrm>
            <a:off x="10607040" y="6217920"/>
            <a:ext cx="20117" cy="20117"/>
          </a:xfrm>
          <a:prstGeom prst="ellipse">
            <a:avLst/>
          </a:prstGeom>
          <a:solidFill>
            <a:srgbClr val="D9D9E0"/>
          </a:solidFill>
          <a:ln w="12700">
            <a:solidFill>
              <a:srgbClr val="D9D9E0"/>
            </a:solidFill>
            <a:prstDash val="solid"/>
          </a:ln>
        </p:spPr>
      </p:sp>
      <p:sp>
        <p:nvSpPr>
          <p:cNvPr id="296" name="bg#294"/>
          <p:cNvSpPr/>
          <p:nvPr/>
        </p:nvSpPr>
        <p:spPr>
          <a:xfrm>
            <a:off x="10972800" y="6217920"/>
            <a:ext cx="20117" cy="20117"/>
          </a:xfrm>
          <a:prstGeom prst="ellipse">
            <a:avLst/>
          </a:prstGeom>
          <a:solidFill>
            <a:srgbClr val="D9D9E0"/>
          </a:solidFill>
          <a:ln w="12700">
            <a:solidFill>
              <a:srgbClr val="D9D9E0"/>
            </a:solidFill>
            <a:prstDash val="solid"/>
          </a:ln>
        </p:spPr>
      </p:sp>
      <p:sp>
        <p:nvSpPr>
          <p:cNvPr id="297" name="bg#295"/>
          <p:cNvSpPr/>
          <p:nvPr/>
        </p:nvSpPr>
        <p:spPr>
          <a:xfrm>
            <a:off x="11338560" y="6217920"/>
            <a:ext cx="20117" cy="20117"/>
          </a:xfrm>
          <a:prstGeom prst="ellipse">
            <a:avLst/>
          </a:prstGeom>
          <a:solidFill>
            <a:srgbClr val="D9D9E0"/>
          </a:solidFill>
          <a:ln w="12700">
            <a:solidFill>
              <a:srgbClr val="D9D9E0"/>
            </a:solidFill>
            <a:prstDash val="solid"/>
          </a:ln>
        </p:spPr>
      </p:sp>
      <p:sp>
        <p:nvSpPr>
          <p:cNvPr id="298" name="bg#296"/>
          <p:cNvSpPr/>
          <p:nvPr/>
        </p:nvSpPr>
        <p:spPr>
          <a:xfrm>
            <a:off x="11704320" y="6217920"/>
            <a:ext cx="20117" cy="20117"/>
          </a:xfrm>
          <a:prstGeom prst="ellipse">
            <a:avLst/>
          </a:prstGeom>
          <a:solidFill>
            <a:srgbClr val="D9D9E0"/>
          </a:solidFill>
          <a:ln w="12700">
            <a:solidFill>
              <a:srgbClr val="D9D9E0"/>
            </a:solidFill>
            <a:prstDash val="solid"/>
          </a:ln>
        </p:spPr>
      </p:sp>
      <p:sp>
        <p:nvSpPr>
          <p:cNvPr id="299" name="mark#297"/>
          <p:cNvSpPr/>
          <p:nvPr/>
        </p:nvSpPr>
        <p:spPr>
          <a:xfrm>
            <a:off x="5718658" y="1078992"/>
            <a:ext cx="71323" cy="71323"/>
          </a:xfrm>
          <a:prstGeom prst="rect">
            <a:avLst/>
          </a:prstGeom>
          <a:solidFill>
            <a:srgbClr val="1C2024"/>
          </a:solidFill>
          <a:ln w="12700">
            <a:solidFill>
              <a:srgbClr val="1C2024"/>
            </a:solidFill>
            <a:prstDash val="solid"/>
          </a:ln>
        </p:spPr>
      </p:sp>
      <p:sp>
        <p:nvSpPr>
          <p:cNvPr id="300" name="mark#298"/>
          <p:cNvSpPr/>
          <p:nvPr/>
        </p:nvSpPr>
        <p:spPr>
          <a:xfrm>
            <a:off x="5787238" y="1078992"/>
            <a:ext cx="71323" cy="71323"/>
          </a:xfrm>
          <a:prstGeom prst="rect">
            <a:avLst/>
          </a:prstGeom>
          <a:solidFill>
            <a:srgbClr val="1C2024"/>
          </a:solidFill>
          <a:ln w="12700">
            <a:solidFill>
              <a:srgbClr val="1C2024"/>
            </a:solidFill>
            <a:prstDash val="solid"/>
          </a:ln>
        </p:spPr>
      </p:sp>
      <p:sp>
        <p:nvSpPr>
          <p:cNvPr id="301" name="mark#299"/>
          <p:cNvSpPr/>
          <p:nvPr/>
        </p:nvSpPr>
        <p:spPr>
          <a:xfrm>
            <a:off x="6335878" y="1078992"/>
            <a:ext cx="71323" cy="71323"/>
          </a:xfrm>
          <a:prstGeom prst="rect">
            <a:avLst/>
          </a:prstGeom>
          <a:solidFill>
            <a:srgbClr val="1C2024"/>
          </a:solidFill>
          <a:ln w="12700">
            <a:solidFill>
              <a:srgbClr val="1C2024"/>
            </a:solidFill>
            <a:prstDash val="solid"/>
          </a:ln>
        </p:spPr>
      </p:sp>
      <p:sp>
        <p:nvSpPr>
          <p:cNvPr id="302" name="mark#300"/>
          <p:cNvSpPr/>
          <p:nvPr/>
        </p:nvSpPr>
        <p:spPr>
          <a:xfrm>
            <a:off x="6404458" y="1078992"/>
            <a:ext cx="71323" cy="71323"/>
          </a:xfrm>
          <a:prstGeom prst="rect">
            <a:avLst/>
          </a:prstGeom>
          <a:solidFill>
            <a:srgbClr val="1C2024"/>
          </a:solidFill>
          <a:ln w="12700">
            <a:solidFill>
              <a:srgbClr val="1C2024"/>
            </a:solidFill>
            <a:prstDash val="solid"/>
          </a:ln>
        </p:spPr>
      </p:sp>
      <p:sp>
        <p:nvSpPr>
          <p:cNvPr id="303" name="mark#301"/>
          <p:cNvSpPr/>
          <p:nvPr/>
        </p:nvSpPr>
        <p:spPr>
          <a:xfrm>
            <a:off x="5787238" y="1147572"/>
            <a:ext cx="71323" cy="71323"/>
          </a:xfrm>
          <a:prstGeom prst="rect">
            <a:avLst/>
          </a:prstGeom>
          <a:solidFill>
            <a:srgbClr val="1C2024"/>
          </a:solidFill>
          <a:ln w="12700">
            <a:solidFill>
              <a:srgbClr val="1C2024"/>
            </a:solidFill>
            <a:prstDash val="solid"/>
          </a:ln>
        </p:spPr>
      </p:sp>
      <p:sp>
        <p:nvSpPr>
          <p:cNvPr id="304" name="mark#302"/>
          <p:cNvSpPr/>
          <p:nvPr/>
        </p:nvSpPr>
        <p:spPr>
          <a:xfrm>
            <a:off x="5855818" y="1147572"/>
            <a:ext cx="71323" cy="71323"/>
          </a:xfrm>
          <a:prstGeom prst="rect">
            <a:avLst/>
          </a:prstGeom>
          <a:solidFill>
            <a:srgbClr val="1C2024"/>
          </a:solidFill>
          <a:ln w="12700">
            <a:solidFill>
              <a:srgbClr val="1C2024"/>
            </a:solidFill>
            <a:prstDash val="solid"/>
          </a:ln>
        </p:spPr>
      </p:sp>
      <p:sp>
        <p:nvSpPr>
          <p:cNvPr id="305" name="mark#303"/>
          <p:cNvSpPr/>
          <p:nvPr/>
        </p:nvSpPr>
        <p:spPr>
          <a:xfrm>
            <a:off x="6267298" y="1147572"/>
            <a:ext cx="71323" cy="71323"/>
          </a:xfrm>
          <a:prstGeom prst="rect">
            <a:avLst/>
          </a:prstGeom>
          <a:solidFill>
            <a:srgbClr val="1C2024"/>
          </a:solidFill>
          <a:ln w="12700">
            <a:solidFill>
              <a:srgbClr val="1C2024"/>
            </a:solidFill>
            <a:prstDash val="solid"/>
          </a:ln>
        </p:spPr>
      </p:sp>
      <p:sp>
        <p:nvSpPr>
          <p:cNvPr id="306" name="mark#304"/>
          <p:cNvSpPr/>
          <p:nvPr/>
        </p:nvSpPr>
        <p:spPr>
          <a:xfrm>
            <a:off x="6335878" y="1147572"/>
            <a:ext cx="71323" cy="71323"/>
          </a:xfrm>
          <a:prstGeom prst="rect">
            <a:avLst/>
          </a:prstGeom>
          <a:solidFill>
            <a:srgbClr val="1C2024"/>
          </a:solidFill>
          <a:ln w="12700">
            <a:solidFill>
              <a:srgbClr val="1C2024"/>
            </a:solidFill>
            <a:prstDash val="solid"/>
          </a:ln>
        </p:spPr>
      </p:sp>
      <p:sp>
        <p:nvSpPr>
          <p:cNvPr id="307" name="mark#305"/>
          <p:cNvSpPr/>
          <p:nvPr/>
        </p:nvSpPr>
        <p:spPr>
          <a:xfrm>
            <a:off x="5855818" y="1216152"/>
            <a:ext cx="71323" cy="71323"/>
          </a:xfrm>
          <a:prstGeom prst="rect">
            <a:avLst/>
          </a:prstGeom>
          <a:solidFill>
            <a:srgbClr val="1C2024"/>
          </a:solidFill>
          <a:ln w="12700">
            <a:solidFill>
              <a:srgbClr val="1C2024"/>
            </a:solidFill>
            <a:prstDash val="solid"/>
          </a:ln>
        </p:spPr>
      </p:sp>
      <p:sp>
        <p:nvSpPr>
          <p:cNvPr id="308" name="mark#306"/>
          <p:cNvSpPr/>
          <p:nvPr/>
        </p:nvSpPr>
        <p:spPr>
          <a:xfrm>
            <a:off x="5924398" y="1216152"/>
            <a:ext cx="71323" cy="71323"/>
          </a:xfrm>
          <a:prstGeom prst="rect">
            <a:avLst/>
          </a:prstGeom>
          <a:solidFill>
            <a:srgbClr val="1C2024"/>
          </a:solidFill>
          <a:ln w="12700">
            <a:solidFill>
              <a:srgbClr val="1C2024"/>
            </a:solidFill>
            <a:prstDash val="solid"/>
          </a:ln>
        </p:spPr>
      </p:sp>
      <p:sp>
        <p:nvSpPr>
          <p:cNvPr id="309" name="mark#307"/>
          <p:cNvSpPr/>
          <p:nvPr/>
        </p:nvSpPr>
        <p:spPr>
          <a:xfrm>
            <a:off x="6061558" y="1216152"/>
            <a:ext cx="71323" cy="71323"/>
          </a:xfrm>
          <a:prstGeom prst="rect">
            <a:avLst/>
          </a:prstGeom>
          <a:solidFill>
            <a:srgbClr val="1C2024"/>
          </a:solidFill>
          <a:ln w="12700">
            <a:solidFill>
              <a:srgbClr val="1C2024"/>
            </a:solidFill>
            <a:prstDash val="solid"/>
          </a:ln>
        </p:spPr>
      </p:sp>
      <p:sp>
        <p:nvSpPr>
          <p:cNvPr id="310" name="mark#308"/>
          <p:cNvSpPr/>
          <p:nvPr/>
        </p:nvSpPr>
        <p:spPr>
          <a:xfrm>
            <a:off x="6198718" y="1216152"/>
            <a:ext cx="71323" cy="71323"/>
          </a:xfrm>
          <a:prstGeom prst="rect">
            <a:avLst/>
          </a:prstGeom>
          <a:solidFill>
            <a:srgbClr val="1C2024"/>
          </a:solidFill>
          <a:ln w="12700">
            <a:solidFill>
              <a:srgbClr val="1C2024"/>
            </a:solidFill>
            <a:prstDash val="solid"/>
          </a:ln>
        </p:spPr>
      </p:sp>
      <p:sp>
        <p:nvSpPr>
          <p:cNvPr id="311" name="mark#309"/>
          <p:cNvSpPr/>
          <p:nvPr/>
        </p:nvSpPr>
        <p:spPr>
          <a:xfrm>
            <a:off x="6267298" y="1216152"/>
            <a:ext cx="71323" cy="71323"/>
          </a:xfrm>
          <a:prstGeom prst="rect">
            <a:avLst/>
          </a:prstGeom>
          <a:solidFill>
            <a:srgbClr val="1C2024"/>
          </a:solidFill>
          <a:ln w="12700">
            <a:solidFill>
              <a:srgbClr val="1C2024"/>
            </a:solidFill>
            <a:prstDash val="solid"/>
          </a:ln>
        </p:spPr>
      </p:sp>
      <p:sp>
        <p:nvSpPr>
          <p:cNvPr id="312" name="mark#310"/>
          <p:cNvSpPr/>
          <p:nvPr/>
        </p:nvSpPr>
        <p:spPr>
          <a:xfrm>
            <a:off x="5924398" y="1284732"/>
            <a:ext cx="71323" cy="71323"/>
          </a:xfrm>
          <a:prstGeom prst="rect">
            <a:avLst/>
          </a:prstGeom>
          <a:solidFill>
            <a:srgbClr val="1C2024"/>
          </a:solidFill>
          <a:ln w="12700">
            <a:solidFill>
              <a:srgbClr val="1C2024"/>
            </a:solidFill>
            <a:prstDash val="solid"/>
          </a:ln>
        </p:spPr>
      </p:sp>
      <p:sp>
        <p:nvSpPr>
          <p:cNvPr id="313" name="mark#311"/>
          <p:cNvSpPr/>
          <p:nvPr/>
        </p:nvSpPr>
        <p:spPr>
          <a:xfrm>
            <a:off x="5992978" y="1284732"/>
            <a:ext cx="71323" cy="71323"/>
          </a:xfrm>
          <a:prstGeom prst="rect">
            <a:avLst/>
          </a:prstGeom>
          <a:solidFill>
            <a:srgbClr val="1C2024"/>
          </a:solidFill>
          <a:ln w="12700">
            <a:solidFill>
              <a:srgbClr val="1C2024"/>
            </a:solidFill>
            <a:prstDash val="solid"/>
          </a:ln>
        </p:spPr>
      </p:sp>
      <p:sp>
        <p:nvSpPr>
          <p:cNvPr id="314" name="mark#312"/>
          <p:cNvSpPr/>
          <p:nvPr/>
        </p:nvSpPr>
        <p:spPr>
          <a:xfrm>
            <a:off x="6061558" y="1284732"/>
            <a:ext cx="71323" cy="71323"/>
          </a:xfrm>
          <a:prstGeom prst="rect">
            <a:avLst/>
          </a:prstGeom>
          <a:solidFill>
            <a:srgbClr val="1C2024"/>
          </a:solidFill>
          <a:ln w="12700">
            <a:solidFill>
              <a:srgbClr val="1C2024"/>
            </a:solidFill>
            <a:prstDash val="solid"/>
          </a:ln>
        </p:spPr>
      </p:sp>
      <p:sp>
        <p:nvSpPr>
          <p:cNvPr id="315" name="mark#313"/>
          <p:cNvSpPr/>
          <p:nvPr/>
        </p:nvSpPr>
        <p:spPr>
          <a:xfrm>
            <a:off x="6130138" y="1284732"/>
            <a:ext cx="71323" cy="71323"/>
          </a:xfrm>
          <a:prstGeom prst="rect">
            <a:avLst/>
          </a:prstGeom>
          <a:solidFill>
            <a:srgbClr val="1C2024"/>
          </a:solidFill>
          <a:ln w="12700">
            <a:solidFill>
              <a:srgbClr val="1C2024"/>
            </a:solidFill>
            <a:prstDash val="solid"/>
          </a:ln>
        </p:spPr>
      </p:sp>
      <p:sp>
        <p:nvSpPr>
          <p:cNvPr id="316" name="mark#314"/>
          <p:cNvSpPr/>
          <p:nvPr/>
        </p:nvSpPr>
        <p:spPr>
          <a:xfrm>
            <a:off x="6198718" y="1284732"/>
            <a:ext cx="71323" cy="71323"/>
          </a:xfrm>
          <a:prstGeom prst="rect">
            <a:avLst/>
          </a:prstGeom>
          <a:solidFill>
            <a:srgbClr val="1C2024"/>
          </a:solidFill>
          <a:ln w="12700">
            <a:solidFill>
              <a:srgbClr val="1C2024"/>
            </a:solidFill>
            <a:prstDash val="solid"/>
          </a:ln>
        </p:spPr>
      </p:sp>
      <p:sp>
        <p:nvSpPr>
          <p:cNvPr id="317" name="mark#315"/>
          <p:cNvSpPr/>
          <p:nvPr/>
        </p:nvSpPr>
        <p:spPr>
          <a:xfrm>
            <a:off x="5992978" y="1353312"/>
            <a:ext cx="71323" cy="71323"/>
          </a:xfrm>
          <a:prstGeom prst="rect">
            <a:avLst/>
          </a:prstGeom>
          <a:solidFill>
            <a:srgbClr val="1C2024"/>
          </a:solidFill>
          <a:ln w="12700">
            <a:solidFill>
              <a:srgbClr val="1C2024"/>
            </a:solidFill>
            <a:prstDash val="solid"/>
          </a:ln>
        </p:spPr>
      </p:sp>
      <p:sp>
        <p:nvSpPr>
          <p:cNvPr id="318" name="mark#316"/>
          <p:cNvSpPr/>
          <p:nvPr/>
        </p:nvSpPr>
        <p:spPr>
          <a:xfrm>
            <a:off x="6061558" y="1353312"/>
            <a:ext cx="71323" cy="71323"/>
          </a:xfrm>
          <a:prstGeom prst="rect">
            <a:avLst/>
          </a:prstGeom>
          <a:solidFill>
            <a:srgbClr val="1C2024"/>
          </a:solidFill>
          <a:ln w="12700">
            <a:solidFill>
              <a:srgbClr val="1C2024"/>
            </a:solidFill>
            <a:prstDash val="solid"/>
          </a:ln>
        </p:spPr>
      </p:sp>
      <p:sp>
        <p:nvSpPr>
          <p:cNvPr id="319" name="mark#317"/>
          <p:cNvSpPr/>
          <p:nvPr/>
        </p:nvSpPr>
        <p:spPr>
          <a:xfrm>
            <a:off x="6130138" y="1353312"/>
            <a:ext cx="71323" cy="71323"/>
          </a:xfrm>
          <a:prstGeom prst="rect">
            <a:avLst/>
          </a:prstGeom>
          <a:solidFill>
            <a:srgbClr val="1C2024"/>
          </a:solidFill>
          <a:ln w="12700">
            <a:solidFill>
              <a:srgbClr val="1C2024"/>
            </a:solidFill>
            <a:prstDash val="solid"/>
          </a:ln>
        </p:spPr>
      </p:sp>
      <p:sp>
        <p:nvSpPr>
          <p:cNvPr id="320" name="mark#318"/>
          <p:cNvSpPr/>
          <p:nvPr/>
        </p:nvSpPr>
        <p:spPr>
          <a:xfrm>
            <a:off x="6061558" y="1421892"/>
            <a:ext cx="71323" cy="71323"/>
          </a:xfrm>
          <a:prstGeom prst="rect">
            <a:avLst/>
          </a:prstGeom>
          <a:solidFill>
            <a:srgbClr val="1C2024"/>
          </a:solidFill>
          <a:ln w="12700">
            <a:solidFill>
              <a:srgbClr val="1C2024"/>
            </a:solidFill>
            <a:prstDash val="solid"/>
          </a:ln>
        </p:spPr>
      </p:sp>
      <p:sp>
        <p:nvSpPr>
          <p:cNvPr id="321" name="mark#319"/>
          <p:cNvSpPr/>
          <p:nvPr/>
        </p:nvSpPr>
        <p:spPr>
          <a:xfrm>
            <a:off x="0" y="1737360"/>
            <a:ext cx="12191695" cy="292608"/>
          </a:xfrm>
          <a:prstGeom prst="rect">
            <a:avLst/>
          </a:prstGeom>
          <a:noFill/>
          <a:ln/>
        </p:spPr>
        <p:txBody>
          <a:bodyPr wrap="square" lIns="0" tIns="0" rIns="0" bIns="0" rtlCol="0" anchor="ctr"/>
          <a:lstStyle/>
          <a:p>
            <a:pPr algn="ctr" indent="0" marL="0">
              <a:buNone/>
            </a:pPr>
            <a:r>
              <a:rPr lang="en-US" sz="1500" b="1" spc="600" kern="0" dirty="0">
                <a:solidFill>
                  <a:srgbClr val="1C2024"/>
                </a:solidFill>
                <a:latin typeface="Consolas" pitchFamily="34" charset="0"/>
                <a:ea typeface="Consolas" pitchFamily="34" charset="-122"/>
                <a:cs typeface="Consolas" pitchFamily="34" charset="-120"/>
              </a:rPr>
              <a:t>AIRHOP</a:t>
            </a:r>
            <a:endParaRPr lang="en-US" sz="1500" dirty="0"/>
          </a:p>
        </p:txBody>
      </p:sp>
      <p:sp>
        <p:nvSpPr>
          <p:cNvPr id="322" name="title#320"/>
          <p:cNvSpPr/>
          <p:nvPr/>
        </p:nvSpPr>
        <p:spPr>
          <a:xfrm>
            <a:off x="0" y="2249424"/>
            <a:ext cx="12191695" cy="1356970"/>
          </a:xfrm>
          <a:prstGeom prst="rect">
            <a:avLst/>
          </a:prstGeom>
          <a:noFill/>
          <a:ln/>
        </p:spPr>
        <p:txBody>
          <a:bodyPr wrap="square" lIns="0" tIns="0" rIns="0" bIns="0" rtlCol="0" anchor="t"/>
          <a:lstStyle/>
          <a:p>
            <a:pPr algn="ctr" indent="0" marL="0">
              <a:lnSpc>
                <a:spcPct val="106000"/>
              </a:lnSpc>
              <a:buNone/>
            </a:pPr>
            <a:r>
              <a:rPr lang="en-US" sz="4200" b="1" dirty="0">
                <a:solidFill>
                  <a:srgbClr val="1C2024"/>
                </a:solidFill>
                <a:latin typeface="Segoe UI" pitchFamily="34" charset="0"/>
                <a:ea typeface="Segoe UI" pitchFamily="34" charset="-122"/>
                <a:cs typeface="Segoe UI" pitchFamily="34" charset="-120"/>
              </a:rPr>
              <a:t>Messaging that works</a:t>
            </a:r>
            <a:endParaRPr lang="en-US" sz="4200" dirty="0"/>
          </a:p>
          <a:p>
            <a:pPr algn="ctr" indent="0" marL="0">
              <a:lnSpc>
                <a:spcPct val="106000"/>
              </a:lnSpc>
              <a:buNone/>
            </a:pPr>
            <a:r>
              <a:rPr lang="en-US" sz="4200" b="1" dirty="0">
                <a:solidFill>
                  <a:srgbClr val="1C2024"/>
                </a:solidFill>
                <a:latin typeface="Segoe UI" pitchFamily="34" charset="0"/>
                <a:ea typeface="Segoe UI" pitchFamily="34" charset="-122"/>
                <a:cs typeface="Segoe UI" pitchFamily="34" charset="-120"/>
              </a:rPr>
              <a:t>without the internet.</a:t>
            </a:r>
            <a:endParaRPr lang="en-US" sz="4200" dirty="0"/>
          </a:p>
        </p:txBody>
      </p:sp>
      <p:sp>
        <p:nvSpPr>
          <p:cNvPr id="323" name="sub#321"/>
          <p:cNvSpPr/>
          <p:nvPr/>
        </p:nvSpPr>
        <p:spPr>
          <a:xfrm>
            <a:off x="2346808" y="3712464"/>
            <a:ext cx="7498080" cy="731520"/>
          </a:xfrm>
          <a:prstGeom prst="rect">
            <a:avLst/>
          </a:prstGeom>
          <a:noFill/>
          <a:ln/>
        </p:spPr>
        <p:txBody>
          <a:bodyPr wrap="square" lIns="0" tIns="0" rIns="0" bIns="0" rtlCol="0" anchor="ctr"/>
          <a:lstStyle/>
          <a:p>
            <a:pPr algn="ctr" indent="0" marL="0">
              <a:lnSpc>
                <a:spcPct val="134000"/>
              </a:lnSpc>
              <a:buNone/>
            </a:pPr>
            <a:r>
              <a:rPr lang="en-US" sz="1350" dirty="0">
                <a:solidFill>
                  <a:srgbClr val="60646C"/>
                </a:solidFill>
                <a:latin typeface="Segoe UI" pitchFamily="34" charset="0"/>
                <a:ea typeface="Segoe UI" pitchFamily="34" charset="-122"/>
                <a:cs typeface="Segoe UI" pitchFamily="34" charset="-120"/>
              </a:rPr>
              <a:t>Nearby phones form a Bluetooth mesh and pass your messages along, up to seven hops, encrypted the whole way. No servers, no accounts, no tracking.</a:t>
            </a:r>
            <a:endParaRPr lang="en-US" sz="1350" dirty="0"/>
          </a:p>
        </p:txBody>
      </p:sp>
      <p:sp>
        <p:nvSpPr>
          <p:cNvPr id="324" name="chips#322"/>
          <p:cNvSpPr/>
          <p:nvPr/>
        </p:nvSpPr>
        <p:spPr>
          <a:xfrm>
            <a:off x="3684118" y="4645152"/>
            <a:ext cx="1202436" cy="237744"/>
          </a:xfrm>
          <a:prstGeom prst="roundRect">
            <a:avLst>
              <a:gd name="adj" fmla="val 50000"/>
            </a:avLst>
          </a:prstGeom>
          <a:solidFill>
            <a:srgbClr val="F0F0F3"/>
          </a:solidFill>
          <a:ln w="9525">
            <a:solidFill>
              <a:srgbClr val="D9D9E0"/>
            </a:solidFill>
            <a:prstDash val="solid"/>
          </a:ln>
        </p:spPr>
      </p:sp>
      <p:sp>
        <p:nvSpPr>
          <p:cNvPr id="325" name="chips#323"/>
          <p:cNvSpPr/>
          <p:nvPr/>
        </p:nvSpPr>
        <p:spPr>
          <a:xfrm>
            <a:off x="3684118" y="4645152"/>
            <a:ext cx="1202436"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OFFLINE FIRST</a:t>
            </a:r>
            <a:endParaRPr lang="en-US" sz="800" dirty="0"/>
          </a:p>
        </p:txBody>
      </p:sp>
      <p:sp>
        <p:nvSpPr>
          <p:cNvPr id="326" name="chips#324"/>
          <p:cNvSpPr/>
          <p:nvPr/>
        </p:nvSpPr>
        <p:spPr>
          <a:xfrm>
            <a:off x="5051146" y="4645152"/>
            <a:ext cx="1065276" cy="237744"/>
          </a:xfrm>
          <a:prstGeom prst="roundRect">
            <a:avLst>
              <a:gd name="adj" fmla="val 50000"/>
            </a:avLst>
          </a:prstGeom>
          <a:solidFill>
            <a:srgbClr val="F0F0F3"/>
          </a:solidFill>
          <a:ln w="9525">
            <a:solidFill>
              <a:srgbClr val="D9D9E0"/>
            </a:solidFill>
            <a:prstDash val="solid"/>
          </a:ln>
        </p:spPr>
      </p:sp>
      <p:sp>
        <p:nvSpPr>
          <p:cNvPr id="327" name="chips#325"/>
          <p:cNvSpPr/>
          <p:nvPr/>
        </p:nvSpPr>
        <p:spPr>
          <a:xfrm>
            <a:off x="5051146" y="4645152"/>
            <a:ext cx="1065276"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NO ACCOUNTS</a:t>
            </a:r>
            <a:endParaRPr lang="en-US" sz="800" dirty="0"/>
          </a:p>
        </p:txBody>
      </p:sp>
      <p:sp>
        <p:nvSpPr>
          <p:cNvPr id="328" name="chips#326"/>
          <p:cNvSpPr/>
          <p:nvPr/>
        </p:nvSpPr>
        <p:spPr>
          <a:xfrm>
            <a:off x="6281014" y="4645152"/>
            <a:ext cx="996696" cy="237744"/>
          </a:xfrm>
          <a:prstGeom prst="roundRect">
            <a:avLst>
              <a:gd name="adj" fmla="val 50000"/>
            </a:avLst>
          </a:prstGeom>
          <a:solidFill>
            <a:srgbClr val="F0F0F3"/>
          </a:solidFill>
          <a:ln w="9525">
            <a:solidFill>
              <a:srgbClr val="D9D9E0"/>
            </a:solidFill>
            <a:prstDash val="solid"/>
          </a:ln>
        </p:spPr>
      </p:sp>
      <p:sp>
        <p:nvSpPr>
          <p:cNvPr id="329" name="chips#327"/>
          <p:cNvSpPr/>
          <p:nvPr/>
        </p:nvSpPr>
        <p:spPr>
          <a:xfrm>
            <a:off x="6281014" y="4645152"/>
            <a:ext cx="996696"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NO SERVERS</a:t>
            </a:r>
            <a:endParaRPr lang="en-US" sz="800" dirty="0"/>
          </a:p>
        </p:txBody>
      </p:sp>
      <p:sp>
        <p:nvSpPr>
          <p:cNvPr id="330" name="chips#328"/>
          <p:cNvSpPr/>
          <p:nvPr/>
        </p:nvSpPr>
        <p:spPr>
          <a:xfrm>
            <a:off x="7442302" y="4645152"/>
            <a:ext cx="1065276" cy="237744"/>
          </a:xfrm>
          <a:prstGeom prst="roundRect">
            <a:avLst>
              <a:gd name="adj" fmla="val 50000"/>
            </a:avLst>
          </a:prstGeom>
          <a:solidFill>
            <a:srgbClr val="F0F0F3"/>
          </a:solidFill>
          <a:ln w="9525">
            <a:solidFill>
              <a:srgbClr val="D9D9E0"/>
            </a:solidFill>
            <a:prstDash val="solid"/>
          </a:ln>
        </p:spPr>
      </p:sp>
      <p:sp>
        <p:nvSpPr>
          <p:cNvPr id="331" name="chips#329"/>
          <p:cNvSpPr/>
          <p:nvPr/>
        </p:nvSpPr>
        <p:spPr>
          <a:xfrm>
            <a:off x="7442302" y="4645152"/>
            <a:ext cx="1065276"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OPEN SOURCE</a:t>
            </a:r>
            <a:endParaRPr lang="en-US" sz="800" dirty="0"/>
          </a:p>
        </p:txBody>
      </p:sp>
      <p:sp>
        <p:nvSpPr>
          <p:cNvPr id="332" name="foot#330"/>
          <p:cNvSpPr/>
          <p:nvPr/>
        </p:nvSpPr>
        <p:spPr>
          <a:xfrm>
            <a:off x="3352648" y="5468112"/>
            <a:ext cx="5486400" cy="0"/>
          </a:xfrm>
          <a:prstGeom prst="line">
            <a:avLst/>
          </a:prstGeom>
          <a:noFill/>
          <a:ln w="9525">
            <a:solidFill>
              <a:srgbClr val="D9D9E0"/>
            </a:solidFill>
            <a:prstDash val="solid"/>
          </a:ln>
        </p:spPr>
      </p:sp>
      <p:sp>
        <p:nvSpPr>
          <p:cNvPr id="333" name="foot#331"/>
          <p:cNvSpPr/>
          <p:nvPr/>
        </p:nvSpPr>
        <p:spPr>
          <a:xfrm>
            <a:off x="0" y="5614416"/>
            <a:ext cx="12191695" cy="274320"/>
          </a:xfrm>
          <a:prstGeom prst="rect">
            <a:avLst/>
          </a:prstGeom>
          <a:noFill/>
          <a:ln/>
        </p:spPr>
        <p:txBody>
          <a:bodyPr wrap="square" lIns="0" tIns="0" rIns="0" bIns="0" rtlCol="0" anchor="ctr"/>
          <a:lstStyle/>
          <a:p>
            <a:pPr algn="ctr" indent="0" marL="0">
              <a:buNone/>
            </a:pPr>
            <a:r>
              <a:rPr lang="en-US" sz="950" dirty="0">
                <a:solidFill>
                  <a:srgbClr val="6E7178"/>
                </a:solidFill>
                <a:latin typeface="Consolas" pitchFamily="34" charset="0"/>
                <a:ea typeface="Consolas" pitchFamily="34" charset="-122"/>
                <a:cs typeface="Consolas" pitchFamily="34" charset="-120"/>
              </a:rPr>
              <a:t>v1.0.0 Albatross  ·  iOS and Android  ·  MIT licensed  ·  </a:t>
            </a:r>
            <a:pPr algn="ctr" indent="0" marL="0">
              <a:buNone/>
            </a:pPr>
            <a:r>
              <a:rPr lang="en-US" sz="950" b="1" u="sng" dirty="0">
                <a:solidFill>
                  <a:srgbClr val="1C2024"/>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airhop.1mindlabs.org</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ead#332"/>
          <p:cNvSpPr/>
          <p:nvPr/>
        </p:nvSpPr>
        <p:spPr>
          <a:xfrm>
            <a:off x="566928" y="402336"/>
            <a:ext cx="11057839" cy="182880"/>
          </a:xfrm>
          <a:prstGeom prst="rect">
            <a:avLst/>
          </a:prstGeom>
          <a:noFill/>
          <a:ln/>
        </p:spPr>
        <p:txBody>
          <a:bodyPr wrap="square" lIns="0" tIns="0" rIns="0" bIns="0" rtlCol="0" anchor="ctr"/>
          <a:lstStyle/>
          <a:p>
            <a:pPr indent="0" marL="0">
              <a:buNone/>
            </a:pPr>
            <a:r>
              <a:rPr lang="en-US" sz="900" b="1" spc="160" kern="0" dirty="0">
                <a:solidFill>
                  <a:srgbClr val="60646C"/>
                </a:solidFill>
                <a:latin typeface="Consolas" pitchFamily="34" charset="0"/>
                <a:ea typeface="Consolas" pitchFamily="34" charset="-122"/>
                <a:cs typeface="Consolas" pitchFamily="34" charset="-120"/>
              </a:rPr>
              <a:t>THE PROBLEM</a:t>
            </a:r>
            <a:endParaRPr lang="en-US" sz="900" dirty="0"/>
          </a:p>
        </p:txBody>
      </p:sp>
      <p:sp>
        <p:nvSpPr>
          <p:cNvPr id="3" name="head#333"/>
          <p:cNvSpPr/>
          <p:nvPr/>
        </p:nvSpPr>
        <p:spPr>
          <a:xfrm>
            <a:off x="566928" y="658368"/>
            <a:ext cx="11057839" cy="872338"/>
          </a:xfrm>
          <a:prstGeom prst="rect">
            <a:avLst/>
          </a:prstGeom>
          <a:noFill/>
          <a:ln/>
        </p:spPr>
        <p:txBody>
          <a:bodyPr wrap="square" lIns="0" tIns="0" rIns="0" bIns="0" rtlCol="0" anchor="t"/>
          <a:lstStyle/>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Every messenger on your phone</a:t>
            </a:r>
            <a:endParaRPr lang="en-US" sz="2700" dirty="0"/>
          </a:p>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has the same point of failure.</a:t>
            </a:r>
            <a:endParaRPr lang="en-US" sz="2700" dirty="0"/>
          </a:p>
        </p:txBody>
      </p:sp>
      <p:sp>
        <p:nvSpPr>
          <p:cNvPr id="4" name="head#334"/>
          <p:cNvSpPr/>
          <p:nvPr/>
        </p:nvSpPr>
        <p:spPr>
          <a:xfrm>
            <a:off x="566928" y="1677010"/>
            <a:ext cx="9052560" cy="515112"/>
          </a:xfrm>
          <a:prstGeom prst="rect">
            <a:avLst/>
          </a:prstGeom>
          <a:noFill/>
          <a:ln/>
        </p:spPr>
        <p:txBody>
          <a:bodyPr wrap="square" lIns="0" tIns="0" rIns="0" bIns="0" rtlCol="0" anchor="t"/>
          <a:lstStyle/>
          <a:p>
            <a:pPr indent="0" marL="0">
              <a:lnSpc>
                <a:spcPct val="130000"/>
              </a:lnSpc>
              <a:buNone/>
            </a:pPr>
            <a:r>
              <a:rPr lang="en-US" sz="1300" dirty="0">
                <a:solidFill>
                  <a:srgbClr val="60646C"/>
                </a:solidFill>
                <a:latin typeface="Segoe UI" pitchFamily="34" charset="0"/>
                <a:ea typeface="Segoe UI" pitchFamily="34" charset="-122"/>
                <a:cs typeface="Segoe UI" pitchFamily="34" charset="-120"/>
              </a:rPr>
              <a:t>Signal, WhatsApp and Telegram are very good at what they do. None of them is built to work without a network, and all of them go quiet when one disappears. Governments switch it off, wars take it out, and storms knock it down.</a:t>
            </a:r>
            <a:endParaRPr lang="en-US" sz="1300" dirty="0"/>
          </a:p>
        </p:txBody>
      </p:sp>
      <p:sp>
        <p:nvSpPr>
          <p:cNvPr id="5" name="stat0#335"/>
          <p:cNvSpPr/>
          <p:nvPr/>
        </p:nvSpPr>
        <p:spPr>
          <a:xfrm>
            <a:off x="566928" y="2286000"/>
            <a:ext cx="3539642" cy="1975104"/>
          </a:xfrm>
          <a:prstGeom prst="roundRect">
            <a:avLst>
              <a:gd name="adj" fmla="val 5093"/>
            </a:avLst>
          </a:prstGeom>
          <a:solidFill>
            <a:srgbClr val="FCFCFD"/>
          </a:solidFill>
          <a:ln w="9525">
            <a:solidFill>
              <a:srgbClr val="D9D9E0"/>
            </a:solidFill>
            <a:prstDash val="solid"/>
          </a:ln>
        </p:spPr>
      </p:sp>
      <p:sp>
        <p:nvSpPr>
          <p:cNvPr id="6" name="stat0#336"/>
          <p:cNvSpPr/>
          <p:nvPr/>
        </p:nvSpPr>
        <p:spPr>
          <a:xfrm>
            <a:off x="877824" y="2523744"/>
            <a:ext cx="2917850" cy="566928"/>
          </a:xfrm>
          <a:prstGeom prst="rect">
            <a:avLst/>
          </a:prstGeom>
          <a:noFill/>
          <a:ln/>
        </p:spPr>
        <p:txBody>
          <a:bodyPr wrap="square" lIns="0" tIns="0" rIns="0" bIns="0" rtlCol="0" anchor="ctr"/>
          <a:lstStyle/>
          <a:p>
            <a:pPr indent="0" marL="0">
              <a:buNone/>
            </a:pPr>
            <a:r>
              <a:rPr lang="en-US" sz="3300" b="1" dirty="0">
                <a:solidFill>
                  <a:srgbClr val="1C2024"/>
                </a:solidFill>
                <a:latin typeface="Segoe UI" pitchFamily="34" charset="0"/>
                <a:ea typeface="Segoe UI" pitchFamily="34" charset="-122"/>
                <a:cs typeface="Segoe UI" pitchFamily="34" charset="-120"/>
              </a:rPr>
              <a:t>313</a:t>
            </a:r>
            <a:endParaRPr lang="en-US" sz="3300" dirty="0"/>
          </a:p>
        </p:txBody>
      </p:sp>
      <p:sp>
        <p:nvSpPr>
          <p:cNvPr id="7" name="stat0#337"/>
          <p:cNvSpPr/>
          <p:nvPr/>
        </p:nvSpPr>
        <p:spPr>
          <a:xfrm>
            <a:off x="877824" y="3108960"/>
            <a:ext cx="2917850" cy="201168"/>
          </a:xfrm>
          <a:prstGeom prst="rect">
            <a:avLst/>
          </a:prstGeom>
          <a:noFill/>
          <a:ln/>
        </p:spPr>
        <p:txBody>
          <a:bodyPr wrap="square" lIns="0" tIns="0" rIns="0" bIns="0" rtlCol="0" anchor="ctr"/>
          <a:lstStyle/>
          <a:p>
            <a:pPr indent="0" marL="0">
              <a:buNone/>
            </a:pPr>
            <a:r>
              <a:rPr lang="en-US" sz="800" b="1" spc="140" kern="0" dirty="0">
                <a:solidFill>
                  <a:srgbClr val="6E7178"/>
                </a:solidFill>
                <a:latin typeface="Consolas" pitchFamily="34" charset="0"/>
                <a:ea typeface="Consolas" pitchFamily="34" charset="-122"/>
                <a:cs typeface="Consolas" pitchFamily="34" charset="-120"/>
              </a:rPr>
              <a:t>SHUTDOWNS</a:t>
            </a:r>
            <a:endParaRPr lang="en-US" sz="800" dirty="0"/>
          </a:p>
        </p:txBody>
      </p:sp>
      <p:sp>
        <p:nvSpPr>
          <p:cNvPr id="8" name="stat0#338"/>
          <p:cNvSpPr/>
          <p:nvPr/>
        </p:nvSpPr>
        <p:spPr>
          <a:xfrm>
            <a:off x="877824" y="3419856"/>
            <a:ext cx="2917850" cy="0"/>
          </a:xfrm>
          <a:prstGeom prst="line">
            <a:avLst/>
          </a:prstGeom>
          <a:noFill/>
          <a:ln w="9525">
            <a:solidFill>
              <a:srgbClr val="D9D9E0"/>
            </a:solidFill>
            <a:prstDash val="solid"/>
          </a:ln>
        </p:spPr>
      </p:sp>
      <p:sp>
        <p:nvSpPr>
          <p:cNvPr id="9" name="stat0#339"/>
          <p:cNvSpPr/>
          <p:nvPr/>
        </p:nvSpPr>
        <p:spPr>
          <a:xfrm>
            <a:off x="877824" y="3547872"/>
            <a:ext cx="2917850" cy="51206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across 52 countries in 2025, with at least one running on any given day</a:t>
            </a:r>
            <a:endParaRPr lang="en-US" sz="950" dirty="0"/>
          </a:p>
        </p:txBody>
      </p:sp>
      <p:sp>
        <p:nvSpPr>
          <p:cNvPr id="10" name="stat1#340"/>
          <p:cNvSpPr/>
          <p:nvPr/>
        </p:nvSpPr>
        <p:spPr>
          <a:xfrm>
            <a:off x="4326026" y="2286000"/>
            <a:ext cx="3539642" cy="1975104"/>
          </a:xfrm>
          <a:prstGeom prst="roundRect">
            <a:avLst>
              <a:gd name="adj" fmla="val 5093"/>
            </a:avLst>
          </a:prstGeom>
          <a:solidFill>
            <a:srgbClr val="FCFCFD"/>
          </a:solidFill>
          <a:ln w="9525">
            <a:solidFill>
              <a:srgbClr val="D9D9E0"/>
            </a:solidFill>
            <a:prstDash val="solid"/>
          </a:ln>
        </p:spPr>
      </p:sp>
      <p:sp>
        <p:nvSpPr>
          <p:cNvPr id="11" name="stat1#341"/>
          <p:cNvSpPr/>
          <p:nvPr/>
        </p:nvSpPr>
        <p:spPr>
          <a:xfrm>
            <a:off x="4636922" y="2523744"/>
            <a:ext cx="2917850" cy="566928"/>
          </a:xfrm>
          <a:prstGeom prst="rect">
            <a:avLst/>
          </a:prstGeom>
          <a:noFill/>
          <a:ln/>
        </p:spPr>
        <p:txBody>
          <a:bodyPr wrap="square" lIns="0" tIns="0" rIns="0" bIns="0" rtlCol="0" anchor="ctr"/>
          <a:lstStyle/>
          <a:p>
            <a:pPr indent="0" marL="0">
              <a:buNone/>
            </a:pPr>
            <a:r>
              <a:rPr lang="en-US" sz="3300" b="1" dirty="0">
                <a:solidFill>
                  <a:srgbClr val="1C2024"/>
                </a:solidFill>
                <a:latin typeface="Segoe UI" pitchFamily="34" charset="0"/>
                <a:ea typeface="Segoe UI" pitchFamily="34" charset="-122"/>
                <a:cs typeface="Segoe UI" pitchFamily="34" charset="-120"/>
              </a:rPr>
              <a:t>$19.7B</a:t>
            </a:r>
            <a:endParaRPr lang="en-US" sz="3300" dirty="0"/>
          </a:p>
        </p:txBody>
      </p:sp>
      <p:sp>
        <p:nvSpPr>
          <p:cNvPr id="12" name="stat1#342"/>
          <p:cNvSpPr/>
          <p:nvPr/>
        </p:nvSpPr>
        <p:spPr>
          <a:xfrm>
            <a:off x="4636922" y="3108960"/>
            <a:ext cx="2917850" cy="201168"/>
          </a:xfrm>
          <a:prstGeom prst="rect">
            <a:avLst/>
          </a:prstGeom>
          <a:noFill/>
          <a:ln/>
        </p:spPr>
        <p:txBody>
          <a:bodyPr wrap="square" lIns="0" tIns="0" rIns="0" bIns="0" rtlCol="0" anchor="ctr"/>
          <a:lstStyle/>
          <a:p>
            <a:pPr indent="0" marL="0">
              <a:buNone/>
            </a:pPr>
            <a:r>
              <a:rPr lang="en-US" sz="800" b="1" spc="140" kern="0" dirty="0">
                <a:solidFill>
                  <a:srgbClr val="6E7178"/>
                </a:solidFill>
                <a:latin typeface="Consolas" pitchFamily="34" charset="0"/>
                <a:ea typeface="Consolas" pitchFamily="34" charset="-122"/>
                <a:cs typeface="Consolas" pitchFamily="34" charset="-120"/>
              </a:rPr>
              <a:t>LOST</a:t>
            </a:r>
            <a:endParaRPr lang="en-US" sz="800" dirty="0"/>
          </a:p>
        </p:txBody>
      </p:sp>
      <p:sp>
        <p:nvSpPr>
          <p:cNvPr id="13" name="stat1#343"/>
          <p:cNvSpPr/>
          <p:nvPr/>
        </p:nvSpPr>
        <p:spPr>
          <a:xfrm>
            <a:off x="4636922" y="3419856"/>
            <a:ext cx="2917850" cy="0"/>
          </a:xfrm>
          <a:prstGeom prst="line">
            <a:avLst/>
          </a:prstGeom>
          <a:noFill/>
          <a:ln w="9525">
            <a:solidFill>
              <a:srgbClr val="D9D9E0"/>
            </a:solidFill>
            <a:prstDash val="solid"/>
          </a:ln>
        </p:spPr>
      </p:sp>
      <p:sp>
        <p:nvSpPr>
          <p:cNvPr id="14" name="stat1#344"/>
          <p:cNvSpPr/>
          <p:nvPr/>
        </p:nvSpPr>
        <p:spPr>
          <a:xfrm>
            <a:off x="4636922" y="3547872"/>
            <a:ext cx="2917850" cy="51206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to deliberate shutdowns in 2025, up 156% on the year before</a:t>
            </a:r>
            <a:endParaRPr lang="en-US" sz="950" dirty="0"/>
          </a:p>
        </p:txBody>
      </p:sp>
      <p:sp>
        <p:nvSpPr>
          <p:cNvPr id="15" name="stat2#345"/>
          <p:cNvSpPr/>
          <p:nvPr/>
        </p:nvSpPr>
        <p:spPr>
          <a:xfrm>
            <a:off x="8085125" y="2286000"/>
            <a:ext cx="3539642" cy="1975104"/>
          </a:xfrm>
          <a:prstGeom prst="roundRect">
            <a:avLst>
              <a:gd name="adj" fmla="val 5093"/>
            </a:avLst>
          </a:prstGeom>
          <a:solidFill>
            <a:srgbClr val="FCFCFD"/>
          </a:solidFill>
          <a:ln w="9525">
            <a:solidFill>
              <a:srgbClr val="D9D9E0"/>
            </a:solidFill>
            <a:prstDash val="solid"/>
          </a:ln>
        </p:spPr>
      </p:sp>
      <p:sp>
        <p:nvSpPr>
          <p:cNvPr id="16" name="stat2#346"/>
          <p:cNvSpPr/>
          <p:nvPr/>
        </p:nvSpPr>
        <p:spPr>
          <a:xfrm>
            <a:off x="8396021" y="2523744"/>
            <a:ext cx="2917850" cy="566928"/>
          </a:xfrm>
          <a:prstGeom prst="rect">
            <a:avLst/>
          </a:prstGeom>
          <a:noFill/>
          <a:ln/>
        </p:spPr>
        <p:txBody>
          <a:bodyPr wrap="square" lIns="0" tIns="0" rIns="0" bIns="0" rtlCol="0" anchor="ctr"/>
          <a:lstStyle/>
          <a:p>
            <a:pPr indent="0" marL="0">
              <a:buNone/>
            </a:pPr>
            <a:r>
              <a:rPr lang="en-US" sz="3300" b="1" dirty="0">
                <a:solidFill>
                  <a:srgbClr val="1C2024"/>
                </a:solidFill>
                <a:latin typeface="Segoe UI" pitchFamily="34" charset="0"/>
                <a:ea typeface="Segoe UI" pitchFamily="34" charset="-122"/>
                <a:cs typeface="Segoe UI" pitchFamily="34" charset="-120"/>
              </a:rPr>
              <a:t>2.2B</a:t>
            </a:r>
            <a:endParaRPr lang="en-US" sz="3300" dirty="0"/>
          </a:p>
        </p:txBody>
      </p:sp>
      <p:sp>
        <p:nvSpPr>
          <p:cNvPr id="17" name="stat2#347"/>
          <p:cNvSpPr/>
          <p:nvPr/>
        </p:nvSpPr>
        <p:spPr>
          <a:xfrm>
            <a:off x="8396021" y="3108960"/>
            <a:ext cx="2917850" cy="201168"/>
          </a:xfrm>
          <a:prstGeom prst="rect">
            <a:avLst/>
          </a:prstGeom>
          <a:noFill/>
          <a:ln/>
        </p:spPr>
        <p:txBody>
          <a:bodyPr wrap="square" lIns="0" tIns="0" rIns="0" bIns="0" rtlCol="0" anchor="ctr"/>
          <a:lstStyle/>
          <a:p>
            <a:pPr indent="0" marL="0">
              <a:buNone/>
            </a:pPr>
            <a:r>
              <a:rPr lang="en-US" sz="800" b="1" spc="140" kern="0" dirty="0">
                <a:solidFill>
                  <a:srgbClr val="6E7178"/>
                </a:solidFill>
                <a:latin typeface="Consolas" pitchFamily="34" charset="0"/>
                <a:ea typeface="Consolas" pitchFamily="34" charset="-122"/>
                <a:cs typeface="Consolas" pitchFamily="34" charset="-120"/>
              </a:rPr>
              <a:t>PEOPLE</a:t>
            </a:r>
            <a:endParaRPr lang="en-US" sz="800" dirty="0"/>
          </a:p>
        </p:txBody>
      </p:sp>
      <p:sp>
        <p:nvSpPr>
          <p:cNvPr id="18" name="stat2#348"/>
          <p:cNvSpPr/>
          <p:nvPr/>
        </p:nvSpPr>
        <p:spPr>
          <a:xfrm>
            <a:off x="8396021" y="3419856"/>
            <a:ext cx="2917850" cy="0"/>
          </a:xfrm>
          <a:prstGeom prst="line">
            <a:avLst/>
          </a:prstGeom>
          <a:noFill/>
          <a:ln w="9525">
            <a:solidFill>
              <a:srgbClr val="D9D9E0"/>
            </a:solidFill>
            <a:prstDash val="solid"/>
          </a:ln>
        </p:spPr>
      </p:sp>
      <p:sp>
        <p:nvSpPr>
          <p:cNvPr id="19" name="stat2#349"/>
          <p:cNvSpPr/>
          <p:nvPr/>
        </p:nvSpPr>
        <p:spPr>
          <a:xfrm>
            <a:off x="8396021" y="3547872"/>
            <a:ext cx="2917850" cy="51206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have never been online at all, most of them rural and poor</a:t>
            </a:r>
            <a:endParaRPr lang="en-US" sz="950" dirty="0"/>
          </a:p>
        </p:txBody>
      </p:sp>
      <p:sp>
        <p:nvSpPr>
          <p:cNvPr id="20" name="kicker#350"/>
          <p:cNvSpPr/>
          <p:nvPr/>
        </p:nvSpPr>
        <p:spPr>
          <a:xfrm>
            <a:off x="566928" y="4517136"/>
            <a:ext cx="11057839" cy="841248"/>
          </a:xfrm>
          <a:prstGeom prst="roundRect">
            <a:avLst>
              <a:gd name="adj" fmla="val 11957"/>
            </a:avLst>
          </a:prstGeom>
          <a:solidFill>
            <a:srgbClr val="F9F9FB"/>
          </a:solidFill>
          <a:ln w="9525">
            <a:solidFill>
              <a:srgbClr val="D9D9E0"/>
            </a:solidFill>
            <a:prstDash val="solid"/>
          </a:ln>
        </p:spPr>
      </p:sp>
      <p:sp>
        <p:nvSpPr>
          <p:cNvPr id="21" name="kicker#351"/>
          <p:cNvSpPr/>
          <p:nvPr/>
        </p:nvSpPr>
        <p:spPr>
          <a:xfrm>
            <a:off x="932688" y="4681728"/>
            <a:ext cx="10326319" cy="548640"/>
          </a:xfrm>
          <a:prstGeom prst="rect">
            <a:avLst/>
          </a:prstGeom>
          <a:noFill/>
          <a:ln/>
        </p:spPr>
        <p:txBody>
          <a:bodyPr wrap="square" lIns="0" tIns="0" rIns="0" bIns="0" rtlCol="0" anchor="t"/>
          <a:lstStyle/>
          <a:p>
            <a:pPr indent="0" marL="0">
              <a:lnSpc>
                <a:spcPct val="134000"/>
              </a:lnSpc>
              <a:buNone/>
            </a:pPr>
            <a:r>
              <a:rPr lang="en-US" sz="1100" dirty="0">
                <a:solidFill>
                  <a:srgbClr val="1C2024"/>
                </a:solidFill>
                <a:latin typeface="Segoe UI" pitchFamily="34" charset="0"/>
                <a:ea typeface="Segoe UI" pitchFamily="34" charset="-122"/>
                <a:cs typeface="Segoe UI" pitchFamily="34" charset="-120"/>
              </a:rPr>
              <a:t>Myanmar ordered 95 shutdowns last year. India ordered 65. Conflict caused another 125. Hurricane Helene took one Tennessee cell site in eight off the air.</a:t>
            </a:r>
            <a:endParaRPr lang="en-US" sz="1100" dirty="0"/>
          </a:p>
        </p:txBody>
      </p:sp>
      <p:sp>
        <p:nvSpPr>
          <p:cNvPr id="22" name="src#352"/>
          <p:cNvSpPr/>
          <p:nvPr/>
        </p:nvSpPr>
        <p:spPr>
          <a:xfrm>
            <a:off x="566928" y="5705856"/>
            <a:ext cx="11057839" cy="182880"/>
          </a:xfrm>
          <a:prstGeom prst="rect">
            <a:avLst/>
          </a:prstGeom>
          <a:noFill/>
          <a:ln/>
        </p:spPr>
        <p:txBody>
          <a:bodyPr wrap="square" lIns="0" tIns="0" rIns="0" bIns="0" rtlCol="0" anchor="ctr"/>
          <a:lstStyle/>
          <a:p>
            <a:pPr indent="0" marL="0">
              <a:buNone/>
            </a:pPr>
            <a:r>
              <a:rPr lang="en-US" sz="800" dirty="0">
                <a:solidFill>
                  <a:srgbClr val="6E7178"/>
                </a:solidFill>
                <a:latin typeface="Consolas" pitchFamily="34" charset="0"/>
                <a:ea typeface="Consolas" pitchFamily="34" charset="-122"/>
                <a:cs typeface="Consolas" pitchFamily="34" charset="-120"/>
              </a:rPr>
              <a:t>Source:  </a:t>
            </a:r>
            <a:pPr indent="0" marL="0">
              <a:buNone/>
            </a:pPr>
            <a:r>
              <a:rPr lang="en-US" sz="800" u="sng" dirty="0">
                <a:solidFill>
                  <a:srgbClr val="6E7178"/>
                </a:solidFill>
                <a:latin typeface="Consolas" pitchFamily="34" charset="0"/>
                <a:ea typeface="Consolas" pitchFamily="34" charset="-122"/>
                <a:cs typeface="Consolas" pitchFamily="34" charset="-120"/>
                <a:hlinkClick r:id="rId1" invalidUrl="" action="" tgtFrame="" tooltip="Access Now, Internet Shutdowns in 2025" history="1" highlightClick="0" endSnd="0">
                  <a:extLst>
                    <a:ext uri="{A12FA001-AC4F-418D-AE19-62706E023703}">
                      <ahyp:hlinkClr xmlns:ahyp="http://schemas.microsoft.com/office/drawing/2018/hyperlinkcolor" val="tx"/>
                    </a:ext>
                  </a:extLst>
                </a:hlinkClick>
              </a:rPr>
              <a:t>Access Now, Internet Shutdowns in 2025</a:t>
            </a:r>
            <a:pPr indent="0" marL="0">
              <a:buNone/>
            </a:pPr>
            <a:r>
              <a:rPr lang="en-US" sz="800" dirty="0">
                <a:solidFill>
                  <a:srgbClr val="D9D9E0"/>
                </a:solidFill>
                <a:latin typeface="Consolas" pitchFamily="34" charset="0"/>
                <a:ea typeface="Consolas" pitchFamily="34" charset="-122"/>
                <a:cs typeface="Consolas" pitchFamily="34" charset="-120"/>
              </a:rPr>
              <a:t>   ·   </a:t>
            </a:r>
            <a:pPr indent="0" marL="0">
              <a:buNone/>
            </a:pPr>
            <a:r>
              <a:rPr lang="en-US" sz="800" u="sng" dirty="0">
                <a:solidFill>
                  <a:srgbClr val="6E7178"/>
                </a:solidFill>
                <a:latin typeface="Consolas" pitchFamily="34" charset="0"/>
                <a:ea typeface="Consolas" pitchFamily="34" charset="-122"/>
                <a:cs typeface="Consolas" pitchFamily="34" charset="-120"/>
                <a:hlinkClick r:id="rId2" invalidUrl="" action="" tgtFrame="" tooltip="Top10VPN, Cost of Internet Shutdowns 2025" history="1" highlightClick="0" endSnd="0">
                  <a:extLst>
                    <a:ext uri="{A12FA001-AC4F-418D-AE19-62706E023703}">
                      <ahyp:hlinkClr xmlns:ahyp="http://schemas.microsoft.com/office/drawing/2018/hyperlinkcolor" val="tx"/>
                    </a:ext>
                  </a:extLst>
                </a:hlinkClick>
              </a:rPr>
              <a:t>Top10VPN, Cost of Internet Shutdowns 2025</a:t>
            </a:r>
            <a:pPr indent="0" marL="0">
              <a:buNone/>
            </a:pPr>
            <a:r>
              <a:rPr lang="en-US" sz="800" dirty="0">
                <a:solidFill>
                  <a:srgbClr val="D9D9E0"/>
                </a:solidFill>
                <a:latin typeface="Consolas" pitchFamily="34" charset="0"/>
                <a:ea typeface="Consolas" pitchFamily="34" charset="-122"/>
                <a:cs typeface="Consolas" pitchFamily="34" charset="-120"/>
              </a:rPr>
              <a:t>   ·   </a:t>
            </a:r>
            <a:pPr indent="0" marL="0">
              <a:buNone/>
            </a:pPr>
            <a:r>
              <a:rPr lang="en-US" sz="800" u="sng" dirty="0">
                <a:solidFill>
                  <a:srgbClr val="6E7178"/>
                </a:solidFill>
                <a:latin typeface="Consolas" pitchFamily="34" charset="0"/>
                <a:ea typeface="Consolas" pitchFamily="34" charset="-122"/>
                <a:cs typeface="Consolas" pitchFamily="34" charset="-120"/>
                <a:hlinkClick r:id="rId3" invalidUrl="" action="" tgtFrame="" tooltip="ITU, Facts and Figures 2025" history="1" highlightClick="0" endSnd="0">
                  <a:extLst>
                    <a:ext uri="{A12FA001-AC4F-418D-AE19-62706E023703}">
                      <ahyp:hlinkClr xmlns:ahyp="http://schemas.microsoft.com/office/drawing/2018/hyperlinkcolor" val="tx"/>
                    </a:ext>
                  </a:extLst>
                </a:hlinkClick>
              </a:rPr>
              <a:t>ITU, Facts and Figures 2025</a:t>
            </a:r>
            <a:pPr indent="0" marL="0">
              <a:buNone/>
            </a:pPr>
            <a:r>
              <a:rPr lang="en-US" sz="800" dirty="0">
                <a:solidFill>
                  <a:srgbClr val="D9D9E0"/>
                </a:solidFill>
                <a:latin typeface="Consolas" pitchFamily="34" charset="0"/>
                <a:ea typeface="Consolas" pitchFamily="34" charset="-122"/>
                <a:cs typeface="Consolas" pitchFamily="34" charset="-120"/>
              </a:rPr>
              <a:t>   ·   </a:t>
            </a:r>
            <a:pPr indent="0" marL="0">
              <a:buNone/>
            </a:pPr>
            <a:r>
              <a:rPr lang="en-US" sz="800" u="sng" dirty="0">
                <a:solidFill>
                  <a:srgbClr val="6E7178"/>
                </a:solidFill>
                <a:latin typeface="Consolas" pitchFamily="34" charset="0"/>
                <a:ea typeface="Consolas" pitchFamily="34" charset="-122"/>
                <a:cs typeface="Consolas" pitchFamily="34" charset="-120"/>
                <a:hlinkClick r:id="rId4" invalidUrl="" action="" tgtFrame="" tooltip="FCC DIRS, 2024 hurricane reports" history="1" highlightClick="0" endSnd="0">
                  <a:extLst>
                    <a:ext uri="{A12FA001-AC4F-418D-AE19-62706E023703}">
                      <ahyp:hlinkClr xmlns:ahyp="http://schemas.microsoft.com/office/drawing/2018/hyperlinkcolor" val="tx"/>
                    </a:ext>
                  </a:extLst>
                </a:hlinkClick>
              </a:rPr>
              <a:t>FCC DIRS, 2024 hurricane reports</a:t>
            </a:r>
            <a:endParaRPr lang="en-US" sz="800" dirty="0"/>
          </a:p>
        </p:txBody>
      </p:sp>
      <p:sp>
        <p:nvSpPr>
          <p:cNvPr id="24" name="Shape 21"/>
          <p:cNvSpPr/>
          <p:nvPr/>
        </p:nvSpPr>
        <p:spPr>
          <a:xfrm>
            <a:off x="566928" y="6327648"/>
            <a:ext cx="11057839" cy="0"/>
          </a:xfrm>
          <a:prstGeom prst="line">
            <a:avLst/>
          </a:prstGeom>
          <a:noFill/>
          <a:ln w="9525">
            <a:solidFill>
              <a:srgbClr val="D9D9E0"/>
            </a:solidFill>
            <a:prstDash val="solid"/>
          </a:ln>
        </p:spPr>
      </p:sp>
      <p:sp>
        <p:nvSpPr>
          <p:cNvPr id="25" name="Shape 22"/>
          <p:cNvSpPr/>
          <p:nvPr/>
        </p:nvSpPr>
        <p:spPr>
          <a:xfrm>
            <a:off x="566928" y="6441948"/>
            <a:ext cx="24725" cy="24725"/>
          </a:xfrm>
          <a:prstGeom prst="rect">
            <a:avLst/>
          </a:prstGeom>
          <a:solidFill>
            <a:srgbClr val="1C2024"/>
          </a:solidFill>
          <a:ln w="12700">
            <a:solidFill>
              <a:srgbClr val="1C2024"/>
            </a:solidFill>
            <a:prstDash val="solid"/>
          </a:ln>
        </p:spPr>
      </p:sp>
      <p:sp>
        <p:nvSpPr>
          <p:cNvPr id="26" name="Shape 23"/>
          <p:cNvSpPr/>
          <p:nvPr/>
        </p:nvSpPr>
        <p:spPr>
          <a:xfrm>
            <a:off x="590702" y="6441948"/>
            <a:ext cx="24725" cy="24725"/>
          </a:xfrm>
          <a:prstGeom prst="rect">
            <a:avLst/>
          </a:prstGeom>
          <a:solidFill>
            <a:srgbClr val="1C2024"/>
          </a:solidFill>
          <a:ln w="12700">
            <a:solidFill>
              <a:srgbClr val="1C2024"/>
            </a:solidFill>
            <a:prstDash val="solid"/>
          </a:ln>
        </p:spPr>
      </p:sp>
      <p:sp>
        <p:nvSpPr>
          <p:cNvPr id="27" name="Shape 24"/>
          <p:cNvSpPr/>
          <p:nvPr/>
        </p:nvSpPr>
        <p:spPr>
          <a:xfrm>
            <a:off x="780898" y="6441948"/>
            <a:ext cx="24725" cy="24725"/>
          </a:xfrm>
          <a:prstGeom prst="rect">
            <a:avLst/>
          </a:prstGeom>
          <a:solidFill>
            <a:srgbClr val="1C2024"/>
          </a:solidFill>
          <a:ln w="12700">
            <a:solidFill>
              <a:srgbClr val="1C2024"/>
            </a:solidFill>
            <a:prstDash val="solid"/>
          </a:ln>
        </p:spPr>
      </p:sp>
      <p:sp>
        <p:nvSpPr>
          <p:cNvPr id="28" name="Shape 25"/>
          <p:cNvSpPr/>
          <p:nvPr/>
        </p:nvSpPr>
        <p:spPr>
          <a:xfrm>
            <a:off x="804672" y="6441948"/>
            <a:ext cx="24725" cy="24725"/>
          </a:xfrm>
          <a:prstGeom prst="rect">
            <a:avLst/>
          </a:prstGeom>
          <a:solidFill>
            <a:srgbClr val="1C2024"/>
          </a:solidFill>
          <a:ln w="12700">
            <a:solidFill>
              <a:srgbClr val="1C2024"/>
            </a:solidFill>
            <a:prstDash val="solid"/>
          </a:ln>
        </p:spPr>
      </p:sp>
      <p:sp>
        <p:nvSpPr>
          <p:cNvPr id="29" name="Shape 26"/>
          <p:cNvSpPr/>
          <p:nvPr/>
        </p:nvSpPr>
        <p:spPr>
          <a:xfrm>
            <a:off x="590702" y="6465722"/>
            <a:ext cx="24725" cy="24725"/>
          </a:xfrm>
          <a:prstGeom prst="rect">
            <a:avLst/>
          </a:prstGeom>
          <a:solidFill>
            <a:srgbClr val="1C2024"/>
          </a:solidFill>
          <a:ln w="12700">
            <a:solidFill>
              <a:srgbClr val="1C2024"/>
            </a:solidFill>
            <a:prstDash val="solid"/>
          </a:ln>
        </p:spPr>
      </p:sp>
      <p:sp>
        <p:nvSpPr>
          <p:cNvPr id="30" name="Shape 27"/>
          <p:cNvSpPr/>
          <p:nvPr/>
        </p:nvSpPr>
        <p:spPr>
          <a:xfrm>
            <a:off x="614477" y="6465722"/>
            <a:ext cx="24725" cy="24725"/>
          </a:xfrm>
          <a:prstGeom prst="rect">
            <a:avLst/>
          </a:prstGeom>
          <a:solidFill>
            <a:srgbClr val="1C2024"/>
          </a:solidFill>
          <a:ln w="12700">
            <a:solidFill>
              <a:srgbClr val="1C2024"/>
            </a:solidFill>
            <a:prstDash val="solid"/>
          </a:ln>
        </p:spPr>
      </p:sp>
      <p:sp>
        <p:nvSpPr>
          <p:cNvPr id="31" name="Shape 28"/>
          <p:cNvSpPr/>
          <p:nvPr/>
        </p:nvSpPr>
        <p:spPr>
          <a:xfrm>
            <a:off x="757123" y="6465722"/>
            <a:ext cx="24725" cy="24725"/>
          </a:xfrm>
          <a:prstGeom prst="rect">
            <a:avLst/>
          </a:prstGeom>
          <a:solidFill>
            <a:srgbClr val="1C2024"/>
          </a:solidFill>
          <a:ln w="12700">
            <a:solidFill>
              <a:srgbClr val="1C2024"/>
            </a:solidFill>
            <a:prstDash val="solid"/>
          </a:ln>
        </p:spPr>
      </p:sp>
      <p:sp>
        <p:nvSpPr>
          <p:cNvPr id="32" name="Shape 29"/>
          <p:cNvSpPr/>
          <p:nvPr/>
        </p:nvSpPr>
        <p:spPr>
          <a:xfrm>
            <a:off x="780898" y="6465722"/>
            <a:ext cx="24725" cy="24725"/>
          </a:xfrm>
          <a:prstGeom prst="rect">
            <a:avLst/>
          </a:prstGeom>
          <a:solidFill>
            <a:srgbClr val="1C2024"/>
          </a:solidFill>
          <a:ln w="12700">
            <a:solidFill>
              <a:srgbClr val="1C2024"/>
            </a:solidFill>
            <a:prstDash val="solid"/>
          </a:ln>
        </p:spPr>
      </p:sp>
      <p:sp>
        <p:nvSpPr>
          <p:cNvPr id="33" name="Shape 30"/>
          <p:cNvSpPr/>
          <p:nvPr/>
        </p:nvSpPr>
        <p:spPr>
          <a:xfrm>
            <a:off x="614477" y="6489497"/>
            <a:ext cx="24725" cy="24725"/>
          </a:xfrm>
          <a:prstGeom prst="rect">
            <a:avLst/>
          </a:prstGeom>
          <a:solidFill>
            <a:srgbClr val="1C2024"/>
          </a:solidFill>
          <a:ln w="12700">
            <a:solidFill>
              <a:srgbClr val="1C2024"/>
            </a:solidFill>
            <a:prstDash val="solid"/>
          </a:ln>
        </p:spPr>
      </p:sp>
      <p:sp>
        <p:nvSpPr>
          <p:cNvPr id="34" name="Shape 31"/>
          <p:cNvSpPr/>
          <p:nvPr/>
        </p:nvSpPr>
        <p:spPr>
          <a:xfrm>
            <a:off x="638251" y="6489497"/>
            <a:ext cx="24725" cy="24725"/>
          </a:xfrm>
          <a:prstGeom prst="rect">
            <a:avLst/>
          </a:prstGeom>
          <a:solidFill>
            <a:srgbClr val="1C2024"/>
          </a:solidFill>
          <a:ln w="12700">
            <a:solidFill>
              <a:srgbClr val="1C2024"/>
            </a:solidFill>
            <a:prstDash val="solid"/>
          </a:ln>
        </p:spPr>
      </p:sp>
      <p:sp>
        <p:nvSpPr>
          <p:cNvPr id="35" name="Shape 32"/>
          <p:cNvSpPr/>
          <p:nvPr/>
        </p:nvSpPr>
        <p:spPr>
          <a:xfrm>
            <a:off x="685800" y="6489497"/>
            <a:ext cx="24725" cy="24725"/>
          </a:xfrm>
          <a:prstGeom prst="rect">
            <a:avLst/>
          </a:prstGeom>
          <a:solidFill>
            <a:srgbClr val="1C2024"/>
          </a:solidFill>
          <a:ln w="12700">
            <a:solidFill>
              <a:srgbClr val="1C2024"/>
            </a:solidFill>
            <a:prstDash val="solid"/>
          </a:ln>
        </p:spPr>
      </p:sp>
      <p:sp>
        <p:nvSpPr>
          <p:cNvPr id="36" name="Shape 33"/>
          <p:cNvSpPr/>
          <p:nvPr/>
        </p:nvSpPr>
        <p:spPr>
          <a:xfrm>
            <a:off x="733349" y="6489497"/>
            <a:ext cx="24725" cy="24725"/>
          </a:xfrm>
          <a:prstGeom prst="rect">
            <a:avLst/>
          </a:prstGeom>
          <a:solidFill>
            <a:srgbClr val="1C2024"/>
          </a:solidFill>
          <a:ln w="12700">
            <a:solidFill>
              <a:srgbClr val="1C2024"/>
            </a:solidFill>
            <a:prstDash val="solid"/>
          </a:ln>
        </p:spPr>
      </p:sp>
      <p:sp>
        <p:nvSpPr>
          <p:cNvPr id="37" name="Shape 34"/>
          <p:cNvSpPr/>
          <p:nvPr/>
        </p:nvSpPr>
        <p:spPr>
          <a:xfrm>
            <a:off x="757123" y="6489497"/>
            <a:ext cx="24725" cy="24725"/>
          </a:xfrm>
          <a:prstGeom prst="rect">
            <a:avLst/>
          </a:prstGeom>
          <a:solidFill>
            <a:srgbClr val="1C2024"/>
          </a:solidFill>
          <a:ln w="12700">
            <a:solidFill>
              <a:srgbClr val="1C2024"/>
            </a:solidFill>
            <a:prstDash val="solid"/>
          </a:ln>
        </p:spPr>
      </p:sp>
      <p:sp>
        <p:nvSpPr>
          <p:cNvPr id="38" name="Shape 35"/>
          <p:cNvSpPr/>
          <p:nvPr/>
        </p:nvSpPr>
        <p:spPr>
          <a:xfrm>
            <a:off x="638251" y="6513271"/>
            <a:ext cx="24725" cy="24725"/>
          </a:xfrm>
          <a:prstGeom prst="rect">
            <a:avLst/>
          </a:prstGeom>
          <a:solidFill>
            <a:srgbClr val="1C2024"/>
          </a:solidFill>
          <a:ln w="12700">
            <a:solidFill>
              <a:srgbClr val="1C2024"/>
            </a:solidFill>
            <a:prstDash val="solid"/>
          </a:ln>
        </p:spPr>
      </p:sp>
      <p:sp>
        <p:nvSpPr>
          <p:cNvPr id="39" name="Shape 36"/>
          <p:cNvSpPr/>
          <p:nvPr/>
        </p:nvSpPr>
        <p:spPr>
          <a:xfrm>
            <a:off x="662026" y="6513271"/>
            <a:ext cx="24725" cy="24725"/>
          </a:xfrm>
          <a:prstGeom prst="rect">
            <a:avLst/>
          </a:prstGeom>
          <a:solidFill>
            <a:srgbClr val="1C2024"/>
          </a:solidFill>
          <a:ln w="12700">
            <a:solidFill>
              <a:srgbClr val="1C2024"/>
            </a:solidFill>
            <a:prstDash val="solid"/>
          </a:ln>
        </p:spPr>
      </p:sp>
      <p:sp>
        <p:nvSpPr>
          <p:cNvPr id="40" name="Shape 37"/>
          <p:cNvSpPr/>
          <p:nvPr/>
        </p:nvSpPr>
        <p:spPr>
          <a:xfrm>
            <a:off x="685800" y="6513271"/>
            <a:ext cx="24725" cy="24725"/>
          </a:xfrm>
          <a:prstGeom prst="rect">
            <a:avLst/>
          </a:prstGeom>
          <a:solidFill>
            <a:srgbClr val="1C2024"/>
          </a:solidFill>
          <a:ln w="12700">
            <a:solidFill>
              <a:srgbClr val="1C2024"/>
            </a:solidFill>
            <a:prstDash val="solid"/>
          </a:ln>
        </p:spPr>
      </p:sp>
      <p:sp>
        <p:nvSpPr>
          <p:cNvPr id="41" name="Shape 38"/>
          <p:cNvSpPr/>
          <p:nvPr/>
        </p:nvSpPr>
        <p:spPr>
          <a:xfrm>
            <a:off x="709574" y="6513271"/>
            <a:ext cx="24725" cy="24725"/>
          </a:xfrm>
          <a:prstGeom prst="rect">
            <a:avLst/>
          </a:prstGeom>
          <a:solidFill>
            <a:srgbClr val="1C2024"/>
          </a:solidFill>
          <a:ln w="12700">
            <a:solidFill>
              <a:srgbClr val="1C2024"/>
            </a:solidFill>
            <a:prstDash val="solid"/>
          </a:ln>
        </p:spPr>
      </p:sp>
      <p:sp>
        <p:nvSpPr>
          <p:cNvPr id="42" name="Shape 39"/>
          <p:cNvSpPr/>
          <p:nvPr/>
        </p:nvSpPr>
        <p:spPr>
          <a:xfrm>
            <a:off x="733349" y="6513271"/>
            <a:ext cx="24725" cy="24725"/>
          </a:xfrm>
          <a:prstGeom prst="rect">
            <a:avLst/>
          </a:prstGeom>
          <a:solidFill>
            <a:srgbClr val="1C2024"/>
          </a:solidFill>
          <a:ln w="12700">
            <a:solidFill>
              <a:srgbClr val="1C2024"/>
            </a:solidFill>
            <a:prstDash val="solid"/>
          </a:ln>
        </p:spPr>
      </p:sp>
      <p:sp>
        <p:nvSpPr>
          <p:cNvPr id="43" name="Shape 40"/>
          <p:cNvSpPr/>
          <p:nvPr/>
        </p:nvSpPr>
        <p:spPr>
          <a:xfrm>
            <a:off x="662026" y="6537046"/>
            <a:ext cx="24725" cy="24725"/>
          </a:xfrm>
          <a:prstGeom prst="rect">
            <a:avLst/>
          </a:prstGeom>
          <a:solidFill>
            <a:srgbClr val="1C2024"/>
          </a:solidFill>
          <a:ln w="12700">
            <a:solidFill>
              <a:srgbClr val="1C2024"/>
            </a:solidFill>
            <a:prstDash val="solid"/>
          </a:ln>
        </p:spPr>
      </p:sp>
      <p:sp>
        <p:nvSpPr>
          <p:cNvPr id="44" name="Shape 41"/>
          <p:cNvSpPr/>
          <p:nvPr/>
        </p:nvSpPr>
        <p:spPr>
          <a:xfrm>
            <a:off x="685800" y="6537046"/>
            <a:ext cx="24725" cy="24725"/>
          </a:xfrm>
          <a:prstGeom prst="rect">
            <a:avLst/>
          </a:prstGeom>
          <a:solidFill>
            <a:srgbClr val="1C2024"/>
          </a:solidFill>
          <a:ln w="12700">
            <a:solidFill>
              <a:srgbClr val="1C2024"/>
            </a:solidFill>
            <a:prstDash val="solid"/>
          </a:ln>
        </p:spPr>
      </p:sp>
      <p:sp>
        <p:nvSpPr>
          <p:cNvPr id="45" name="Shape 42"/>
          <p:cNvSpPr/>
          <p:nvPr/>
        </p:nvSpPr>
        <p:spPr>
          <a:xfrm>
            <a:off x="709574" y="6537046"/>
            <a:ext cx="24725" cy="24725"/>
          </a:xfrm>
          <a:prstGeom prst="rect">
            <a:avLst/>
          </a:prstGeom>
          <a:solidFill>
            <a:srgbClr val="1C2024"/>
          </a:solidFill>
          <a:ln w="12700">
            <a:solidFill>
              <a:srgbClr val="1C2024"/>
            </a:solidFill>
            <a:prstDash val="solid"/>
          </a:ln>
        </p:spPr>
      </p:sp>
      <p:sp>
        <p:nvSpPr>
          <p:cNvPr id="46" name="Shape 43"/>
          <p:cNvSpPr/>
          <p:nvPr/>
        </p:nvSpPr>
        <p:spPr>
          <a:xfrm>
            <a:off x="685800" y="6560820"/>
            <a:ext cx="24725" cy="24725"/>
          </a:xfrm>
          <a:prstGeom prst="rect">
            <a:avLst/>
          </a:prstGeom>
          <a:solidFill>
            <a:srgbClr val="1C2024"/>
          </a:solidFill>
          <a:ln w="12700">
            <a:solidFill>
              <a:srgbClr val="1C2024"/>
            </a:solidFill>
            <a:prstDash val="solid"/>
          </a:ln>
        </p:spPr>
      </p:sp>
      <p:sp>
        <p:nvSpPr>
          <p:cNvPr id="47" name="Text 44"/>
          <p:cNvSpPr/>
          <p:nvPr/>
        </p:nvSpPr>
        <p:spPr>
          <a:xfrm>
            <a:off x="914400" y="6391656"/>
            <a:ext cx="1828800" cy="219456"/>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AIRHOP</a:t>
            </a:r>
            <a:endParaRPr lang="en-US" sz="800" dirty="0"/>
          </a:p>
        </p:txBody>
      </p:sp>
      <p:sp>
        <p:nvSpPr>
          <p:cNvPr id="48" name="Text 45"/>
          <p:cNvSpPr/>
          <p:nvPr/>
        </p:nvSpPr>
        <p:spPr>
          <a:xfrm>
            <a:off x="9795967" y="6391656"/>
            <a:ext cx="1828800" cy="219456"/>
          </a:xfrm>
          <a:prstGeom prst="rect">
            <a:avLst/>
          </a:prstGeom>
          <a:noFill/>
          <a:ln/>
        </p:spPr>
        <p:txBody>
          <a:bodyPr wrap="square" lIns="0" tIns="0" rIns="0" bIns="0" rtlCol="0" anchor="ctr"/>
          <a:lstStyle/>
          <a:p>
            <a:pPr algn="r" indent="0" marL="0">
              <a:buNone/>
            </a:pPr>
            <a:r>
              <a:rPr lang="en-US" sz="800" dirty="0">
                <a:solidFill>
                  <a:srgbClr val="6E7178"/>
                </a:solidFill>
                <a:latin typeface="Consolas" pitchFamily="34" charset="0"/>
                <a:ea typeface="Consolas" pitchFamily="34" charset="-122"/>
                <a:cs typeface="Consolas" pitchFamily="34" charset="-120"/>
              </a:rPr>
              <a:t>02 /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head#353"/>
          <p:cNvSpPr/>
          <p:nvPr/>
        </p:nvSpPr>
        <p:spPr>
          <a:xfrm>
            <a:off x="566928" y="402336"/>
            <a:ext cx="11057839" cy="182880"/>
          </a:xfrm>
          <a:prstGeom prst="rect">
            <a:avLst/>
          </a:prstGeom>
          <a:noFill/>
          <a:ln/>
        </p:spPr>
        <p:txBody>
          <a:bodyPr wrap="square" lIns="0" tIns="0" rIns="0" bIns="0" rtlCol="0" anchor="ctr"/>
          <a:lstStyle/>
          <a:p>
            <a:pPr indent="0" marL="0">
              <a:buNone/>
            </a:pPr>
            <a:r>
              <a:rPr lang="en-US" sz="900" b="1" spc="160" kern="0" dirty="0">
                <a:solidFill>
                  <a:srgbClr val="60646C"/>
                </a:solidFill>
                <a:latin typeface="Consolas" pitchFamily="34" charset="0"/>
                <a:ea typeface="Consolas" pitchFamily="34" charset="-122"/>
                <a:cs typeface="Consolas" pitchFamily="34" charset="-120"/>
              </a:rPr>
              <a:t>DEMAND</a:t>
            </a:r>
            <a:endParaRPr lang="en-US" sz="900" dirty="0"/>
          </a:p>
        </p:txBody>
      </p:sp>
      <p:sp>
        <p:nvSpPr>
          <p:cNvPr id="3" name="head#354"/>
          <p:cNvSpPr/>
          <p:nvPr/>
        </p:nvSpPr>
        <p:spPr>
          <a:xfrm>
            <a:off x="566928" y="658368"/>
            <a:ext cx="11057839" cy="872338"/>
          </a:xfrm>
          <a:prstGeom prst="rect">
            <a:avLst/>
          </a:prstGeom>
          <a:noFill/>
          <a:ln/>
        </p:spPr>
        <p:txBody>
          <a:bodyPr wrap="square" lIns="0" tIns="0" rIns="0" bIns="0" rtlCol="0" anchor="t"/>
          <a:lstStyle/>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When it happens, people install</a:t>
            </a:r>
            <a:endParaRPr lang="en-US" sz="2700" dirty="0"/>
          </a:p>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a mesh app the same day.</a:t>
            </a:r>
            <a:endParaRPr lang="en-US" sz="2700" dirty="0"/>
          </a:p>
        </p:txBody>
      </p:sp>
      <p:sp>
        <p:nvSpPr>
          <p:cNvPr id="4" name="head#355"/>
          <p:cNvSpPr/>
          <p:nvPr/>
        </p:nvSpPr>
        <p:spPr>
          <a:xfrm>
            <a:off x="566928" y="1677010"/>
            <a:ext cx="9052560" cy="515112"/>
          </a:xfrm>
          <a:prstGeom prst="rect">
            <a:avLst/>
          </a:prstGeom>
          <a:noFill/>
          <a:ln/>
        </p:spPr>
        <p:txBody>
          <a:bodyPr wrap="square" lIns="0" tIns="0" rIns="0" bIns="0" rtlCol="0" anchor="t"/>
          <a:lstStyle/>
          <a:p>
            <a:pPr indent="0" marL="0">
              <a:lnSpc>
                <a:spcPct val="130000"/>
              </a:lnSpc>
              <a:buNone/>
            </a:pPr>
            <a:r>
              <a:rPr lang="en-US" sz="1300" dirty="0">
                <a:solidFill>
                  <a:srgbClr val="60646C"/>
                </a:solidFill>
                <a:latin typeface="Segoe UI" pitchFamily="34" charset="0"/>
                <a:ea typeface="Segoe UI" pitchFamily="34" charset="-122"/>
                <a:cs typeface="Segoe UI" pitchFamily="34" charset="-120"/>
              </a:rPr>
              <a:t>Nobody markets this category. There is no referral loop and no growth team. There are events, and the installs all arrive inside a day.</a:t>
            </a:r>
            <a:endParaRPr lang="en-US" sz="1300" dirty="0"/>
          </a:p>
        </p:txBody>
      </p:sp>
      <p:sp>
        <p:nvSpPr>
          <p:cNvPr id="5" name="spike#356"/>
          <p:cNvSpPr/>
          <p:nvPr/>
        </p:nvSpPr>
        <p:spPr>
          <a:xfrm>
            <a:off x="566928" y="2286000"/>
            <a:ext cx="5943600" cy="2240280"/>
          </a:xfrm>
          <a:prstGeom prst="roundRect">
            <a:avLst>
              <a:gd name="adj" fmla="val 4490"/>
            </a:avLst>
          </a:prstGeom>
          <a:solidFill>
            <a:srgbClr val="FCFCFD"/>
          </a:solidFill>
          <a:ln w="9525">
            <a:solidFill>
              <a:srgbClr val="D9D9E0"/>
            </a:solidFill>
            <a:prstDash val="solid"/>
          </a:ln>
        </p:spPr>
      </p:sp>
      <p:sp>
        <p:nvSpPr>
          <p:cNvPr id="6" name="spike#357"/>
          <p:cNvSpPr/>
          <p:nvPr/>
        </p:nvSpPr>
        <p:spPr>
          <a:xfrm>
            <a:off x="804672" y="2377440"/>
            <a:ext cx="5468112" cy="256032"/>
          </a:xfrm>
          <a:prstGeom prst="rect">
            <a:avLst/>
          </a:prstGeom>
          <a:noFill/>
          <a:ln/>
        </p:spPr>
        <p:txBody>
          <a:bodyPr wrap="square" lIns="0" tIns="0" rIns="0" bIns="0" rtlCol="0" anchor="ctr"/>
          <a:lstStyle/>
          <a:p>
            <a:pPr indent="0" marL="0">
              <a:buNone/>
            </a:pPr>
            <a:r>
              <a:rPr lang="en-US" sz="800" b="1" spc="130" kern="0" dirty="0">
                <a:solidFill>
                  <a:srgbClr val="60646C"/>
                </a:solidFill>
                <a:latin typeface="Consolas" pitchFamily="34" charset="0"/>
                <a:ea typeface="Consolas" pitchFamily="34" charset="-122"/>
                <a:cs typeface="Consolas" pitchFamily="34" charset="-120"/>
              </a:rPr>
              <a:t>●  BITCHAT INSTALLS IN NEPAL, SEPTEMBER 2025</a:t>
            </a:r>
            <a:endParaRPr lang="en-US" sz="800" dirty="0"/>
          </a:p>
        </p:txBody>
      </p:sp>
      <p:sp>
        <p:nvSpPr>
          <p:cNvPr id="7" name="spike#358"/>
          <p:cNvSpPr/>
          <p:nvPr/>
        </p:nvSpPr>
        <p:spPr>
          <a:xfrm>
            <a:off x="713232" y="2706624"/>
            <a:ext cx="5650992" cy="0"/>
          </a:xfrm>
          <a:prstGeom prst="line">
            <a:avLst/>
          </a:prstGeom>
          <a:noFill/>
          <a:ln w="9525">
            <a:solidFill>
              <a:srgbClr val="D9D9E0"/>
            </a:solidFill>
            <a:prstDash val="solid"/>
          </a:ln>
        </p:spPr>
      </p:sp>
      <p:sp>
        <p:nvSpPr>
          <p:cNvPr id="8" name="spike#359"/>
          <p:cNvSpPr/>
          <p:nvPr/>
        </p:nvSpPr>
        <p:spPr>
          <a:xfrm>
            <a:off x="896112" y="2852928"/>
            <a:ext cx="1737360" cy="457200"/>
          </a:xfrm>
          <a:prstGeom prst="rect">
            <a:avLst/>
          </a:prstGeom>
          <a:noFill/>
          <a:ln/>
        </p:spPr>
        <p:txBody>
          <a:bodyPr wrap="square" lIns="0" tIns="0" rIns="0" bIns="0" rtlCol="0" anchor="ctr"/>
          <a:lstStyle/>
          <a:p>
            <a:pPr indent="0" marL="0">
              <a:buNone/>
            </a:pPr>
            <a:r>
              <a:rPr lang="en-US" sz="2500" b="1" dirty="0">
                <a:solidFill>
                  <a:srgbClr val="CDCED6"/>
                </a:solidFill>
                <a:latin typeface="Segoe UI" pitchFamily="34" charset="0"/>
                <a:ea typeface="Segoe UI" pitchFamily="34" charset="-122"/>
                <a:cs typeface="Segoe UI" pitchFamily="34" charset="-120"/>
              </a:rPr>
              <a:t>3,500</a:t>
            </a:r>
            <a:endParaRPr lang="en-US" sz="2500" dirty="0"/>
          </a:p>
        </p:txBody>
      </p:sp>
      <p:sp>
        <p:nvSpPr>
          <p:cNvPr id="9" name="spike#360"/>
          <p:cNvSpPr/>
          <p:nvPr/>
        </p:nvSpPr>
        <p:spPr>
          <a:xfrm>
            <a:off x="896112" y="3291840"/>
            <a:ext cx="1737360" cy="201168"/>
          </a:xfrm>
          <a:prstGeom prst="rect">
            <a:avLst/>
          </a:prstGeom>
          <a:noFill/>
          <a:ln/>
        </p:spPr>
        <p:txBody>
          <a:bodyPr wrap="square" lIns="0" tIns="0" rIns="0" bIns="0" rtlCol="0" anchor="ctr"/>
          <a:lstStyle/>
          <a:p>
            <a:pPr indent="0" marL="0">
              <a:buNone/>
            </a:pPr>
            <a:r>
              <a:rPr lang="en-US" sz="800" spc="120" kern="0" dirty="0">
                <a:solidFill>
                  <a:srgbClr val="6E7178"/>
                </a:solidFill>
                <a:latin typeface="Consolas" pitchFamily="34" charset="0"/>
                <a:ea typeface="Consolas" pitchFamily="34" charset="-122"/>
                <a:cs typeface="Consolas" pitchFamily="34" charset="-120"/>
              </a:rPr>
              <a:t>BEFORE THE BAN</a:t>
            </a:r>
            <a:endParaRPr lang="en-US" sz="800" dirty="0"/>
          </a:p>
        </p:txBody>
      </p:sp>
      <p:sp>
        <p:nvSpPr>
          <p:cNvPr id="10" name="spike#361"/>
          <p:cNvSpPr/>
          <p:nvPr/>
        </p:nvSpPr>
        <p:spPr>
          <a:xfrm>
            <a:off x="2706624" y="2852928"/>
            <a:ext cx="548640" cy="457200"/>
          </a:xfrm>
          <a:prstGeom prst="rect">
            <a:avLst/>
          </a:prstGeom>
          <a:noFill/>
          <a:ln/>
        </p:spPr>
        <p:txBody>
          <a:bodyPr wrap="square" lIns="0" tIns="0" rIns="0" bIns="0" rtlCol="0" anchor="ctr"/>
          <a:lstStyle/>
          <a:p>
            <a:pPr algn="ctr" indent="0" marL="0">
              <a:buNone/>
            </a:pPr>
            <a:r>
              <a:rPr lang="en-US" sz="2000" dirty="0">
                <a:solidFill>
                  <a:srgbClr val="CDCED6"/>
                </a:solidFill>
                <a:latin typeface="Segoe UI" pitchFamily="34" charset="0"/>
                <a:ea typeface="Segoe UI" pitchFamily="34" charset="-122"/>
                <a:cs typeface="Segoe UI" pitchFamily="34" charset="-120"/>
              </a:rPr>
              <a:t>→</a:t>
            </a:r>
            <a:endParaRPr lang="en-US" sz="2000" dirty="0"/>
          </a:p>
        </p:txBody>
      </p:sp>
      <p:sp>
        <p:nvSpPr>
          <p:cNvPr id="11" name="spike#362"/>
          <p:cNvSpPr/>
          <p:nvPr/>
        </p:nvSpPr>
        <p:spPr>
          <a:xfrm>
            <a:off x="3310128" y="2798064"/>
            <a:ext cx="2834640" cy="566928"/>
          </a:xfrm>
          <a:prstGeom prst="rect">
            <a:avLst/>
          </a:prstGeom>
          <a:noFill/>
          <a:ln/>
        </p:spPr>
        <p:txBody>
          <a:bodyPr wrap="square" lIns="0" tIns="0" rIns="0" bIns="0" rtlCol="0" anchor="ctr"/>
          <a:lstStyle/>
          <a:p>
            <a:pPr indent="0" marL="0">
              <a:buNone/>
            </a:pPr>
            <a:r>
              <a:rPr lang="en-US" sz="3300" b="1" dirty="0">
                <a:solidFill>
                  <a:srgbClr val="1C2024"/>
                </a:solidFill>
                <a:latin typeface="Segoe UI" pitchFamily="34" charset="0"/>
                <a:ea typeface="Segoe UI" pitchFamily="34" charset="-122"/>
                <a:cs typeface="Segoe UI" pitchFamily="34" charset="-120"/>
              </a:rPr>
              <a:t>48,781</a:t>
            </a:r>
            <a:endParaRPr lang="en-US" sz="3300" dirty="0"/>
          </a:p>
        </p:txBody>
      </p:sp>
      <p:sp>
        <p:nvSpPr>
          <p:cNvPr id="12" name="spike#363"/>
          <p:cNvSpPr/>
          <p:nvPr/>
        </p:nvSpPr>
        <p:spPr>
          <a:xfrm>
            <a:off x="3310128" y="3291840"/>
            <a:ext cx="2834640" cy="201168"/>
          </a:xfrm>
          <a:prstGeom prst="rect">
            <a:avLst/>
          </a:prstGeom>
          <a:noFill/>
          <a:ln/>
        </p:spPr>
        <p:txBody>
          <a:bodyPr wrap="square" lIns="0" tIns="0" rIns="0" bIns="0" rtlCol="0" anchor="ctr"/>
          <a:lstStyle/>
          <a:p>
            <a:pPr indent="0" marL="0">
              <a:buNone/>
            </a:pPr>
            <a:r>
              <a:rPr lang="en-US" sz="800" spc="120" kern="0" dirty="0">
                <a:solidFill>
                  <a:srgbClr val="6E7178"/>
                </a:solidFill>
                <a:latin typeface="Consolas" pitchFamily="34" charset="0"/>
                <a:ea typeface="Consolas" pitchFamily="34" charset="-122"/>
                <a:cs typeface="Consolas" pitchFamily="34" charset="-120"/>
              </a:rPr>
              <a:t>ON 8 SEPTEMBER, ONE DAY</a:t>
            </a:r>
            <a:endParaRPr lang="en-US" sz="800" dirty="0"/>
          </a:p>
        </p:txBody>
      </p:sp>
      <p:sp>
        <p:nvSpPr>
          <p:cNvPr id="13" name="spike#364"/>
          <p:cNvSpPr/>
          <p:nvPr/>
        </p:nvSpPr>
        <p:spPr>
          <a:xfrm>
            <a:off x="896112" y="3639312"/>
            <a:ext cx="5285232" cy="0"/>
          </a:xfrm>
          <a:prstGeom prst="line">
            <a:avLst/>
          </a:prstGeom>
          <a:noFill/>
          <a:ln w="9525">
            <a:solidFill>
              <a:srgbClr val="D9D9E0"/>
            </a:solidFill>
            <a:prstDash val="solid"/>
          </a:ln>
        </p:spPr>
      </p:sp>
      <p:sp>
        <p:nvSpPr>
          <p:cNvPr id="14" name="spike#365"/>
          <p:cNvSpPr/>
          <p:nvPr/>
        </p:nvSpPr>
        <p:spPr>
          <a:xfrm>
            <a:off x="896112" y="3767328"/>
            <a:ext cx="5285232" cy="640080"/>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Roughly 39% of everything the app installed worldwide that day came from one country of 30 million people, four days after 26 platforms were blocked.</a:t>
            </a:r>
            <a:endParaRPr lang="en-US" sz="950" dirty="0"/>
          </a:p>
        </p:txBody>
      </p:sp>
      <p:sp>
        <p:nvSpPr>
          <p:cNvPr id="15" name="proof#366"/>
          <p:cNvSpPr/>
          <p:nvPr/>
        </p:nvSpPr>
        <p:spPr>
          <a:xfrm>
            <a:off x="6729984" y="2286000"/>
            <a:ext cx="4894783" cy="2240280"/>
          </a:xfrm>
          <a:prstGeom prst="roundRect">
            <a:avLst>
              <a:gd name="adj" fmla="val 4490"/>
            </a:avLst>
          </a:prstGeom>
          <a:solidFill>
            <a:srgbClr val="FCFCFD"/>
          </a:solidFill>
          <a:ln w="9525">
            <a:solidFill>
              <a:srgbClr val="D9D9E0"/>
            </a:solidFill>
            <a:prstDash val="solid"/>
          </a:ln>
        </p:spPr>
      </p:sp>
      <p:sp>
        <p:nvSpPr>
          <p:cNvPr id="16" name="proof#367"/>
          <p:cNvSpPr/>
          <p:nvPr/>
        </p:nvSpPr>
        <p:spPr>
          <a:xfrm>
            <a:off x="7040880" y="2487168"/>
            <a:ext cx="1371600" cy="365760"/>
          </a:xfrm>
          <a:prstGeom prst="rect">
            <a:avLst/>
          </a:prstGeom>
          <a:noFill/>
          <a:ln/>
        </p:spPr>
        <p:txBody>
          <a:bodyPr wrap="square" lIns="0" tIns="0" rIns="0" bIns="0" rtlCol="0" anchor="ctr"/>
          <a:lstStyle/>
          <a:p>
            <a:pPr indent="0" marL="0">
              <a:buNone/>
            </a:pPr>
            <a:r>
              <a:rPr lang="en-US" sz="1600" b="1" dirty="0">
                <a:solidFill>
                  <a:srgbClr val="1C2024"/>
                </a:solidFill>
                <a:latin typeface="Segoe UI" pitchFamily="34" charset="0"/>
                <a:ea typeface="Segoe UI" pitchFamily="34" charset="-122"/>
                <a:cs typeface="Segoe UI" pitchFamily="34" charset="-120"/>
              </a:rPr>
              <a:t>360,000+</a:t>
            </a:r>
            <a:endParaRPr lang="en-US" sz="1600" dirty="0"/>
          </a:p>
        </p:txBody>
      </p:sp>
      <p:sp>
        <p:nvSpPr>
          <p:cNvPr id="17" name="proof#368"/>
          <p:cNvSpPr/>
          <p:nvPr/>
        </p:nvSpPr>
        <p:spPr>
          <a:xfrm>
            <a:off x="8503920" y="2505456"/>
            <a:ext cx="2791663" cy="548640"/>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installs worldwide by late September 2025</a:t>
            </a:r>
            <a:endParaRPr lang="en-US" sz="950" dirty="0"/>
          </a:p>
        </p:txBody>
      </p:sp>
      <p:sp>
        <p:nvSpPr>
          <p:cNvPr id="18" name="proof#369"/>
          <p:cNvSpPr/>
          <p:nvPr/>
        </p:nvSpPr>
        <p:spPr>
          <a:xfrm>
            <a:off x="7040880" y="3017520"/>
            <a:ext cx="4272991" cy="0"/>
          </a:xfrm>
          <a:prstGeom prst="line">
            <a:avLst/>
          </a:prstGeom>
          <a:noFill/>
          <a:ln w="9525">
            <a:solidFill>
              <a:srgbClr val="D9D9E0"/>
            </a:solidFill>
            <a:prstDash val="solid"/>
          </a:ln>
        </p:spPr>
      </p:sp>
      <p:sp>
        <p:nvSpPr>
          <p:cNvPr id="19" name="proof#370"/>
          <p:cNvSpPr/>
          <p:nvPr/>
        </p:nvSpPr>
        <p:spPr>
          <a:xfrm>
            <a:off x="7040880" y="3154680"/>
            <a:ext cx="1371600" cy="365760"/>
          </a:xfrm>
          <a:prstGeom prst="rect">
            <a:avLst/>
          </a:prstGeom>
          <a:noFill/>
          <a:ln/>
        </p:spPr>
        <p:txBody>
          <a:bodyPr wrap="square" lIns="0" tIns="0" rIns="0" bIns="0" rtlCol="0" anchor="ctr"/>
          <a:lstStyle/>
          <a:p>
            <a:pPr indent="0" marL="0">
              <a:buNone/>
            </a:pPr>
            <a:r>
              <a:rPr lang="en-US" sz="1600" b="1" dirty="0">
                <a:solidFill>
                  <a:srgbClr val="1C2024"/>
                </a:solidFill>
                <a:latin typeface="Segoe UI" pitchFamily="34" charset="0"/>
                <a:ea typeface="Segoe UI" pitchFamily="34" charset="-122"/>
                <a:cs typeface="Segoe UI" pitchFamily="34" charset="-120"/>
              </a:rPr>
              <a:t>53%</a:t>
            </a:r>
            <a:endParaRPr lang="en-US" sz="1600" dirty="0"/>
          </a:p>
        </p:txBody>
      </p:sp>
      <p:sp>
        <p:nvSpPr>
          <p:cNvPr id="20" name="proof#371"/>
          <p:cNvSpPr/>
          <p:nvPr/>
        </p:nvSpPr>
        <p:spPr>
          <a:xfrm>
            <a:off x="8503920" y="3172968"/>
            <a:ext cx="2791663" cy="548640"/>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of installs came from India in the 30 days to July 2026</a:t>
            </a:r>
            <a:endParaRPr lang="en-US" sz="950" dirty="0"/>
          </a:p>
        </p:txBody>
      </p:sp>
      <p:sp>
        <p:nvSpPr>
          <p:cNvPr id="21" name="proof#372"/>
          <p:cNvSpPr/>
          <p:nvPr/>
        </p:nvSpPr>
        <p:spPr>
          <a:xfrm>
            <a:off x="7040880" y="3685032"/>
            <a:ext cx="4272991" cy="0"/>
          </a:xfrm>
          <a:prstGeom prst="line">
            <a:avLst/>
          </a:prstGeom>
          <a:noFill/>
          <a:ln w="9525">
            <a:solidFill>
              <a:srgbClr val="D9D9E0"/>
            </a:solidFill>
            <a:prstDash val="solid"/>
          </a:ln>
        </p:spPr>
      </p:sp>
      <p:sp>
        <p:nvSpPr>
          <p:cNvPr id="22" name="proof#373"/>
          <p:cNvSpPr/>
          <p:nvPr/>
        </p:nvSpPr>
        <p:spPr>
          <a:xfrm>
            <a:off x="7040880" y="3822192"/>
            <a:ext cx="1371600" cy="365760"/>
          </a:xfrm>
          <a:prstGeom prst="rect">
            <a:avLst/>
          </a:prstGeom>
          <a:noFill/>
          <a:ln/>
        </p:spPr>
        <p:txBody>
          <a:bodyPr wrap="square" lIns="0" tIns="0" rIns="0" bIns="0" rtlCol="0" anchor="ctr"/>
          <a:lstStyle/>
          <a:p>
            <a:pPr indent="0" marL="0">
              <a:buNone/>
            </a:pPr>
            <a:r>
              <a:rPr lang="en-US" sz="1600" b="1" dirty="0">
                <a:solidFill>
                  <a:srgbClr val="1C2024"/>
                </a:solidFill>
                <a:latin typeface="Segoe UI" pitchFamily="34" charset="0"/>
                <a:ea typeface="Segoe UI" pitchFamily="34" charset="-122"/>
                <a:cs typeface="Segoe UI" pitchFamily="34" charset="-120"/>
              </a:rPr>
              <a:t>3 apps</a:t>
            </a:r>
            <a:endParaRPr lang="en-US" sz="1600" dirty="0"/>
          </a:p>
        </p:txBody>
      </p:sp>
      <p:sp>
        <p:nvSpPr>
          <p:cNvPr id="23" name="proof#374"/>
          <p:cNvSpPr/>
          <p:nvPr/>
        </p:nvSpPr>
        <p:spPr>
          <a:xfrm>
            <a:off x="8503920" y="3840480"/>
            <a:ext cx="2791663" cy="548640"/>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pulled from the Indian stores at once, and their repositories with them</a:t>
            </a:r>
            <a:endParaRPr lang="en-US" sz="950" dirty="0"/>
          </a:p>
        </p:txBody>
      </p:sp>
      <p:sp>
        <p:nvSpPr>
          <p:cNvPr id="24" name="kicker#375"/>
          <p:cNvSpPr/>
          <p:nvPr/>
        </p:nvSpPr>
        <p:spPr>
          <a:xfrm>
            <a:off x="566928" y="4736592"/>
            <a:ext cx="11057839" cy="841248"/>
          </a:xfrm>
          <a:prstGeom prst="roundRect">
            <a:avLst>
              <a:gd name="adj" fmla="val 11957"/>
            </a:avLst>
          </a:prstGeom>
          <a:solidFill>
            <a:srgbClr val="1C2024"/>
          </a:solidFill>
          <a:ln w="12700">
            <a:solidFill>
              <a:srgbClr val="1C2024"/>
            </a:solidFill>
            <a:prstDash val="solid"/>
          </a:ln>
        </p:spPr>
      </p:sp>
      <p:sp>
        <p:nvSpPr>
          <p:cNvPr id="25" name="kicker#376"/>
          <p:cNvSpPr/>
          <p:nvPr/>
        </p:nvSpPr>
        <p:spPr>
          <a:xfrm>
            <a:off x="1024128" y="4736592"/>
            <a:ext cx="10143439"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On 24 July 2026 India's I4C gave GitHub three hours to take the bitchat repositories down, naming the app's ability to work during a shutdown as the reason. A category is real once someone tries to remove it.</a:t>
            </a:r>
            <a:endParaRPr lang="en-US" sz="1250" dirty="0"/>
          </a:p>
        </p:txBody>
      </p:sp>
      <p:sp>
        <p:nvSpPr>
          <p:cNvPr id="26" name="src#377"/>
          <p:cNvSpPr/>
          <p:nvPr/>
        </p:nvSpPr>
        <p:spPr>
          <a:xfrm>
            <a:off x="566928" y="5797296"/>
            <a:ext cx="11057839" cy="182880"/>
          </a:xfrm>
          <a:prstGeom prst="rect">
            <a:avLst/>
          </a:prstGeom>
          <a:noFill/>
          <a:ln/>
        </p:spPr>
        <p:txBody>
          <a:bodyPr wrap="square" lIns="0" tIns="0" rIns="0" bIns="0" rtlCol="0" anchor="ctr"/>
          <a:lstStyle/>
          <a:p>
            <a:pPr indent="0" marL="0">
              <a:buNone/>
            </a:pPr>
            <a:r>
              <a:rPr lang="en-US" sz="800" dirty="0">
                <a:solidFill>
                  <a:srgbClr val="6E7178"/>
                </a:solidFill>
                <a:latin typeface="Consolas" pitchFamily="34" charset="0"/>
                <a:ea typeface="Consolas" pitchFamily="34" charset="-122"/>
                <a:cs typeface="Consolas" pitchFamily="34" charset="-120"/>
              </a:rPr>
              <a:t>Source:  </a:t>
            </a:r>
            <a:pPr indent="0" marL="0">
              <a:buNone/>
            </a:pPr>
            <a:r>
              <a:rPr lang="en-US" sz="800" u="sng" dirty="0">
                <a:solidFill>
                  <a:srgbClr val="6E7178"/>
                </a:solidFill>
                <a:latin typeface="Consolas" pitchFamily="34" charset="0"/>
                <a:ea typeface="Consolas" pitchFamily="34" charset="-122"/>
                <a:cs typeface="Consolas" pitchFamily="34" charset="-120"/>
                <a:hlinkClick r:id="rId1" invalidUrl="" action="" tgtFrame="" tooltip="BeInCrypto and Forbes, September 2025" history="1" highlightClick="0" endSnd="0">
                  <a:extLst>
                    <a:ext uri="{A12FA001-AC4F-418D-AE19-62706E023703}">
                      <ahyp:hlinkClr xmlns:ahyp="http://schemas.microsoft.com/office/drawing/2018/hyperlinkcolor" val="tx"/>
                    </a:ext>
                  </a:extLst>
                </a:hlinkClick>
              </a:rPr>
              <a:t>BeInCrypto and Forbes, September 2025</a:t>
            </a:r>
            <a:pPr indent="0" marL="0">
              <a:buNone/>
            </a:pPr>
            <a:r>
              <a:rPr lang="en-US" sz="800" dirty="0">
                <a:solidFill>
                  <a:srgbClr val="D9D9E0"/>
                </a:solidFill>
                <a:latin typeface="Consolas" pitchFamily="34" charset="0"/>
                <a:ea typeface="Consolas" pitchFamily="34" charset="-122"/>
                <a:cs typeface="Consolas" pitchFamily="34" charset="-120"/>
              </a:rPr>
              <a:t>   ·   </a:t>
            </a:r>
            <a:pPr indent="0" marL="0">
              <a:buNone/>
            </a:pPr>
            <a:r>
              <a:rPr lang="en-US" sz="800" u="sng" dirty="0">
                <a:solidFill>
                  <a:srgbClr val="6E7178"/>
                </a:solidFill>
                <a:latin typeface="Consolas" pitchFamily="34" charset="0"/>
                <a:ea typeface="Consolas" pitchFamily="34" charset="-122"/>
                <a:cs typeface="Consolas" pitchFamily="34" charset="-120"/>
                <a:hlinkClick r:id="rId2" invalidUrl="" action="" tgtFrame="" tooltip="CoinDesk and MediaNama, July 2026" history="1" highlightClick="0" endSnd="0">
                  <a:extLst>
                    <a:ext uri="{A12FA001-AC4F-418D-AE19-62706E023703}">
                      <ahyp:hlinkClr xmlns:ahyp="http://schemas.microsoft.com/office/drawing/2018/hyperlinkcolor" val="tx"/>
                    </a:ext>
                  </a:extLst>
                </a:hlinkClick>
              </a:rPr>
              <a:t>CoinDesk and MediaNama, July 2026</a:t>
            </a:r>
            <a:endParaRPr lang="en-US" sz="800" dirty="0"/>
          </a:p>
        </p:txBody>
      </p:sp>
      <p:sp>
        <p:nvSpPr>
          <p:cNvPr id="28" name="Shape 25"/>
          <p:cNvSpPr/>
          <p:nvPr/>
        </p:nvSpPr>
        <p:spPr>
          <a:xfrm>
            <a:off x="566928" y="6327648"/>
            <a:ext cx="11057839" cy="0"/>
          </a:xfrm>
          <a:prstGeom prst="line">
            <a:avLst/>
          </a:prstGeom>
          <a:noFill/>
          <a:ln w="9525">
            <a:solidFill>
              <a:srgbClr val="D9D9E0"/>
            </a:solidFill>
            <a:prstDash val="solid"/>
          </a:ln>
        </p:spPr>
      </p:sp>
      <p:sp>
        <p:nvSpPr>
          <p:cNvPr id="29" name="Shape 26"/>
          <p:cNvSpPr/>
          <p:nvPr/>
        </p:nvSpPr>
        <p:spPr>
          <a:xfrm>
            <a:off x="566928" y="6441948"/>
            <a:ext cx="24725" cy="24725"/>
          </a:xfrm>
          <a:prstGeom prst="rect">
            <a:avLst/>
          </a:prstGeom>
          <a:solidFill>
            <a:srgbClr val="1C2024"/>
          </a:solidFill>
          <a:ln w="12700">
            <a:solidFill>
              <a:srgbClr val="1C2024"/>
            </a:solidFill>
            <a:prstDash val="solid"/>
          </a:ln>
        </p:spPr>
      </p:sp>
      <p:sp>
        <p:nvSpPr>
          <p:cNvPr id="30" name="Shape 27"/>
          <p:cNvSpPr/>
          <p:nvPr/>
        </p:nvSpPr>
        <p:spPr>
          <a:xfrm>
            <a:off x="590702" y="6441948"/>
            <a:ext cx="24725" cy="24725"/>
          </a:xfrm>
          <a:prstGeom prst="rect">
            <a:avLst/>
          </a:prstGeom>
          <a:solidFill>
            <a:srgbClr val="1C2024"/>
          </a:solidFill>
          <a:ln w="12700">
            <a:solidFill>
              <a:srgbClr val="1C2024"/>
            </a:solidFill>
            <a:prstDash val="solid"/>
          </a:ln>
        </p:spPr>
      </p:sp>
      <p:sp>
        <p:nvSpPr>
          <p:cNvPr id="31" name="Shape 28"/>
          <p:cNvSpPr/>
          <p:nvPr/>
        </p:nvSpPr>
        <p:spPr>
          <a:xfrm>
            <a:off x="780898" y="6441948"/>
            <a:ext cx="24725" cy="24725"/>
          </a:xfrm>
          <a:prstGeom prst="rect">
            <a:avLst/>
          </a:prstGeom>
          <a:solidFill>
            <a:srgbClr val="1C2024"/>
          </a:solidFill>
          <a:ln w="12700">
            <a:solidFill>
              <a:srgbClr val="1C2024"/>
            </a:solidFill>
            <a:prstDash val="solid"/>
          </a:ln>
        </p:spPr>
      </p:sp>
      <p:sp>
        <p:nvSpPr>
          <p:cNvPr id="32" name="Shape 29"/>
          <p:cNvSpPr/>
          <p:nvPr/>
        </p:nvSpPr>
        <p:spPr>
          <a:xfrm>
            <a:off x="804672" y="6441948"/>
            <a:ext cx="24725" cy="24725"/>
          </a:xfrm>
          <a:prstGeom prst="rect">
            <a:avLst/>
          </a:prstGeom>
          <a:solidFill>
            <a:srgbClr val="1C2024"/>
          </a:solidFill>
          <a:ln w="12700">
            <a:solidFill>
              <a:srgbClr val="1C2024"/>
            </a:solidFill>
            <a:prstDash val="solid"/>
          </a:ln>
        </p:spPr>
      </p:sp>
      <p:sp>
        <p:nvSpPr>
          <p:cNvPr id="33" name="Shape 30"/>
          <p:cNvSpPr/>
          <p:nvPr/>
        </p:nvSpPr>
        <p:spPr>
          <a:xfrm>
            <a:off x="590702" y="6465722"/>
            <a:ext cx="24725" cy="24725"/>
          </a:xfrm>
          <a:prstGeom prst="rect">
            <a:avLst/>
          </a:prstGeom>
          <a:solidFill>
            <a:srgbClr val="1C2024"/>
          </a:solidFill>
          <a:ln w="12700">
            <a:solidFill>
              <a:srgbClr val="1C2024"/>
            </a:solidFill>
            <a:prstDash val="solid"/>
          </a:ln>
        </p:spPr>
      </p:sp>
      <p:sp>
        <p:nvSpPr>
          <p:cNvPr id="34" name="Shape 31"/>
          <p:cNvSpPr/>
          <p:nvPr/>
        </p:nvSpPr>
        <p:spPr>
          <a:xfrm>
            <a:off x="614477" y="6465722"/>
            <a:ext cx="24725" cy="24725"/>
          </a:xfrm>
          <a:prstGeom prst="rect">
            <a:avLst/>
          </a:prstGeom>
          <a:solidFill>
            <a:srgbClr val="1C2024"/>
          </a:solidFill>
          <a:ln w="12700">
            <a:solidFill>
              <a:srgbClr val="1C2024"/>
            </a:solidFill>
            <a:prstDash val="solid"/>
          </a:ln>
        </p:spPr>
      </p:sp>
      <p:sp>
        <p:nvSpPr>
          <p:cNvPr id="35" name="Shape 32"/>
          <p:cNvSpPr/>
          <p:nvPr/>
        </p:nvSpPr>
        <p:spPr>
          <a:xfrm>
            <a:off x="757123" y="6465722"/>
            <a:ext cx="24725" cy="24725"/>
          </a:xfrm>
          <a:prstGeom prst="rect">
            <a:avLst/>
          </a:prstGeom>
          <a:solidFill>
            <a:srgbClr val="1C2024"/>
          </a:solidFill>
          <a:ln w="12700">
            <a:solidFill>
              <a:srgbClr val="1C2024"/>
            </a:solidFill>
            <a:prstDash val="solid"/>
          </a:ln>
        </p:spPr>
      </p:sp>
      <p:sp>
        <p:nvSpPr>
          <p:cNvPr id="36" name="Shape 33"/>
          <p:cNvSpPr/>
          <p:nvPr/>
        </p:nvSpPr>
        <p:spPr>
          <a:xfrm>
            <a:off x="780898" y="6465722"/>
            <a:ext cx="24725" cy="24725"/>
          </a:xfrm>
          <a:prstGeom prst="rect">
            <a:avLst/>
          </a:prstGeom>
          <a:solidFill>
            <a:srgbClr val="1C2024"/>
          </a:solidFill>
          <a:ln w="12700">
            <a:solidFill>
              <a:srgbClr val="1C2024"/>
            </a:solidFill>
            <a:prstDash val="solid"/>
          </a:ln>
        </p:spPr>
      </p:sp>
      <p:sp>
        <p:nvSpPr>
          <p:cNvPr id="37" name="Shape 34"/>
          <p:cNvSpPr/>
          <p:nvPr/>
        </p:nvSpPr>
        <p:spPr>
          <a:xfrm>
            <a:off x="614477" y="6489497"/>
            <a:ext cx="24725" cy="24725"/>
          </a:xfrm>
          <a:prstGeom prst="rect">
            <a:avLst/>
          </a:prstGeom>
          <a:solidFill>
            <a:srgbClr val="1C2024"/>
          </a:solidFill>
          <a:ln w="12700">
            <a:solidFill>
              <a:srgbClr val="1C2024"/>
            </a:solidFill>
            <a:prstDash val="solid"/>
          </a:ln>
        </p:spPr>
      </p:sp>
      <p:sp>
        <p:nvSpPr>
          <p:cNvPr id="38" name="Shape 35"/>
          <p:cNvSpPr/>
          <p:nvPr/>
        </p:nvSpPr>
        <p:spPr>
          <a:xfrm>
            <a:off x="638251" y="6489497"/>
            <a:ext cx="24725" cy="24725"/>
          </a:xfrm>
          <a:prstGeom prst="rect">
            <a:avLst/>
          </a:prstGeom>
          <a:solidFill>
            <a:srgbClr val="1C2024"/>
          </a:solidFill>
          <a:ln w="12700">
            <a:solidFill>
              <a:srgbClr val="1C2024"/>
            </a:solidFill>
            <a:prstDash val="solid"/>
          </a:ln>
        </p:spPr>
      </p:sp>
      <p:sp>
        <p:nvSpPr>
          <p:cNvPr id="39" name="Shape 36"/>
          <p:cNvSpPr/>
          <p:nvPr/>
        </p:nvSpPr>
        <p:spPr>
          <a:xfrm>
            <a:off x="685800" y="6489497"/>
            <a:ext cx="24725" cy="24725"/>
          </a:xfrm>
          <a:prstGeom prst="rect">
            <a:avLst/>
          </a:prstGeom>
          <a:solidFill>
            <a:srgbClr val="1C2024"/>
          </a:solidFill>
          <a:ln w="12700">
            <a:solidFill>
              <a:srgbClr val="1C2024"/>
            </a:solidFill>
            <a:prstDash val="solid"/>
          </a:ln>
        </p:spPr>
      </p:sp>
      <p:sp>
        <p:nvSpPr>
          <p:cNvPr id="40" name="Shape 37"/>
          <p:cNvSpPr/>
          <p:nvPr/>
        </p:nvSpPr>
        <p:spPr>
          <a:xfrm>
            <a:off x="733349" y="6489497"/>
            <a:ext cx="24725" cy="24725"/>
          </a:xfrm>
          <a:prstGeom prst="rect">
            <a:avLst/>
          </a:prstGeom>
          <a:solidFill>
            <a:srgbClr val="1C2024"/>
          </a:solidFill>
          <a:ln w="12700">
            <a:solidFill>
              <a:srgbClr val="1C2024"/>
            </a:solidFill>
            <a:prstDash val="solid"/>
          </a:ln>
        </p:spPr>
      </p:sp>
      <p:sp>
        <p:nvSpPr>
          <p:cNvPr id="41" name="Shape 38"/>
          <p:cNvSpPr/>
          <p:nvPr/>
        </p:nvSpPr>
        <p:spPr>
          <a:xfrm>
            <a:off x="757123" y="6489497"/>
            <a:ext cx="24725" cy="24725"/>
          </a:xfrm>
          <a:prstGeom prst="rect">
            <a:avLst/>
          </a:prstGeom>
          <a:solidFill>
            <a:srgbClr val="1C2024"/>
          </a:solidFill>
          <a:ln w="12700">
            <a:solidFill>
              <a:srgbClr val="1C2024"/>
            </a:solidFill>
            <a:prstDash val="solid"/>
          </a:ln>
        </p:spPr>
      </p:sp>
      <p:sp>
        <p:nvSpPr>
          <p:cNvPr id="42" name="Shape 39"/>
          <p:cNvSpPr/>
          <p:nvPr/>
        </p:nvSpPr>
        <p:spPr>
          <a:xfrm>
            <a:off x="638251" y="6513271"/>
            <a:ext cx="24725" cy="24725"/>
          </a:xfrm>
          <a:prstGeom prst="rect">
            <a:avLst/>
          </a:prstGeom>
          <a:solidFill>
            <a:srgbClr val="1C2024"/>
          </a:solidFill>
          <a:ln w="12700">
            <a:solidFill>
              <a:srgbClr val="1C2024"/>
            </a:solidFill>
            <a:prstDash val="solid"/>
          </a:ln>
        </p:spPr>
      </p:sp>
      <p:sp>
        <p:nvSpPr>
          <p:cNvPr id="43" name="Shape 40"/>
          <p:cNvSpPr/>
          <p:nvPr/>
        </p:nvSpPr>
        <p:spPr>
          <a:xfrm>
            <a:off x="662026" y="6513271"/>
            <a:ext cx="24725" cy="24725"/>
          </a:xfrm>
          <a:prstGeom prst="rect">
            <a:avLst/>
          </a:prstGeom>
          <a:solidFill>
            <a:srgbClr val="1C2024"/>
          </a:solidFill>
          <a:ln w="12700">
            <a:solidFill>
              <a:srgbClr val="1C2024"/>
            </a:solidFill>
            <a:prstDash val="solid"/>
          </a:ln>
        </p:spPr>
      </p:sp>
      <p:sp>
        <p:nvSpPr>
          <p:cNvPr id="44" name="Shape 41"/>
          <p:cNvSpPr/>
          <p:nvPr/>
        </p:nvSpPr>
        <p:spPr>
          <a:xfrm>
            <a:off x="685800" y="6513271"/>
            <a:ext cx="24725" cy="24725"/>
          </a:xfrm>
          <a:prstGeom prst="rect">
            <a:avLst/>
          </a:prstGeom>
          <a:solidFill>
            <a:srgbClr val="1C2024"/>
          </a:solidFill>
          <a:ln w="12700">
            <a:solidFill>
              <a:srgbClr val="1C2024"/>
            </a:solidFill>
            <a:prstDash val="solid"/>
          </a:ln>
        </p:spPr>
      </p:sp>
      <p:sp>
        <p:nvSpPr>
          <p:cNvPr id="45" name="Shape 42"/>
          <p:cNvSpPr/>
          <p:nvPr/>
        </p:nvSpPr>
        <p:spPr>
          <a:xfrm>
            <a:off x="709574" y="6513271"/>
            <a:ext cx="24725" cy="24725"/>
          </a:xfrm>
          <a:prstGeom prst="rect">
            <a:avLst/>
          </a:prstGeom>
          <a:solidFill>
            <a:srgbClr val="1C2024"/>
          </a:solidFill>
          <a:ln w="12700">
            <a:solidFill>
              <a:srgbClr val="1C2024"/>
            </a:solidFill>
            <a:prstDash val="solid"/>
          </a:ln>
        </p:spPr>
      </p:sp>
      <p:sp>
        <p:nvSpPr>
          <p:cNvPr id="46" name="Shape 43"/>
          <p:cNvSpPr/>
          <p:nvPr/>
        </p:nvSpPr>
        <p:spPr>
          <a:xfrm>
            <a:off x="733349" y="6513271"/>
            <a:ext cx="24725" cy="24725"/>
          </a:xfrm>
          <a:prstGeom prst="rect">
            <a:avLst/>
          </a:prstGeom>
          <a:solidFill>
            <a:srgbClr val="1C2024"/>
          </a:solidFill>
          <a:ln w="12700">
            <a:solidFill>
              <a:srgbClr val="1C2024"/>
            </a:solidFill>
            <a:prstDash val="solid"/>
          </a:ln>
        </p:spPr>
      </p:sp>
      <p:sp>
        <p:nvSpPr>
          <p:cNvPr id="47" name="Shape 44"/>
          <p:cNvSpPr/>
          <p:nvPr/>
        </p:nvSpPr>
        <p:spPr>
          <a:xfrm>
            <a:off x="662026" y="6537046"/>
            <a:ext cx="24725" cy="24725"/>
          </a:xfrm>
          <a:prstGeom prst="rect">
            <a:avLst/>
          </a:prstGeom>
          <a:solidFill>
            <a:srgbClr val="1C2024"/>
          </a:solidFill>
          <a:ln w="12700">
            <a:solidFill>
              <a:srgbClr val="1C2024"/>
            </a:solidFill>
            <a:prstDash val="solid"/>
          </a:ln>
        </p:spPr>
      </p:sp>
      <p:sp>
        <p:nvSpPr>
          <p:cNvPr id="48" name="Shape 45"/>
          <p:cNvSpPr/>
          <p:nvPr/>
        </p:nvSpPr>
        <p:spPr>
          <a:xfrm>
            <a:off x="685800" y="6537046"/>
            <a:ext cx="24725" cy="24725"/>
          </a:xfrm>
          <a:prstGeom prst="rect">
            <a:avLst/>
          </a:prstGeom>
          <a:solidFill>
            <a:srgbClr val="1C2024"/>
          </a:solidFill>
          <a:ln w="12700">
            <a:solidFill>
              <a:srgbClr val="1C2024"/>
            </a:solidFill>
            <a:prstDash val="solid"/>
          </a:ln>
        </p:spPr>
      </p:sp>
      <p:sp>
        <p:nvSpPr>
          <p:cNvPr id="49" name="Shape 46"/>
          <p:cNvSpPr/>
          <p:nvPr/>
        </p:nvSpPr>
        <p:spPr>
          <a:xfrm>
            <a:off x="709574" y="6537046"/>
            <a:ext cx="24725" cy="24725"/>
          </a:xfrm>
          <a:prstGeom prst="rect">
            <a:avLst/>
          </a:prstGeom>
          <a:solidFill>
            <a:srgbClr val="1C2024"/>
          </a:solidFill>
          <a:ln w="12700">
            <a:solidFill>
              <a:srgbClr val="1C2024"/>
            </a:solidFill>
            <a:prstDash val="solid"/>
          </a:ln>
        </p:spPr>
      </p:sp>
      <p:sp>
        <p:nvSpPr>
          <p:cNvPr id="50" name="Shape 47"/>
          <p:cNvSpPr/>
          <p:nvPr/>
        </p:nvSpPr>
        <p:spPr>
          <a:xfrm>
            <a:off x="685800" y="6560820"/>
            <a:ext cx="24725" cy="24725"/>
          </a:xfrm>
          <a:prstGeom prst="rect">
            <a:avLst/>
          </a:prstGeom>
          <a:solidFill>
            <a:srgbClr val="1C2024"/>
          </a:solidFill>
          <a:ln w="12700">
            <a:solidFill>
              <a:srgbClr val="1C2024"/>
            </a:solidFill>
            <a:prstDash val="solid"/>
          </a:ln>
        </p:spPr>
      </p:sp>
      <p:sp>
        <p:nvSpPr>
          <p:cNvPr id="51" name="Text 48"/>
          <p:cNvSpPr/>
          <p:nvPr/>
        </p:nvSpPr>
        <p:spPr>
          <a:xfrm>
            <a:off x="914400" y="6391656"/>
            <a:ext cx="1828800" cy="219456"/>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AIRHOP</a:t>
            </a:r>
            <a:endParaRPr lang="en-US" sz="800" dirty="0"/>
          </a:p>
        </p:txBody>
      </p:sp>
      <p:sp>
        <p:nvSpPr>
          <p:cNvPr id="52" name="Text 49"/>
          <p:cNvSpPr/>
          <p:nvPr/>
        </p:nvSpPr>
        <p:spPr>
          <a:xfrm>
            <a:off x="9795967" y="6391656"/>
            <a:ext cx="1828800" cy="219456"/>
          </a:xfrm>
          <a:prstGeom prst="rect">
            <a:avLst/>
          </a:prstGeom>
          <a:noFill/>
          <a:ln/>
        </p:spPr>
        <p:txBody>
          <a:bodyPr wrap="square" lIns="0" tIns="0" rIns="0" bIns="0" rtlCol="0" anchor="ctr"/>
          <a:lstStyle/>
          <a:p>
            <a:pPr algn="r" indent="0" marL="0">
              <a:buNone/>
            </a:pPr>
            <a:r>
              <a:rPr lang="en-US" sz="800" dirty="0">
                <a:solidFill>
                  <a:srgbClr val="6E7178"/>
                </a:solidFill>
                <a:latin typeface="Consolas" pitchFamily="34" charset="0"/>
                <a:ea typeface="Consolas" pitchFamily="34" charset="-122"/>
                <a:cs typeface="Consolas" pitchFamily="34" charset="-120"/>
              </a:rPr>
              <a:t>03 / 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head#378"/>
          <p:cNvSpPr/>
          <p:nvPr/>
        </p:nvSpPr>
        <p:spPr>
          <a:xfrm>
            <a:off x="566928" y="402336"/>
            <a:ext cx="11057839" cy="182880"/>
          </a:xfrm>
          <a:prstGeom prst="rect">
            <a:avLst/>
          </a:prstGeom>
          <a:noFill/>
          <a:ln/>
        </p:spPr>
        <p:txBody>
          <a:bodyPr wrap="square" lIns="0" tIns="0" rIns="0" bIns="0" rtlCol="0" anchor="ctr"/>
          <a:lstStyle/>
          <a:p>
            <a:pPr indent="0" marL="0">
              <a:buNone/>
            </a:pPr>
            <a:r>
              <a:rPr lang="en-US" sz="900" b="1" spc="160" kern="0" dirty="0">
                <a:solidFill>
                  <a:srgbClr val="60646C"/>
                </a:solidFill>
                <a:latin typeface="Consolas" pitchFamily="34" charset="0"/>
                <a:ea typeface="Consolas" pitchFamily="34" charset="-122"/>
                <a:cs typeface="Consolas" pitchFamily="34" charset="-120"/>
              </a:rPr>
              <a:t>LANDSCAPE</a:t>
            </a:r>
            <a:endParaRPr lang="en-US" sz="900" dirty="0"/>
          </a:p>
        </p:txBody>
      </p:sp>
      <p:sp>
        <p:nvSpPr>
          <p:cNvPr id="3" name="head#379"/>
          <p:cNvSpPr/>
          <p:nvPr/>
        </p:nvSpPr>
        <p:spPr>
          <a:xfrm>
            <a:off x="566928" y="658368"/>
            <a:ext cx="11057839" cy="872338"/>
          </a:xfrm>
          <a:prstGeom prst="rect">
            <a:avLst/>
          </a:prstGeom>
          <a:noFill/>
          <a:ln/>
        </p:spPr>
        <p:txBody>
          <a:bodyPr wrap="square" lIns="0" tIns="0" rIns="0" bIns="0" rtlCol="0" anchor="t"/>
          <a:lstStyle/>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Offline, hardware free and open</a:t>
            </a:r>
            <a:endParaRPr lang="en-US" sz="2700" dirty="0"/>
          </a:p>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is a short list.</a:t>
            </a:r>
            <a:endParaRPr lang="en-US" sz="2700" dirty="0"/>
          </a:p>
        </p:txBody>
      </p:sp>
      <p:sp>
        <p:nvSpPr>
          <p:cNvPr id="4" name="head#380"/>
          <p:cNvSpPr/>
          <p:nvPr/>
        </p:nvSpPr>
        <p:spPr>
          <a:xfrm>
            <a:off x="566928" y="1677010"/>
            <a:ext cx="9052560" cy="515112"/>
          </a:xfrm>
          <a:prstGeom prst="rect">
            <a:avLst/>
          </a:prstGeom>
          <a:noFill/>
          <a:ln/>
        </p:spPr>
        <p:txBody>
          <a:bodyPr wrap="square" lIns="0" tIns="0" rIns="0" bIns="0" rtlCol="0" anchor="t"/>
          <a:lstStyle/>
          <a:p>
            <a:pPr indent="0" marL="0">
              <a:lnSpc>
                <a:spcPct val="130000"/>
              </a:lnSpc>
              <a:buNone/>
            </a:pPr>
            <a:r>
              <a:rPr lang="en-US" sz="1300" dirty="0">
                <a:solidFill>
                  <a:srgbClr val="60646C"/>
                </a:solidFill>
                <a:latin typeface="Segoe UI" pitchFamily="34" charset="0"/>
                <a:ea typeface="Segoe UI" pitchFamily="34" charset="-122"/>
                <a:cs typeface="Segoe UI" pitchFamily="34" charset="-120"/>
              </a:rPr>
              <a:t>Every app here is good at something. Only some keep working when the network stops, and fewer still run on a phone with nothing extra plugged into it.</a:t>
            </a:r>
            <a:endParaRPr lang="en-US" sz="1300" dirty="0"/>
          </a:p>
        </p:txBody>
      </p:sp>
      <p:sp>
        <p:nvSpPr>
          <p:cNvPr id="5" name="table#381"/>
          <p:cNvSpPr/>
          <p:nvPr/>
        </p:nvSpPr>
        <p:spPr>
          <a:xfrm>
            <a:off x="566928" y="2286000"/>
            <a:ext cx="11057839" cy="3401568"/>
          </a:xfrm>
          <a:prstGeom prst="roundRect">
            <a:avLst>
              <a:gd name="adj" fmla="val 2957"/>
            </a:avLst>
          </a:prstGeom>
          <a:solidFill>
            <a:srgbClr val="FCFCFD"/>
          </a:solidFill>
          <a:ln w="9525">
            <a:solidFill>
              <a:srgbClr val="D9D9E0"/>
            </a:solidFill>
            <a:prstDash val="solid"/>
          </a:ln>
        </p:spPr>
      </p:sp>
      <p:sp>
        <p:nvSpPr>
          <p:cNvPr id="6" name="table#382"/>
          <p:cNvSpPr/>
          <p:nvPr/>
        </p:nvSpPr>
        <p:spPr>
          <a:xfrm>
            <a:off x="859536" y="2414016"/>
            <a:ext cx="1426418" cy="347472"/>
          </a:xfrm>
          <a:prstGeom prst="rect">
            <a:avLst/>
          </a:prstGeom>
          <a:noFill/>
          <a:ln/>
        </p:spPr>
        <p:txBody>
          <a:bodyPr wrap="square" lIns="0" tIns="0" rIns="0" bIns="0" rtlCol="0" anchor="ctr"/>
          <a:lstStyle/>
          <a:p>
            <a:pPr algn="l" indent="0" marL="0">
              <a:buNone/>
            </a:pPr>
            <a:r>
              <a:rPr lang="en-US" sz="800" b="1" spc="110" kern="0" dirty="0">
                <a:solidFill>
                  <a:srgbClr val="60646C"/>
                </a:solidFill>
                <a:latin typeface="Consolas" pitchFamily="34" charset="0"/>
                <a:ea typeface="Consolas" pitchFamily="34" charset="-122"/>
                <a:cs typeface="Consolas" pitchFamily="34" charset="-120"/>
              </a:rPr>
              <a:t>PROJECT</a:t>
            </a:r>
            <a:endParaRPr lang="en-US" sz="800" dirty="0"/>
          </a:p>
        </p:txBody>
      </p:sp>
      <p:sp>
        <p:nvSpPr>
          <p:cNvPr id="7" name="table#383"/>
          <p:cNvSpPr/>
          <p:nvPr/>
        </p:nvSpPr>
        <p:spPr>
          <a:xfrm>
            <a:off x="2468834" y="2414016"/>
            <a:ext cx="2391997" cy="347472"/>
          </a:xfrm>
          <a:prstGeom prst="rect">
            <a:avLst/>
          </a:prstGeom>
          <a:noFill/>
          <a:ln/>
        </p:spPr>
        <p:txBody>
          <a:bodyPr wrap="square" lIns="0" tIns="0" rIns="0" bIns="0" rtlCol="0" anchor="ctr"/>
          <a:lstStyle/>
          <a:p>
            <a:pPr algn="l" indent="0" marL="0">
              <a:buNone/>
            </a:pPr>
            <a:r>
              <a:rPr lang="en-US" sz="800" b="1" spc="110" kern="0" dirty="0">
                <a:solidFill>
                  <a:srgbClr val="60646C"/>
                </a:solidFill>
                <a:latin typeface="Consolas" pitchFamily="34" charset="0"/>
                <a:ea typeface="Consolas" pitchFamily="34" charset="-122"/>
                <a:cs typeface="Consolas" pitchFamily="34" charset="-120"/>
              </a:rPr>
              <a:t>TRANSPORT</a:t>
            </a:r>
            <a:endParaRPr lang="en-US" sz="800" dirty="0"/>
          </a:p>
        </p:txBody>
      </p:sp>
      <p:sp>
        <p:nvSpPr>
          <p:cNvPr id="8" name="table#384"/>
          <p:cNvSpPr/>
          <p:nvPr/>
        </p:nvSpPr>
        <p:spPr>
          <a:xfrm>
            <a:off x="5043712" y="2414016"/>
            <a:ext cx="2713857" cy="347472"/>
          </a:xfrm>
          <a:prstGeom prst="rect">
            <a:avLst/>
          </a:prstGeom>
          <a:noFill/>
          <a:ln/>
        </p:spPr>
        <p:txBody>
          <a:bodyPr wrap="square" lIns="0" tIns="0" rIns="0" bIns="0" rtlCol="0" anchor="ctr"/>
          <a:lstStyle/>
          <a:p>
            <a:pPr algn="l" indent="0" marL="0">
              <a:buNone/>
            </a:pPr>
            <a:r>
              <a:rPr lang="en-US" sz="800" b="1" spc="110" kern="0" dirty="0">
                <a:solidFill>
                  <a:srgbClr val="60646C"/>
                </a:solidFill>
                <a:latin typeface="Consolas" pitchFamily="34" charset="0"/>
                <a:ea typeface="Consolas" pitchFamily="34" charset="-122"/>
                <a:cs typeface="Consolas" pitchFamily="34" charset="-120"/>
              </a:rPr>
              <a:t>ENCRYPTION</a:t>
            </a:r>
            <a:endParaRPr lang="en-US" sz="800" dirty="0"/>
          </a:p>
        </p:txBody>
      </p:sp>
      <p:sp>
        <p:nvSpPr>
          <p:cNvPr id="9" name="table#385"/>
          <p:cNvSpPr/>
          <p:nvPr/>
        </p:nvSpPr>
        <p:spPr>
          <a:xfrm>
            <a:off x="7940448" y="2414016"/>
            <a:ext cx="1029458" cy="347472"/>
          </a:xfrm>
          <a:prstGeom prst="rect">
            <a:avLst/>
          </a:prstGeom>
          <a:noFill/>
          <a:ln/>
        </p:spPr>
        <p:txBody>
          <a:bodyPr wrap="square" lIns="0" tIns="0" rIns="0" bIns="0" rtlCol="0" anchor="ctr"/>
          <a:lstStyle/>
          <a:p>
            <a:pPr algn="ctr" indent="0" marL="0">
              <a:buNone/>
            </a:pPr>
            <a:r>
              <a:rPr lang="en-US" sz="800" b="1" spc="110" kern="0" dirty="0">
                <a:solidFill>
                  <a:srgbClr val="60646C"/>
                </a:solidFill>
                <a:latin typeface="Consolas" pitchFamily="34" charset="0"/>
                <a:ea typeface="Consolas" pitchFamily="34" charset="-122"/>
                <a:cs typeface="Consolas" pitchFamily="34" charset="-120"/>
              </a:rPr>
              <a:t>OFFLINE</a:t>
            </a:r>
            <a:endParaRPr lang="en-US" sz="800" dirty="0"/>
          </a:p>
        </p:txBody>
      </p:sp>
      <p:sp>
        <p:nvSpPr>
          <p:cNvPr id="10" name="table#386"/>
          <p:cNvSpPr/>
          <p:nvPr/>
        </p:nvSpPr>
        <p:spPr>
          <a:xfrm>
            <a:off x="9152786" y="2414016"/>
            <a:ext cx="1029458" cy="347472"/>
          </a:xfrm>
          <a:prstGeom prst="rect">
            <a:avLst/>
          </a:prstGeom>
          <a:noFill/>
          <a:ln/>
        </p:spPr>
        <p:txBody>
          <a:bodyPr wrap="square" lIns="0" tIns="0" rIns="0" bIns="0" rtlCol="0" anchor="ctr"/>
          <a:lstStyle/>
          <a:p>
            <a:pPr algn="ctr" indent="0" marL="0">
              <a:buNone/>
            </a:pPr>
            <a:r>
              <a:rPr lang="en-US" sz="800" b="1" spc="110" kern="0" dirty="0">
                <a:solidFill>
                  <a:srgbClr val="60646C"/>
                </a:solidFill>
                <a:latin typeface="Consolas" pitchFamily="34" charset="0"/>
                <a:ea typeface="Consolas" pitchFamily="34" charset="-122"/>
                <a:cs typeface="Consolas" pitchFamily="34" charset="-120"/>
              </a:rPr>
              <a:t>NO HARDWARE</a:t>
            </a:r>
            <a:endParaRPr lang="en-US" sz="800" dirty="0"/>
          </a:p>
        </p:txBody>
      </p:sp>
      <p:sp>
        <p:nvSpPr>
          <p:cNvPr id="11" name="table#387"/>
          <p:cNvSpPr/>
          <p:nvPr/>
        </p:nvSpPr>
        <p:spPr>
          <a:xfrm>
            <a:off x="10365125" y="2414016"/>
            <a:ext cx="1040187" cy="347472"/>
          </a:xfrm>
          <a:prstGeom prst="rect">
            <a:avLst/>
          </a:prstGeom>
          <a:noFill/>
          <a:ln/>
        </p:spPr>
        <p:txBody>
          <a:bodyPr wrap="square" lIns="0" tIns="0" rIns="0" bIns="0" rtlCol="0" anchor="ctr"/>
          <a:lstStyle/>
          <a:p>
            <a:pPr algn="ctr" indent="0" marL="0">
              <a:buNone/>
            </a:pPr>
            <a:r>
              <a:rPr lang="en-US" sz="800" b="1" spc="110" kern="0" dirty="0">
                <a:solidFill>
                  <a:srgbClr val="60646C"/>
                </a:solidFill>
                <a:latin typeface="Consolas" pitchFamily="34" charset="0"/>
                <a:ea typeface="Consolas" pitchFamily="34" charset="-122"/>
                <a:cs typeface="Consolas" pitchFamily="34" charset="-120"/>
              </a:rPr>
              <a:t>OPEN</a:t>
            </a:r>
            <a:endParaRPr lang="en-US" sz="800" dirty="0"/>
          </a:p>
        </p:txBody>
      </p:sp>
      <p:sp>
        <p:nvSpPr>
          <p:cNvPr id="12" name="table#388"/>
          <p:cNvSpPr/>
          <p:nvPr/>
        </p:nvSpPr>
        <p:spPr>
          <a:xfrm>
            <a:off x="731520" y="2761488"/>
            <a:ext cx="10728655" cy="0"/>
          </a:xfrm>
          <a:prstGeom prst="line">
            <a:avLst/>
          </a:prstGeom>
          <a:noFill/>
          <a:ln w="9525">
            <a:solidFill>
              <a:srgbClr val="D9D9E0"/>
            </a:solidFill>
            <a:prstDash val="solid"/>
          </a:ln>
        </p:spPr>
      </p:sp>
      <p:sp>
        <p:nvSpPr>
          <p:cNvPr id="13" name="table#389"/>
          <p:cNvSpPr/>
          <p:nvPr/>
        </p:nvSpPr>
        <p:spPr>
          <a:xfrm>
            <a:off x="859536" y="2761488"/>
            <a:ext cx="1426418" cy="356616"/>
          </a:xfrm>
          <a:prstGeom prst="rect">
            <a:avLst/>
          </a:prstGeom>
          <a:noFill/>
          <a:ln/>
        </p:spPr>
        <p:txBody>
          <a:bodyPr wrap="square" lIns="0" tIns="0" rIns="0" bIns="0" rtlCol="0" anchor="ctr"/>
          <a:lstStyle/>
          <a:p>
            <a:pPr indent="0" marL="0">
              <a:buNone/>
            </a:pPr>
            <a:r>
              <a:rPr lang="en-US" sz="950" b="1" u="sng" dirty="0">
                <a:solidFill>
                  <a:srgbClr val="1C2024"/>
                </a:solidFill>
                <a:latin typeface="Segoe UI" pitchFamily="34" charset="0"/>
                <a:ea typeface="Segoe UI" pitchFamily="34" charset="-122"/>
                <a:cs typeface="Segoe UI" pitchFamily="34" charset="-120"/>
                <a:hlinkClick r:id="rId1" invalidUrl="" action="" tgtFrame="" tooltip="Signal" history="1" highlightClick="0" endSnd="0">
                  <a:extLst>
                    <a:ext uri="{A12FA001-AC4F-418D-AE19-62706E023703}">
                      <ahyp:hlinkClr xmlns:ahyp="http://schemas.microsoft.com/office/drawing/2018/hyperlinkcolor" val="tx"/>
                    </a:ext>
                  </a:extLst>
                </a:hlinkClick>
              </a:rPr>
              <a:t>Signal</a:t>
            </a:r>
            <a:endParaRPr lang="en-US" sz="950" dirty="0"/>
          </a:p>
        </p:txBody>
      </p:sp>
      <p:sp>
        <p:nvSpPr>
          <p:cNvPr id="14" name="table#390"/>
          <p:cNvSpPr/>
          <p:nvPr/>
        </p:nvSpPr>
        <p:spPr>
          <a:xfrm>
            <a:off x="2468834" y="2761488"/>
            <a:ext cx="239199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Centralized servers</a:t>
            </a:r>
            <a:endParaRPr lang="en-US" sz="950" dirty="0"/>
          </a:p>
        </p:txBody>
      </p:sp>
      <p:sp>
        <p:nvSpPr>
          <p:cNvPr id="15" name="table#391"/>
          <p:cNvSpPr/>
          <p:nvPr/>
        </p:nvSpPr>
        <p:spPr>
          <a:xfrm>
            <a:off x="5043712" y="2761488"/>
            <a:ext cx="271385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Signal protocol</a:t>
            </a:r>
            <a:endParaRPr lang="en-US" sz="950" dirty="0"/>
          </a:p>
        </p:txBody>
      </p:sp>
      <p:sp>
        <p:nvSpPr>
          <p:cNvPr id="16" name="table#392"/>
          <p:cNvSpPr/>
          <p:nvPr/>
        </p:nvSpPr>
        <p:spPr>
          <a:xfrm>
            <a:off x="7940448" y="2761488"/>
            <a:ext cx="1029458" cy="356616"/>
          </a:xfrm>
          <a:prstGeom prst="rect">
            <a:avLst/>
          </a:prstGeom>
          <a:noFill/>
          <a:ln/>
        </p:spPr>
        <p:txBody>
          <a:bodyPr wrap="square" lIns="0" tIns="0" rIns="0" bIns="0" rtlCol="0" anchor="ctr"/>
          <a:lstStyle/>
          <a:p>
            <a:pPr algn="ctr" indent="0" marL="0">
              <a:buNone/>
            </a:pPr>
            <a:r>
              <a:rPr lang="en-US" sz="1100" dirty="0">
                <a:solidFill>
                  <a:srgbClr val="CDCED6"/>
                </a:solidFill>
                <a:latin typeface="Segoe UI" pitchFamily="34" charset="0"/>
                <a:ea typeface="Segoe UI" pitchFamily="34" charset="-122"/>
                <a:cs typeface="Segoe UI" pitchFamily="34" charset="-120"/>
              </a:rPr>
              <a:t>✕</a:t>
            </a:r>
            <a:endParaRPr lang="en-US" sz="1100" dirty="0"/>
          </a:p>
        </p:txBody>
      </p:sp>
      <p:sp>
        <p:nvSpPr>
          <p:cNvPr id="17" name="table#393"/>
          <p:cNvSpPr/>
          <p:nvPr/>
        </p:nvSpPr>
        <p:spPr>
          <a:xfrm>
            <a:off x="9152786" y="2761488"/>
            <a:ext cx="1029458"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18" name="table#394"/>
          <p:cNvSpPr/>
          <p:nvPr/>
        </p:nvSpPr>
        <p:spPr>
          <a:xfrm>
            <a:off x="10365125" y="2761488"/>
            <a:ext cx="1040187"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19" name="table#395"/>
          <p:cNvSpPr/>
          <p:nvPr/>
        </p:nvSpPr>
        <p:spPr>
          <a:xfrm>
            <a:off x="731520" y="3118104"/>
            <a:ext cx="10728655" cy="0"/>
          </a:xfrm>
          <a:prstGeom prst="line">
            <a:avLst/>
          </a:prstGeom>
          <a:noFill/>
          <a:ln w="9525">
            <a:solidFill>
              <a:srgbClr val="D9D9E0"/>
            </a:solidFill>
            <a:prstDash val="solid"/>
          </a:ln>
        </p:spPr>
      </p:sp>
      <p:sp>
        <p:nvSpPr>
          <p:cNvPr id="20" name="table#396"/>
          <p:cNvSpPr/>
          <p:nvPr/>
        </p:nvSpPr>
        <p:spPr>
          <a:xfrm>
            <a:off x="731520" y="3118104"/>
            <a:ext cx="10728655" cy="356616"/>
          </a:xfrm>
          <a:prstGeom prst="rect">
            <a:avLst/>
          </a:prstGeom>
          <a:solidFill>
            <a:srgbClr val="F9F9FB"/>
          </a:solidFill>
          <a:ln w="12700">
            <a:solidFill>
              <a:srgbClr val="F9F9FB"/>
            </a:solidFill>
            <a:prstDash val="solid"/>
          </a:ln>
        </p:spPr>
      </p:sp>
      <p:sp>
        <p:nvSpPr>
          <p:cNvPr id="21" name="table#397"/>
          <p:cNvSpPr/>
          <p:nvPr/>
        </p:nvSpPr>
        <p:spPr>
          <a:xfrm>
            <a:off x="859536" y="3118104"/>
            <a:ext cx="1426418" cy="356616"/>
          </a:xfrm>
          <a:prstGeom prst="rect">
            <a:avLst/>
          </a:prstGeom>
          <a:noFill/>
          <a:ln/>
        </p:spPr>
        <p:txBody>
          <a:bodyPr wrap="square" lIns="0" tIns="0" rIns="0" bIns="0" rtlCol="0" anchor="ctr"/>
          <a:lstStyle/>
          <a:p>
            <a:pPr indent="0" marL="0">
              <a:buNone/>
            </a:pPr>
            <a:r>
              <a:rPr lang="en-US" sz="950" b="1" u="sng" dirty="0">
                <a:solidFill>
                  <a:srgbClr val="1C2024"/>
                </a:solidFill>
                <a:latin typeface="Segoe UI" pitchFamily="34" charset="0"/>
                <a:ea typeface="Segoe UI" pitchFamily="34" charset="-122"/>
                <a:cs typeface="Segoe UI" pitchFamily="34" charset="-120"/>
                <a:hlinkClick r:id="rId2" invalidUrl="" action="" tgtFrame="" tooltip="Session" history="1" highlightClick="0" endSnd="0">
                  <a:extLst>
                    <a:ext uri="{A12FA001-AC4F-418D-AE19-62706E023703}">
                      <ahyp:hlinkClr xmlns:ahyp="http://schemas.microsoft.com/office/drawing/2018/hyperlinkcolor" val="tx"/>
                    </a:ext>
                  </a:extLst>
                </a:hlinkClick>
              </a:rPr>
              <a:t>Session</a:t>
            </a:r>
            <a:endParaRPr lang="en-US" sz="950" dirty="0"/>
          </a:p>
        </p:txBody>
      </p:sp>
      <p:sp>
        <p:nvSpPr>
          <p:cNvPr id="22" name="table#398"/>
          <p:cNvSpPr/>
          <p:nvPr/>
        </p:nvSpPr>
        <p:spPr>
          <a:xfrm>
            <a:off x="2468834" y="3118104"/>
            <a:ext cx="239199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Onion routing</a:t>
            </a:r>
            <a:endParaRPr lang="en-US" sz="950" dirty="0"/>
          </a:p>
        </p:txBody>
      </p:sp>
      <p:sp>
        <p:nvSpPr>
          <p:cNvPr id="23" name="table#399"/>
          <p:cNvSpPr/>
          <p:nvPr/>
        </p:nvSpPr>
        <p:spPr>
          <a:xfrm>
            <a:off x="5043712" y="3118104"/>
            <a:ext cx="271385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Session protocol</a:t>
            </a:r>
            <a:endParaRPr lang="en-US" sz="950" dirty="0"/>
          </a:p>
        </p:txBody>
      </p:sp>
      <p:sp>
        <p:nvSpPr>
          <p:cNvPr id="24" name="table#400"/>
          <p:cNvSpPr/>
          <p:nvPr/>
        </p:nvSpPr>
        <p:spPr>
          <a:xfrm>
            <a:off x="7940448" y="3118104"/>
            <a:ext cx="1029458" cy="356616"/>
          </a:xfrm>
          <a:prstGeom prst="rect">
            <a:avLst/>
          </a:prstGeom>
          <a:noFill/>
          <a:ln/>
        </p:spPr>
        <p:txBody>
          <a:bodyPr wrap="square" lIns="0" tIns="0" rIns="0" bIns="0" rtlCol="0" anchor="ctr"/>
          <a:lstStyle/>
          <a:p>
            <a:pPr algn="ctr" indent="0" marL="0">
              <a:buNone/>
            </a:pPr>
            <a:r>
              <a:rPr lang="en-US" sz="1100" dirty="0">
                <a:solidFill>
                  <a:srgbClr val="CDCED6"/>
                </a:solidFill>
                <a:latin typeface="Segoe UI" pitchFamily="34" charset="0"/>
                <a:ea typeface="Segoe UI" pitchFamily="34" charset="-122"/>
                <a:cs typeface="Segoe UI" pitchFamily="34" charset="-120"/>
              </a:rPr>
              <a:t>✕</a:t>
            </a:r>
            <a:endParaRPr lang="en-US" sz="1100" dirty="0"/>
          </a:p>
        </p:txBody>
      </p:sp>
      <p:sp>
        <p:nvSpPr>
          <p:cNvPr id="25" name="table#401"/>
          <p:cNvSpPr/>
          <p:nvPr/>
        </p:nvSpPr>
        <p:spPr>
          <a:xfrm>
            <a:off x="9152786" y="3118104"/>
            <a:ext cx="1029458"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26" name="table#402"/>
          <p:cNvSpPr/>
          <p:nvPr/>
        </p:nvSpPr>
        <p:spPr>
          <a:xfrm>
            <a:off x="10365125" y="3118104"/>
            <a:ext cx="1040187"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27" name="table#403"/>
          <p:cNvSpPr/>
          <p:nvPr/>
        </p:nvSpPr>
        <p:spPr>
          <a:xfrm>
            <a:off x="731520" y="3474720"/>
            <a:ext cx="10728655" cy="0"/>
          </a:xfrm>
          <a:prstGeom prst="line">
            <a:avLst/>
          </a:prstGeom>
          <a:noFill/>
          <a:ln w="9525">
            <a:solidFill>
              <a:srgbClr val="D9D9E0"/>
            </a:solidFill>
            <a:prstDash val="solid"/>
          </a:ln>
        </p:spPr>
      </p:sp>
      <p:sp>
        <p:nvSpPr>
          <p:cNvPr id="28" name="table#404"/>
          <p:cNvSpPr/>
          <p:nvPr/>
        </p:nvSpPr>
        <p:spPr>
          <a:xfrm>
            <a:off x="859536" y="3474720"/>
            <a:ext cx="1426418" cy="356616"/>
          </a:xfrm>
          <a:prstGeom prst="rect">
            <a:avLst/>
          </a:prstGeom>
          <a:noFill/>
          <a:ln/>
        </p:spPr>
        <p:txBody>
          <a:bodyPr wrap="square" lIns="0" tIns="0" rIns="0" bIns="0" rtlCol="0" anchor="ctr"/>
          <a:lstStyle/>
          <a:p>
            <a:pPr indent="0" marL="0">
              <a:buNone/>
            </a:pPr>
            <a:r>
              <a:rPr lang="en-US" sz="950" b="1" u="sng" dirty="0">
                <a:solidFill>
                  <a:srgbClr val="1C2024"/>
                </a:solidFill>
                <a:latin typeface="Segoe UI" pitchFamily="34" charset="0"/>
                <a:ea typeface="Segoe UI" pitchFamily="34" charset="-122"/>
                <a:cs typeface="Segoe UI" pitchFamily="34" charset="-120"/>
                <a:hlinkClick r:id="rId3" invalidUrl="" action="" tgtFrame="" tooltip="Meshtastic" history="1" highlightClick="0" endSnd="0">
                  <a:extLst>
                    <a:ext uri="{A12FA001-AC4F-418D-AE19-62706E023703}">
                      <ahyp:hlinkClr xmlns:ahyp="http://schemas.microsoft.com/office/drawing/2018/hyperlinkcolor" val="tx"/>
                    </a:ext>
                  </a:extLst>
                </a:hlinkClick>
              </a:rPr>
              <a:t>Meshtastic</a:t>
            </a:r>
            <a:endParaRPr lang="en-US" sz="950" dirty="0"/>
          </a:p>
        </p:txBody>
      </p:sp>
      <p:sp>
        <p:nvSpPr>
          <p:cNvPr id="29" name="table#405"/>
          <p:cNvSpPr/>
          <p:nvPr/>
        </p:nvSpPr>
        <p:spPr>
          <a:xfrm>
            <a:off x="2468834" y="3474720"/>
            <a:ext cx="239199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LoRa radio</a:t>
            </a:r>
            <a:endParaRPr lang="en-US" sz="950" dirty="0"/>
          </a:p>
        </p:txBody>
      </p:sp>
      <p:sp>
        <p:nvSpPr>
          <p:cNvPr id="30" name="table#406"/>
          <p:cNvSpPr/>
          <p:nvPr/>
        </p:nvSpPr>
        <p:spPr>
          <a:xfrm>
            <a:off x="5043712" y="3474720"/>
            <a:ext cx="271385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AES-256 + Curve25519</a:t>
            </a:r>
            <a:endParaRPr lang="en-US" sz="950" dirty="0"/>
          </a:p>
        </p:txBody>
      </p:sp>
      <p:sp>
        <p:nvSpPr>
          <p:cNvPr id="31" name="table#407"/>
          <p:cNvSpPr/>
          <p:nvPr/>
        </p:nvSpPr>
        <p:spPr>
          <a:xfrm>
            <a:off x="7940448" y="3474720"/>
            <a:ext cx="1029458"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32" name="table#408"/>
          <p:cNvSpPr/>
          <p:nvPr/>
        </p:nvSpPr>
        <p:spPr>
          <a:xfrm>
            <a:off x="9152786" y="3474720"/>
            <a:ext cx="1029458" cy="356616"/>
          </a:xfrm>
          <a:prstGeom prst="rect">
            <a:avLst/>
          </a:prstGeom>
          <a:noFill/>
          <a:ln/>
        </p:spPr>
        <p:txBody>
          <a:bodyPr wrap="square" lIns="0" tIns="0" rIns="0" bIns="0" rtlCol="0" anchor="ctr"/>
          <a:lstStyle/>
          <a:p>
            <a:pPr algn="ctr" indent="0" marL="0">
              <a:buNone/>
            </a:pPr>
            <a:r>
              <a:rPr lang="en-US" sz="1100" dirty="0">
                <a:solidFill>
                  <a:srgbClr val="CDCED6"/>
                </a:solidFill>
                <a:latin typeface="Segoe UI" pitchFamily="34" charset="0"/>
                <a:ea typeface="Segoe UI" pitchFamily="34" charset="-122"/>
                <a:cs typeface="Segoe UI" pitchFamily="34" charset="-120"/>
              </a:rPr>
              <a:t>✕</a:t>
            </a:r>
            <a:endParaRPr lang="en-US" sz="1100" dirty="0"/>
          </a:p>
        </p:txBody>
      </p:sp>
      <p:sp>
        <p:nvSpPr>
          <p:cNvPr id="33" name="table#409"/>
          <p:cNvSpPr/>
          <p:nvPr/>
        </p:nvSpPr>
        <p:spPr>
          <a:xfrm>
            <a:off x="10365125" y="3474720"/>
            <a:ext cx="1040187"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34" name="table#410"/>
          <p:cNvSpPr/>
          <p:nvPr/>
        </p:nvSpPr>
        <p:spPr>
          <a:xfrm>
            <a:off x="731520" y="3831336"/>
            <a:ext cx="10728655" cy="0"/>
          </a:xfrm>
          <a:prstGeom prst="line">
            <a:avLst/>
          </a:prstGeom>
          <a:noFill/>
          <a:ln w="9525">
            <a:solidFill>
              <a:srgbClr val="D9D9E0"/>
            </a:solidFill>
            <a:prstDash val="solid"/>
          </a:ln>
        </p:spPr>
      </p:sp>
      <p:sp>
        <p:nvSpPr>
          <p:cNvPr id="35" name="table#411"/>
          <p:cNvSpPr/>
          <p:nvPr/>
        </p:nvSpPr>
        <p:spPr>
          <a:xfrm>
            <a:off x="731520" y="3831336"/>
            <a:ext cx="10728655" cy="356616"/>
          </a:xfrm>
          <a:prstGeom prst="rect">
            <a:avLst/>
          </a:prstGeom>
          <a:solidFill>
            <a:srgbClr val="F9F9FB"/>
          </a:solidFill>
          <a:ln w="12700">
            <a:solidFill>
              <a:srgbClr val="F9F9FB"/>
            </a:solidFill>
            <a:prstDash val="solid"/>
          </a:ln>
        </p:spPr>
      </p:sp>
      <p:sp>
        <p:nvSpPr>
          <p:cNvPr id="36" name="table#412"/>
          <p:cNvSpPr/>
          <p:nvPr/>
        </p:nvSpPr>
        <p:spPr>
          <a:xfrm>
            <a:off x="859536" y="3831336"/>
            <a:ext cx="1426418" cy="356616"/>
          </a:xfrm>
          <a:prstGeom prst="rect">
            <a:avLst/>
          </a:prstGeom>
          <a:noFill/>
          <a:ln/>
        </p:spPr>
        <p:txBody>
          <a:bodyPr wrap="square" lIns="0" tIns="0" rIns="0" bIns="0" rtlCol="0" anchor="ctr"/>
          <a:lstStyle/>
          <a:p>
            <a:pPr indent="0" marL="0">
              <a:buNone/>
            </a:pPr>
            <a:r>
              <a:rPr lang="en-US" sz="950" b="1" u="sng" dirty="0">
                <a:solidFill>
                  <a:srgbClr val="1C2024"/>
                </a:solidFill>
                <a:latin typeface="Segoe UI" pitchFamily="34" charset="0"/>
                <a:ea typeface="Segoe UI" pitchFamily="34" charset="-122"/>
                <a:cs typeface="Segoe UI" pitchFamily="34" charset="-120"/>
                <a:hlinkClick r:id="rId4" invalidUrl="" action="" tgtFrame="" tooltip="goTenna" history="1" highlightClick="0" endSnd="0">
                  <a:extLst>
                    <a:ext uri="{A12FA001-AC4F-418D-AE19-62706E023703}">
                      <ahyp:hlinkClr xmlns:ahyp="http://schemas.microsoft.com/office/drawing/2018/hyperlinkcolor" val="tx"/>
                    </a:ext>
                  </a:extLst>
                </a:hlinkClick>
              </a:rPr>
              <a:t>goTenna</a:t>
            </a:r>
            <a:endParaRPr lang="en-US" sz="950" dirty="0"/>
          </a:p>
        </p:txBody>
      </p:sp>
      <p:sp>
        <p:nvSpPr>
          <p:cNvPr id="37" name="table#413"/>
          <p:cNvSpPr/>
          <p:nvPr/>
        </p:nvSpPr>
        <p:spPr>
          <a:xfrm>
            <a:off x="2468834" y="3831336"/>
            <a:ext cx="239199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Proprietary sub-GHz radio</a:t>
            </a:r>
            <a:endParaRPr lang="en-US" sz="950" dirty="0"/>
          </a:p>
        </p:txBody>
      </p:sp>
      <p:sp>
        <p:nvSpPr>
          <p:cNvPr id="38" name="table#414"/>
          <p:cNvSpPr/>
          <p:nvPr/>
        </p:nvSpPr>
        <p:spPr>
          <a:xfrm>
            <a:off x="5043712" y="3831336"/>
            <a:ext cx="271385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AES-256 + ECC-384</a:t>
            </a:r>
            <a:endParaRPr lang="en-US" sz="950" dirty="0"/>
          </a:p>
        </p:txBody>
      </p:sp>
      <p:sp>
        <p:nvSpPr>
          <p:cNvPr id="39" name="table#415"/>
          <p:cNvSpPr/>
          <p:nvPr/>
        </p:nvSpPr>
        <p:spPr>
          <a:xfrm>
            <a:off x="7940448" y="3831336"/>
            <a:ext cx="1029458"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40" name="table#416"/>
          <p:cNvSpPr/>
          <p:nvPr/>
        </p:nvSpPr>
        <p:spPr>
          <a:xfrm>
            <a:off x="9152786" y="3831336"/>
            <a:ext cx="1029458" cy="356616"/>
          </a:xfrm>
          <a:prstGeom prst="rect">
            <a:avLst/>
          </a:prstGeom>
          <a:noFill/>
          <a:ln/>
        </p:spPr>
        <p:txBody>
          <a:bodyPr wrap="square" lIns="0" tIns="0" rIns="0" bIns="0" rtlCol="0" anchor="ctr"/>
          <a:lstStyle/>
          <a:p>
            <a:pPr algn="ctr" indent="0" marL="0">
              <a:buNone/>
            </a:pPr>
            <a:r>
              <a:rPr lang="en-US" sz="1100" dirty="0">
                <a:solidFill>
                  <a:srgbClr val="CDCED6"/>
                </a:solidFill>
                <a:latin typeface="Segoe UI" pitchFamily="34" charset="0"/>
                <a:ea typeface="Segoe UI" pitchFamily="34" charset="-122"/>
                <a:cs typeface="Segoe UI" pitchFamily="34" charset="-120"/>
              </a:rPr>
              <a:t>✕</a:t>
            </a:r>
            <a:endParaRPr lang="en-US" sz="1100" dirty="0"/>
          </a:p>
        </p:txBody>
      </p:sp>
      <p:sp>
        <p:nvSpPr>
          <p:cNvPr id="41" name="table#417"/>
          <p:cNvSpPr/>
          <p:nvPr/>
        </p:nvSpPr>
        <p:spPr>
          <a:xfrm>
            <a:off x="10365125" y="3831336"/>
            <a:ext cx="1040187" cy="356616"/>
          </a:xfrm>
          <a:prstGeom prst="rect">
            <a:avLst/>
          </a:prstGeom>
          <a:noFill/>
          <a:ln/>
        </p:spPr>
        <p:txBody>
          <a:bodyPr wrap="square" lIns="0" tIns="0" rIns="0" bIns="0" rtlCol="0" anchor="ctr"/>
          <a:lstStyle/>
          <a:p>
            <a:pPr algn="ctr" indent="0" marL="0">
              <a:buNone/>
            </a:pPr>
            <a:r>
              <a:rPr lang="en-US" sz="1100" dirty="0">
                <a:solidFill>
                  <a:srgbClr val="CDCED6"/>
                </a:solidFill>
                <a:latin typeface="Segoe UI" pitchFamily="34" charset="0"/>
                <a:ea typeface="Segoe UI" pitchFamily="34" charset="-122"/>
                <a:cs typeface="Segoe UI" pitchFamily="34" charset="-120"/>
              </a:rPr>
              <a:t>✕</a:t>
            </a:r>
            <a:endParaRPr lang="en-US" sz="1100" dirty="0"/>
          </a:p>
        </p:txBody>
      </p:sp>
      <p:sp>
        <p:nvSpPr>
          <p:cNvPr id="42" name="table#418"/>
          <p:cNvSpPr/>
          <p:nvPr/>
        </p:nvSpPr>
        <p:spPr>
          <a:xfrm>
            <a:off x="731520" y="4187952"/>
            <a:ext cx="10728655" cy="0"/>
          </a:xfrm>
          <a:prstGeom prst="line">
            <a:avLst/>
          </a:prstGeom>
          <a:noFill/>
          <a:ln w="9525">
            <a:solidFill>
              <a:srgbClr val="D9D9E0"/>
            </a:solidFill>
            <a:prstDash val="solid"/>
          </a:ln>
        </p:spPr>
      </p:sp>
      <p:sp>
        <p:nvSpPr>
          <p:cNvPr id="43" name="table#419"/>
          <p:cNvSpPr/>
          <p:nvPr/>
        </p:nvSpPr>
        <p:spPr>
          <a:xfrm>
            <a:off x="859536" y="4187952"/>
            <a:ext cx="1426418" cy="356616"/>
          </a:xfrm>
          <a:prstGeom prst="rect">
            <a:avLst/>
          </a:prstGeom>
          <a:noFill/>
          <a:ln/>
        </p:spPr>
        <p:txBody>
          <a:bodyPr wrap="square" lIns="0" tIns="0" rIns="0" bIns="0" rtlCol="0" anchor="ctr"/>
          <a:lstStyle/>
          <a:p>
            <a:pPr indent="0" marL="0">
              <a:buNone/>
            </a:pPr>
            <a:r>
              <a:rPr lang="en-US" sz="950" b="1" u="sng" dirty="0">
                <a:solidFill>
                  <a:srgbClr val="1C2024"/>
                </a:solidFill>
                <a:latin typeface="Segoe UI" pitchFamily="34" charset="0"/>
                <a:ea typeface="Segoe UI" pitchFamily="34" charset="-122"/>
                <a:cs typeface="Segoe UI" pitchFamily="34" charset="-120"/>
                <a:hlinkClick r:id="rId5" invalidUrl="" action="" tgtFrame="" tooltip="Bridgefy" history="1" highlightClick="0" endSnd="0">
                  <a:extLst>
                    <a:ext uri="{A12FA001-AC4F-418D-AE19-62706E023703}">
                      <ahyp:hlinkClr xmlns:ahyp="http://schemas.microsoft.com/office/drawing/2018/hyperlinkcolor" val="tx"/>
                    </a:ext>
                  </a:extLst>
                </a:hlinkClick>
              </a:rPr>
              <a:t>Bridgefy</a:t>
            </a:r>
            <a:endParaRPr lang="en-US" sz="950" dirty="0"/>
          </a:p>
        </p:txBody>
      </p:sp>
      <p:sp>
        <p:nvSpPr>
          <p:cNvPr id="44" name="table#420"/>
          <p:cNvSpPr/>
          <p:nvPr/>
        </p:nvSpPr>
        <p:spPr>
          <a:xfrm>
            <a:off x="2468834" y="4187952"/>
            <a:ext cx="239199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Bluetooth + WiFi</a:t>
            </a:r>
            <a:endParaRPr lang="en-US" sz="950" dirty="0"/>
          </a:p>
        </p:txBody>
      </p:sp>
      <p:sp>
        <p:nvSpPr>
          <p:cNvPr id="45" name="table#421"/>
          <p:cNvSpPr/>
          <p:nvPr/>
        </p:nvSpPr>
        <p:spPr>
          <a:xfrm>
            <a:off x="5043712" y="4187952"/>
            <a:ext cx="271385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Signal (libsignal)</a:t>
            </a:r>
            <a:endParaRPr lang="en-US" sz="950" dirty="0"/>
          </a:p>
        </p:txBody>
      </p:sp>
      <p:sp>
        <p:nvSpPr>
          <p:cNvPr id="46" name="table#422"/>
          <p:cNvSpPr/>
          <p:nvPr/>
        </p:nvSpPr>
        <p:spPr>
          <a:xfrm>
            <a:off x="7940448" y="4187952"/>
            <a:ext cx="1029458"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47" name="table#423"/>
          <p:cNvSpPr/>
          <p:nvPr/>
        </p:nvSpPr>
        <p:spPr>
          <a:xfrm>
            <a:off x="9152786" y="4187952"/>
            <a:ext cx="1029458"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48" name="table#424"/>
          <p:cNvSpPr/>
          <p:nvPr/>
        </p:nvSpPr>
        <p:spPr>
          <a:xfrm>
            <a:off x="10365125" y="4187952"/>
            <a:ext cx="1040187" cy="356616"/>
          </a:xfrm>
          <a:prstGeom prst="rect">
            <a:avLst/>
          </a:prstGeom>
          <a:noFill/>
          <a:ln/>
        </p:spPr>
        <p:txBody>
          <a:bodyPr wrap="square" lIns="0" tIns="0" rIns="0" bIns="0" rtlCol="0" anchor="ctr"/>
          <a:lstStyle/>
          <a:p>
            <a:pPr algn="ctr" indent="0" marL="0">
              <a:buNone/>
            </a:pPr>
            <a:r>
              <a:rPr lang="en-US" sz="1100" dirty="0">
                <a:solidFill>
                  <a:srgbClr val="CDCED6"/>
                </a:solidFill>
                <a:latin typeface="Segoe UI" pitchFamily="34" charset="0"/>
                <a:ea typeface="Segoe UI" pitchFamily="34" charset="-122"/>
                <a:cs typeface="Segoe UI" pitchFamily="34" charset="-120"/>
              </a:rPr>
              <a:t>✕</a:t>
            </a:r>
            <a:endParaRPr lang="en-US" sz="1100" dirty="0"/>
          </a:p>
        </p:txBody>
      </p:sp>
      <p:sp>
        <p:nvSpPr>
          <p:cNvPr id="49" name="table#425"/>
          <p:cNvSpPr/>
          <p:nvPr/>
        </p:nvSpPr>
        <p:spPr>
          <a:xfrm>
            <a:off x="731520" y="4544568"/>
            <a:ext cx="10728655" cy="0"/>
          </a:xfrm>
          <a:prstGeom prst="line">
            <a:avLst/>
          </a:prstGeom>
          <a:noFill/>
          <a:ln w="9525">
            <a:solidFill>
              <a:srgbClr val="D9D9E0"/>
            </a:solidFill>
            <a:prstDash val="solid"/>
          </a:ln>
        </p:spPr>
      </p:sp>
      <p:sp>
        <p:nvSpPr>
          <p:cNvPr id="50" name="table#426"/>
          <p:cNvSpPr/>
          <p:nvPr/>
        </p:nvSpPr>
        <p:spPr>
          <a:xfrm>
            <a:off x="731520" y="4544568"/>
            <a:ext cx="10728655" cy="356616"/>
          </a:xfrm>
          <a:prstGeom prst="rect">
            <a:avLst/>
          </a:prstGeom>
          <a:solidFill>
            <a:srgbClr val="F9F9FB"/>
          </a:solidFill>
          <a:ln w="12700">
            <a:solidFill>
              <a:srgbClr val="F9F9FB"/>
            </a:solidFill>
            <a:prstDash val="solid"/>
          </a:ln>
        </p:spPr>
      </p:sp>
      <p:sp>
        <p:nvSpPr>
          <p:cNvPr id="51" name="table#427"/>
          <p:cNvSpPr/>
          <p:nvPr/>
        </p:nvSpPr>
        <p:spPr>
          <a:xfrm>
            <a:off x="859536" y="4544568"/>
            <a:ext cx="1426418" cy="356616"/>
          </a:xfrm>
          <a:prstGeom prst="rect">
            <a:avLst/>
          </a:prstGeom>
          <a:noFill/>
          <a:ln/>
        </p:spPr>
        <p:txBody>
          <a:bodyPr wrap="square" lIns="0" tIns="0" rIns="0" bIns="0" rtlCol="0" anchor="ctr"/>
          <a:lstStyle/>
          <a:p>
            <a:pPr indent="0" marL="0">
              <a:buNone/>
            </a:pPr>
            <a:r>
              <a:rPr lang="en-US" sz="950" b="1" u="sng" dirty="0">
                <a:solidFill>
                  <a:srgbClr val="1C2024"/>
                </a:solidFill>
                <a:latin typeface="Segoe UI" pitchFamily="34" charset="0"/>
                <a:ea typeface="Segoe UI" pitchFamily="34" charset="-122"/>
                <a:cs typeface="Segoe UI" pitchFamily="34" charset="-120"/>
                <a:hlinkClick r:id="rId6" invalidUrl="" action="" tgtFrame="" tooltip="Briar" history="1" highlightClick="0" endSnd="0">
                  <a:extLst>
                    <a:ext uri="{A12FA001-AC4F-418D-AE19-62706E023703}">
                      <ahyp:hlinkClr xmlns:ahyp="http://schemas.microsoft.com/office/drawing/2018/hyperlinkcolor" val="tx"/>
                    </a:ext>
                  </a:extLst>
                </a:hlinkClick>
              </a:rPr>
              <a:t>Briar</a:t>
            </a:r>
            <a:endParaRPr lang="en-US" sz="950" dirty="0"/>
          </a:p>
        </p:txBody>
      </p:sp>
      <p:sp>
        <p:nvSpPr>
          <p:cNvPr id="52" name="table#428"/>
          <p:cNvSpPr/>
          <p:nvPr/>
        </p:nvSpPr>
        <p:spPr>
          <a:xfrm>
            <a:off x="2468834" y="4544568"/>
            <a:ext cx="239199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Bluetooth + WiFi + Tor</a:t>
            </a:r>
            <a:endParaRPr lang="en-US" sz="950" dirty="0"/>
          </a:p>
        </p:txBody>
      </p:sp>
      <p:sp>
        <p:nvSpPr>
          <p:cNvPr id="53" name="table#429"/>
          <p:cNvSpPr/>
          <p:nvPr/>
        </p:nvSpPr>
        <p:spPr>
          <a:xfrm>
            <a:off x="5043712" y="4544568"/>
            <a:ext cx="271385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Bramble</a:t>
            </a:r>
            <a:endParaRPr lang="en-US" sz="950" dirty="0"/>
          </a:p>
        </p:txBody>
      </p:sp>
      <p:sp>
        <p:nvSpPr>
          <p:cNvPr id="54" name="table#430"/>
          <p:cNvSpPr/>
          <p:nvPr/>
        </p:nvSpPr>
        <p:spPr>
          <a:xfrm>
            <a:off x="7940448" y="4544568"/>
            <a:ext cx="1029458"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55" name="table#431"/>
          <p:cNvSpPr/>
          <p:nvPr/>
        </p:nvSpPr>
        <p:spPr>
          <a:xfrm>
            <a:off x="9152786" y="4544568"/>
            <a:ext cx="1029458"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56" name="table#432"/>
          <p:cNvSpPr/>
          <p:nvPr/>
        </p:nvSpPr>
        <p:spPr>
          <a:xfrm>
            <a:off x="10365125" y="4544568"/>
            <a:ext cx="1040187"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57" name="table#433"/>
          <p:cNvSpPr/>
          <p:nvPr/>
        </p:nvSpPr>
        <p:spPr>
          <a:xfrm>
            <a:off x="731520" y="4901184"/>
            <a:ext cx="10728655" cy="0"/>
          </a:xfrm>
          <a:prstGeom prst="line">
            <a:avLst/>
          </a:prstGeom>
          <a:noFill/>
          <a:ln w="9525">
            <a:solidFill>
              <a:srgbClr val="D9D9E0"/>
            </a:solidFill>
            <a:prstDash val="solid"/>
          </a:ln>
        </p:spPr>
      </p:sp>
      <p:sp>
        <p:nvSpPr>
          <p:cNvPr id="58" name="table#434"/>
          <p:cNvSpPr/>
          <p:nvPr/>
        </p:nvSpPr>
        <p:spPr>
          <a:xfrm>
            <a:off x="859536" y="4901184"/>
            <a:ext cx="1426418" cy="356616"/>
          </a:xfrm>
          <a:prstGeom prst="rect">
            <a:avLst/>
          </a:prstGeom>
          <a:noFill/>
          <a:ln/>
        </p:spPr>
        <p:txBody>
          <a:bodyPr wrap="square" lIns="0" tIns="0" rIns="0" bIns="0" rtlCol="0" anchor="ctr"/>
          <a:lstStyle/>
          <a:p>
            <a:pPr indent="0" marL="0">
              <a:buNone/>
            </a:pPr>
            <a:r>
              <a:rPr lang="en-US" sz="950" b="1" u="sng" dirty="0">
                <a:solidFill>
                  <a:srgbClr val="1C2024"/>
                </a:solidFill>
                <a:latin typeface="Segoe UI" pitchFamily="34" charset="0"/>
                <a:ea typeface="Segoe UI" pitchFamily="34" charset="-122"/>
                <a:cs typeface="Segoe UI" pitchFamily="34" charset="-120"/>
                <a:hlinkClick r:id="rId7" invalidUrl="" action="" tgtFrame="" tooltip="bitchat" history="1" highlightClick="0" endSnd="0">
                  <a:extLst>
                    <a:ext uri="{A12FA001-AC4F-418D-AE19-62706E023703}">
                      <ahyp:hlinkClr xmlns:ahyp="http://schemas.microsoft.com/office/drawing/2018/hyperlinkcolor" val="tx"/>
                    </a:ext>
                  </a:extLst>
                </a:hlinkClick>
              </a:rPr>
              <a:t>bitchat</a:t>
            </a:r>
            <a:endParaRPr lang="en-US" sz="950" dirty="0"/>
          </a:p>
        </p:txBody>
      </p:sp>
      <p:sp>
        <p:nvSpPr>
          <p:cNvPr id="59" name="table#435"/>
          <p:cNvSpPr/>
          <p:nvPr/>
        </p:nvSpPr>
        <p:spPr>
          <a:xfrm>
            <a:off x="2468834" y="4901184"/>
            <a:ext cx="239199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Bluetooth + Nostr</a:t>
            </a:r>
            <a:endParaRPr lang="en-US" sz="950" dirty="0"/>
          </a:p>
        </p:txBody>
      </p:sp>
      <p:sp>
        <p:nvSpPr>
          <p:cNvPr id="60" name="table#436"/>
          <p:cNvSpPr/>
          <p:nvPr/>
        </p:nvSpPr>
        <p:spPr>
          <a:xfrm>
            <a:off x="5043712" y="4901184"/>
            <a:ext cx="271385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Noise XX</a:t>
            </a:r>
            <a:endParaRPr lang="en-US" sz="950" dirty="0"/>
          </a:p>
        </p:txBody>
      </p:sp>
      <p:sp>
        <p:nvSpPr>
          <p:cNvPr id="61" name="table#437"/>
          <p:cNvSpPr/>
          <p:nvPr/>
        </p:nvSpPr>
        <p:spPr>
          <a:xfrm>
            <a:off x="7940448" y="4901184"/>
            <a:ext cx="1029458"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62" name="table#438"/>
          <p:cNvSpPr/>
          <p:nvPr/>
        </p:nvSpPr>
        <p:spPr>
          <a:xfrm>
            <a:off x="9152786" y="4901184"/>
            <a:ext cx="1029458"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63" name="table#439"/>
          <p:cNvSpPr/>
          <p:nvPr/>
        </p:nvSpPr>
        <p:spPr>
          <a:xfrm>
            <a:off x="10365125" y="4901184"/>
            <a:ext cx="1040187"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64" name="table#440"/>
          <p:cNvSpPr/>
          <p:nvPr/>
        </p:nvSpPr>
        <p:spPr>
          <a:xfrm>
            <a:off x="731520" y="5257800"/>
            <a:ext cx="10728655" cy="0"/>
          </a:xfrm>
          <a:prstGeom prst="line">
            <a:avLst/>
          </a:prstGeom>
          <a:noFill/>
          <a:ln w="9525">
            <a:solidFill>
              <a:srgbClr val="D9D9E0"/>
            </a:solidFill>
            <a:prstDash val="solid"/>
          </a:ln>
        </p:spPr>
      </p:sp>
      <p:sp>
        <p:nvSpPr>
          <p:cNvPr id="65" name="table#441"/>
          <p:cNvSpPr/>
          <p:nvPr/>
        </p:nvSpPr>
        <p:spPr>
          <a:xfrm>
            <a:off x="731520" y="5257800"/>
            <a:ext cx="10728655" cy="356616"/>
          </a:xfrm>
          <a:prstGeom prst="rect">
            <a:avLst/>
          </a:prstGeom>
          <a:solidFill>
            <a:srgbClr val="F9F9FB"/>
          </a:solidFill>
          <a:ln w="12700">
            <a:solidFill>
              <a:srgbClr val="F9F9FB"/>
            </a:solidFill>
            <a:prstDash val="solid"/>
          </a:ln>
        </p:spPr>
      </p:sp>
      <p:sp>
        <p:nvSpPr>
          <p:cNvPr id="66" name="table#442"/>
          <p:cNvSpPr/>
          <p:nvPr/>
        </p:nvSpPr>
        <p:spPr>
          <a:xfrm>
            <a:off x="841248" y="5317236"/>
            <a:ext cx="649224" cy="237744"/>
          </a:xfrm>
          <a:prstGeom prst="roundRect">
            <a:avLst>
              <a:gd name="adj" fmla="val 50000"/>
            </a:avLst>
          </a:prstGeom>
          <a:solidFill>
            <a:srgbClr val="1C2024"/>
          </a:solidFill>
          <a:ln w="9525">
            <a:solidFill>
              <a:srgbClr val="1C2024"/>
            </a:solidFill>
            <a:prstDash val="solid"/>
          </a:ln>
        </p:spPr>
      </p:sp>
      <p:sp>
        <p:nvSpPr>
          <p:cNvPr id="67" name="table#443"/>
          <p:cNvSpPr/>
          <p:nvPr/>
        </p:nvSpPr>
        <p:spPr>
          <a:xfrm>
            <a:off x="841248" y="5317236"/>
            <a:ext cx="649224" cy="237744"/>
          </a:xfrm>
          <a:prstGeom prst="rect">
            <a:avLst/>
          </a:prstGeom>
          <a:noFill/>
          <a:ln/>
        </p:spPr>
        <p:txBody>
          <a:bodyPr wrap="square" lIns="0" tIns="0" rIns="0" bIns="0" rtlCol="0" anchor="ctr"/>
          <a:lstStyle/>
          <a:p>
            <a:pPr algn="ctr" indent="0" marL="0">
              <a:buNone/>
            </a:pPr>
            <a:r>
              <a:rPr lang="en-US" sz="800" b="1" u="sng" spc="80" kern="0" dirty="0">
                <a:solidFill>
                  <a:srgbClr val="FFFFFF"/>
                </a:solidFill>
                <a:latin typeface="Consolas" pitchFamily="34" charset="0"/>
                <a:ea typeface="Consolas" pitchFamily="34" charset="-122"/>
                <a:cs typeface="Consolas" pitchFamily="34" charset="-120"/>
                <a:hlinkClick r:id="rId8" invalidUrl="" action="" tgtFrame="" tooltip="Airhop" history="1" highlightClick="0" endSnd="0">
                  <a:extLst>
                    <a:ext uri="{A12FA001-AC4F-418D-AE19-62706E023703}">
                      <ahyp:hlinkClr xmlns:ahyp="http://schemas.microsoft.com/office/drawing/2018/hyperlinkcolor" val="tx"/>
                    </a:ext>
                  </a:extLst>
                </a:hlinkClick>
              </a:rPr>
              <a:t>AIRHOP</a:t>
            </a:r>
            <a:endParaRPr lang="en-US" sz="800" dirty="0"/>
          </a:p>
        </p:txBody>
      </p:sp>
      <p:sp>
        <p:nvSpPr>
          <p:cNvPr id="68" name="table#444"/>
          <p:cNvSpPr/>
          <p:nvPr/>
        </p:nvSpPr>
        <p:spPr>
          <a:xfrm>
            <a:off x="2468834" y="5257800"/>
            <a:ext cx="239199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Bluetooth + WiFi + Nostr</a:t>
            </a:r>
            <a:endParaRPr lang="en-US" sz="950" dirty="0"/>
          </a:p>
        </p:txBody>
      </p:sp>
      <p:sp>
        <p:nvSpPr>
          <p:cNvPr id="69" name="table#445"/>
          <p:cNvSpPr/>
          <p:nvPr/>
        </p:nvSpPr>
        <p:spPr>
          <a:xfrm>
            <a:off x="5043712" y="5257800"/>
            <a:ext cx="2713857" cy="35661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Noise XX + Double Ratchet</a:t>
            </a:r>
            <a:endParaRPr lang="en-US" sz="950" dirty="0"/>
          </a:p>
        </p:txBody>
      </p:sp>
      <p:sp>
        <p:nvSpPr>
          <p:cNvPr id="70" name="table#446"/>
          <p:cNvSpPr/>
          <p:nvPr/>
        </p:nvSpPr>
        <p:spPr>
          <a:xfrm>
            <a:off x="7940448" y="5257800"/>
            <a:ext cx="1029458"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71" name="table#447"/>
          <p:cNvSpPr/>
          <p:nvPr/>
        </p:nvSpPr>
        <p:spPr>
          <a:xfrm>
            <a:off x="9152786" y="5257800"/>
            <a:ext cx="1029458"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72" name="table#448"/>
          <p:cNvSpPr/>
          <p:nvPr/>
        </p:nvSpPr>
        <p:spPr>
          <a:xfrm>
            <a:off x="10365125" y="5257800"/>
            <a:ext cx="1040187" cy="356616"/>
          </a:xfrm>
          <a:prstGeom prst="rect">
            <a:avLst/>
          </a:prstGeom>
          <a:noFill/>
          <a:ln/>
        </p:spPr>
        <p:txBody>
          <a:bodyPr wrap="square" lIns="0" tIns="0" rIns="0" bIns="0" rtlCol="0" anchor="ctr"/>
          <a:lstStyle/>
          <a:p>
            <a:pPr algn="ctr" indent="0" marL="0">
              <a:buNone/>
            </a:pPr>
            <a:r>
              <a:rPr lang="en-US" sz="1100" dirty="0">
                <a:solidFill>
                  <a:srgbClr val="1C2024"/>
                </a:solidFill>
                <a:latin typeface="Segoe UI" pitchFamily="34" charset="0"/>
                <a:ea typeface="Segoe UI" pitchFamily="34" charset="-122"/>
                <a:cs typeface="Segoe UI" pitchFamily="34" charset="-120"/>
              </a:rPr>
              <a:t>✓</a:t>
            </a:r>
            <a:endParaRPr lang="en-US" sz="1100" dirty="0"/>
          </a:p>
        </p:txBody>
      </p:sp>
      <p:sp>
        <p:nvSpPr>
          <p:cNvPr id="73" name="kicker#449"/>
          <p:cNvSpPr/>
          <p:nvPr/>
        </p:nvSpPr>
        <p:spPr>
          <a:xfrm>
            <a:off x="566928" y="5888736"/>
            <a:ext cx="11057839" cy="274320"/>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Briar is Android and desktop only. Bridgefy is closed. bitchat is the one that is alive and growing, which is why Airhop joins its mesh instead of starting a second one.</a:t>
            </a:r>
            <a:endParaRPr lang="en-US" sz="950" dirty="0"/>
          </a:p>
        </p:txBody>
      </p:sp>
      <p:sp>
        <p:nvSpPr>
          <p:cNvPr id="75" name="Shape 72"/>
          <p:cNvSpPr/>
          <p:nvPr/>
        </p:nvSpPr>
        <p:spPr>
          <a:xfrm>
            <a:off x="566928" y="6327648"/>
            <a:ext cx="11057839" cy="0"/>
          </a:xfrm>
          <a:prstGeom prst="line">
            <a:avLst/>
          </a:prstGeom>
          <a:noFill/>
          <a:ln w="9525">
            <a:solidFill>
              <a:srgbClr val="D9D9E0"/>
            </a:solidFill>
            <a:prstDash val="solid"/>
          </a:ln>
        </p:spPr>
      </p:sp>
      <p:sp>
        <p:nvSpPr>
          <p:cNvPr id="76" name="Shape 73"/>
          <p:cNvSpPr/>
          <p:nvPr/>
        </p:nvSpPr>
        <p:spPr>
          <a:xfrm>
            <a:off x="566928" y="6441948"/>
            <a:ext cx="24725" cy="24725"/>
          </a:xfrm>
          <a:prstGeom prst="rect">
            <a:avLst/>
          </a:prstGeom>
          <a:solidFill>
            <a:srgbClr val="1C2024"/>
          </a:solidFill>
          <a:ln w="12700">
            <a:solidFill>
              <a:srgbClr val="1C2024"/>
            </a:solidFill>
            <a:prstDash val="solid"/>
          </a:ln>
        </p:spPr>
      </p:sp>
      <p:sp>
        <p:nvSpPr>
          <p:cNvPr id="77" name="Shape 74"/>
          <p:cNvSpPr/>
          <p:nvPr/>
        </p:nvSpPr>
        <p:spPr>
          <a:xfrm>
            <a:off x="590702" y="6441948"/>
            <a:ext cx="24725" cy="24725"/>
          </a:xfrm>
          <a:prstGeom prst="rect">
            <a:avLst/>
          </a:prstGeom>
          <a:solidFill>
            <a:srgbClr val="1C2024"/>
          </a:solidFill>
          <a:ln w="12700">
            <a:solidFill>
              <a:srgbClr val="1C2024"/>
            </a:solidFill>
            <a:prstDash val="solid"/>
          </a:ln>
        </p:spPr>
      </p:sp>
      <p:sp>
        <p:nvSpPr>
          <p:cNvPr id="78" name="Shape 75"/>
          <p:cNvSpPr/>
          <p:nvPr/>
        </p:nvSpPr>
        <p:spPr>
          <a:xfrm>
            <a:off x="780898" y="6441948"/>
            <a:ext cx="24725" cy="24725"/>
          </a:xfrm>
          <a:prstGeom prst="rect">
            <a:avLst/>
          </a:prstGeom>
          <a:solidFill>
            <a:srgbClr val="1C2024"/>
          </a:solidFill>
          <a:ln w="12700">
            <a:solidFill>
              <a:srgbClr val="1C2024"/>
            </a:solidFill>
            <a:prstDash val="solid"/>
          </a:ln>
        </p:spPr>
      </p:sp>
      <p:sp>
        <p:nvSpPr>
          <p:cNvPr id="79" name="Shape 76"/>
          <p:cNvSpPr/>
          <p:nvPr/>
        </p:nvSpPr>
        <p:spPr>
          <a:xfrm>
            <a:off x="804672" y="6441948"/>
            <a:ext cx="24725" cy="24725"/>
          </a:xfrm>
          <a:prstGeom prst="rect">
            <a:avLst/>
          </a:prstGeom>
          <a:solidFill>
            <a:srgbClr val="1C2024"/>
          </a:solidFill>
          <a:ln w="12700">
            <a:solidFill>
              <a:srgbClr val="1C2024"/>
            </a:solidFill>
            <a:prstDash val="solid"/>
          </a:ln>
        </p:spPr>
      </p:sp>
      <p:sp>
        <p:nvSpPr>
          <p:cNvPr id="80" name="Shape 77"/>
          <p:cNvSpPr/>
          <p:nvPr/>
        </p:nvSpPr>
        <p:spPr>
          <a:xfrm>
            <a:off x="590702" y="6465722"/>
            <a:ext cx="24725" cy="24725"/>
          </a:xfrm>
          <a:prstGeom prst="rect">
            <a:avLst/>
          </a:prstGeom>
          <a:solidFill>
            <a:srgbClr val="1C2024"/>
          </a:solidFill>
          <a:ln w="12700">
            <a:solidFill>
              <a:srgbClr val="1C2024"/>
            </a:solidFill>
            <a:prstDash val="solid"/>
          </a:ln>
        </p:spPr>
      </p:sp>
      <p:sp>
        <p:nvSpPr>
          <p:cNvPr id="81" name="Shape 78"/>
          <p:cNvSpPr/>
          <p:nvPr/>
        </p:nvSpPr>
        <p:spPr>
          <a:xfrm>
            <a:off x="614477" y="6465722"/>
            <a:ext cx="24725" cy="24725"/>
          </a:xfrm>
          <a:prstGeom prst="rect">
            <a:avLst/>
          </a:prstGeom>
          <a:solidFill>
            <a:srgbClr val="1C2024"/>
          </a:solidFill>
          <a:ln w="12700">
            <a:solidFill>
              <a:srgbClr val="1C2024"/>
            </a:solidFill>
            <a:prstDash val="solid"/>
          </a:ln>
        </p:spPr>
      </p:sp>
      <p:sp>
        <p:nvSpPr>
          <p:cNvPr id="82" name="Shape 79"/>
          <p:cNvSpPr/>
          <p:nvPr/>
        </p:nvSpPr>
        <p:spPr>
          <a:xfrm>
            <a:off x="757123" y="6465722"/>
            <a:ext cx="24725" cy="24725"/>
          </a:xfrm>
          <a:prstGeom prst="rect">
            <a:avLst/>
          </a:prstGeom>
          <a:solidFill>
            <a:srgbClr val="1C2024"/>
          </a:solidFill>
          <a:ln w="12700">
            <a:solidFill>
              <a:srgbClr val="1C2024"/>
            </a:solidFill>
            <a:prstDash val="solid"/>
          </a:ln>
        </p:spPr>
      </p:sp>
      <p:sp>
        <p:nvSpPr>
          <p:cNvPr id="83" name="Shape 80"/>
          <p:cNvSpPr/>
          <p:nvPr/>
        </p:nvSpPr>
        <p:spPr>
          <a:xfrm>
            <a:off x="780898" y="6465722"/>
            <a:ext cx="24725" cy="24725"/>
          </a:xfrm>
          <a:prstGeom prst="rect">
            <a:avLst/>
          </a:prstGeom>
          <a:solidFill>
            <a:srgbClr val="1C2024"/>
          </a:solidFill>
          <a:ln w="12700">
            <a:solidFill>
              <a:srgbClr val="1C2024"/>
            </a:solidFill>
            <a:prstDash val="solid"/>
          </a:ln>
        </p:spPr>
      </p:sp>
      <p:sp>
        <p:nvSpPr>
          <p:cNvPr id="84" name="Shape 81"/>
          <p:cNvSpPr/>
          <p:nvPr/>
        </p:nvSpPr>
        <p:spPr>
          <a:xfrm>
            <a:off x="614477" y="6489497"/>
            <a:ext cx="24725" cy="24725"/>
          </a:xfrm>
          <a:prstGeom prst="rect">
            <a:avLst/>
          </a:prstGeom>
          <a:solidFill>
            <a:srgbClr val="1C2024"/>
          </a:solidFill>
          <a:ln w="12700">
            <a:solidFill>
              <a:srgbClr val="1C2024"/>
            </a:solidFill>
            <a:prstDash val="solid"/>
          </a:ln>
        </p:spPr>
      </p:sp>
      <p:sp>
        <p:nvSpPr>
          <p:cNvPr id="85" name="Shape 82"/>
          <p:cNvSpPr/>
          <p:nvPr/>
        </p:nvSpPr>
        <p:spPr>
          <a:xfrm>
            <a:off x="638251" y="6489497"/>
            <a:ext cx="24725" cy="24725"/>
          </a:xfrm>
          <a:prstGeom prst="rect">
            <a:avLst/>
          </a:prstGeom>
          <a:solidFill>
            <a:srgbClr val="1C2024"/>
          </a:solidFill>
          <a:ln w="12700">
            <a:solidFill>
              <a:srgbClr val="1C2024"/>
            </a:solidFill>
            <a:prstDash val="solid"/>
          </a:ln>
        </p:spPr>
      </p:sp>
      <p:sp>
        <p:nvSpPr>
          <p:cNvPr id="86" name="Shape 83"/>
          <p:cNvSpPr/>
          <p:nvPr/>
        </p:nvSpPr>
        <p:spPr>
          <a:xfrm>
            <a:off x="685800" y="6489497"/>
            <a:ext cx="24725" cy="24725"/>
          </a:xfrm>
          <a:prstGeom prst="rect">
            <a:avLst/>
          </a:prstGeom>
          <a:solidFill>
            <a:srgbClr val="1C2024"/>
          </a:solidFill>
          <a:ln w="12700">
            <a:solidFill>
              <a:srgbClr val="1C2024"/>
            </a:solidFill>
            <a:prstDash val="solid"/>
          </a:ln>
        </p:spPr>
      </p:sp>
      <p:sp>
        <p:nvSpPr>
          <p:cNvPr id="87" name="Shape 84"/>
          <p:cNvSpPr/>
          <p:nvPr/>
        </p:nvSpPr>
        <p:spPr>
          <a:xfrm>
            <a:off x="733349" y="6489497"/>
            <a:ext cx="24725" cy="24725"/>
          </a:xfrm>
          <a:prstGeom prst="rect">
            <a:avLst/>
          </a:prstGeom>
          <a:solidFill>
            <a:srgbClr val="1C2024"/>
          </a:solidFill>
          <a:ln w="12700">
            <a:solidFill>
              <a:srgbClr val="1C2024"/>
            </a:solidFill>
            <a:prstDash val="solid"/>
          </a:ln>
        </p:spPr>
      </p:sp>
      <p:sp>
        <p:nvSpPr>
          <p:cNvPr id="88" name="Shape 85"/>
          <p:cNvSpPr/>
          <p:nvPr/>
        </p:nvSpPr>
        <p:spPr>
          <a:xfrm>
            <a:off x="757123" y="6489497"/>
            <a:ext cx="24725" cy="24725"/>
          </a:xfrm>
          <a:prstGeom prst="rect">
            <a:avLst/>
          </a:prstGeom>
          <a:solidFill>
            <a:srgbClr val="1C2024"/>
          </a:solidFill>
          <a:ln w="12700">
            <a:solidFill>
              <a:srgbClr val="1C2024"/>
            </a:solidFill>
            <a:prstDash val="solid"/>
          </a:ln>
        </p:spPr>
      </p:sp>
      <p:sp>
        <p:nvSpPr>
          <p:cNvPr id="89" name="Shape 86"/>
          <p:cNvSpPr/>
          <p:nvPr/>
        </p:nvSpPr>
        <p:spPr>
          <a:xfrm>
            <a:off x="638251" y="6513271"/>
            <a:ext cx="24725" cy="24725"/>
          </a:xfrm>
          <a:prstGeom prst="rect">
            <a:avLst/>
          </a:prstGeom>
          <a:solidFill>
            <a:srgbClr val="1C2024"/>
          </a:solidFill>
          <a:ln w="12700">
            <a:solidFill>
              <a:srgbClr val="1C2024"/>
            </a:solidFill>
            <a:prstDash val="solid"/>
          </a:ln>
        </p:spPr>
      </p:sp>
      <p:sp>
        <p:nvSpPr>
          <p:cNvPr id="90" name="Shape 87"/>
          <p:cNvSpPr/>
          <p:nvPr/>
        </p:nvSpPr>
        <p:spPr>
          <a:xfrm>
            <a:off x="662026" y="6513271"/>
            <a:ext cx="24725" cy="24725"/>
          </a:xfrm>
          <a:prstGeom prst="rect">
            <a:avLst/>
          </a:prstGeom>
          <a:solidFill>
            <a:srgbClr val="1C2024"/>
          </a:solidFill>
          <a:ln w="12700">
            <a:solidFill>
              <a:srgbClr val="1C2024"/>
            </a:solidFill>
            <a:prstDash val="solid"/>
          </a:ln>
        </p:spPr>
      </p:sp>
      <p:sp>
        <p:nvSpPr>
          <p:cNvPr id="91" name="Shape 88"/>
          <p:cNvSpPr/>
          <p:nvPr/>
        </p:nvSpPr>
        <p:spPr>
          <a:xfrm>
            <a:off x="685800" y="6513271"/>
            <a:ext cx="24725" cy="24725"/>
          </a:xfrm>
          <a:prstGeom prst="rect">
            <a:avLst/>
          </a:prstGeom>
          <a:solidFill>
            <a:srgbClr val="1C2024"/>
          </a:solidFill>
          <a:ln w="12700">
            <a:solidFill>
              <a:srgbClr val="1C2024"/>
            </a:solidFill>
            <a:prstDash val="solid"/>
          </a:ln>
        </p:spPr>
      </p:sp>
      <p:sp>
        <p:nvSpPr>
          <p:cNvPr id="92" name="Shape 89"/>
          <p:cNvSpPr/>
          <p:nvPr/>
        </p:nvSpPr>
        <p:spPr>
          <a:xfrm>
            <a:off x="709574" y="6513271"/>
            <a:ext cx="24725" cy="24725"/>
          </a:xfrm>
          <a:prstGeom prst="rect">
            <a:avLst/>
          </a:prstGeom>
          <a:solidFill>
            <a:srgbClr val="1C2024"/>
          </a:solidFill>
          <a:ln w="12700">
            <a:solidFill>
              <a:srgbClr val="1C2024"/>
            </a:solidFill>
            <a:prstDash val="solid"/>
          </a:ln>
        </p:spPr>
      </p:sp>
      <p:sp>
        <p:nvSpPr>
          <p:cNvPr id="93" name="Shape 90"/>
          <p:cNvSpPr/>
          <p:nvPr/>
        </p:nvSpPr>
        <p:spPr>
          <a:xfrm>
            <a:off x="733349" y="6513271"/>
            <a:ext cx="24725" cy="24725"/>
          </a:xfrm>
          <a:prstGeom prst="rect">
            <a:avLst/>
          </a:prstGeom>
          <a:solidFill>
            <a:srgbClr val="1C2024"/>
          </a:solidFill>
          <a:ln w="12700">
            <a:solidFill>
              <a:srgbClr val="1C2024"/>
            </a:solidFill>
            <a:prstDash val="solid"/>
          </a:ln>
        </p:spPr>
      </p:sp>
      <p:sp>
        <p:nvSpPr>
          <p:cNvPr id="94" name="Shape 91"/>
          <p:cNvSpPr/>
          <p:nvPr/>
        </p:nvSpPr>
        <p:spPr>
          <a:xfrm>
            <a:off x="662026" y="6537046"/>
            <a:ext cx="24725" cy="24725"/>
          </a:xfrm>
          <a:prstGeom prst="rect">
            <a:avLst/>
          </a:prstGeom>
          <a:solidFill>
            <a:srgbClr val="1C2024"/>
          </a:solidFill>
          <a:ln w="12700">
            <a:solidFill>
              <a:srgbClr val="1C2024"/>
            </a:solidFill>
            <a:prstDash val="solid"/>
          </a:ln>
        </p:spPr>
      </p:sp>
      <p:sp>
        <p:nvSpPr>
          <p:cNvPr id="95" name="Shape 92"/>
          <p:cNvSpPr/>
          <p:nvPr/>
        </p:nvSpPr>
        <p:spPr>
          <a:xfrm>
            <a:off x="685800" y="6537046"/>
            <a:ext cx="24725" cy="24725"/>
          </a:xfrm>
          <a:prstGeom prst="rect">
            <a:avLst/>
          </a:prstGeom>
          <a:solidFill>
            <a:srgbClr val="1C2024"/>
          </a:solidFill>
          <a:ln w="12700">
            <a:solidFill>
              <a:srgbClr val="1C2024"/>
            </a:solidFill>
            <a:prstDash val="solid"/>
          </a:ln>
        </p:spPr>
      </p:sp>
      <p:sp>
        <p:nvSpPr>
          <p:cNvPr id="96" name="Shape 93"/>
          <p:cNvSpPr/>
          <p:nvPr/>
        </p:nvSpPr>
        <p:spPr>
          <a:xfrm>
            <a:off x="709574" y="6537046"/>
            <a:ext cx="24725" cy="24725"/>
          </a:xfrm>
          <a:prstGeom prst="rect">
            <a:avLst/>
          </a:prstGeom>
          <a:solidFill>
            <a:srgbClr val="1C2024"/>
          </a:solidFill>
          <a:ln w="12700">
            <a:solidFill>
              <a:srgbClr val="1C2024"/>
            </a:solidFill>
            <a:prstDash val="solid"/>
          </a:ln>
        </p:spPr>
      </p:sp>
      <p:sp>
        <p:nvSpPr>
          <p:cNvPr id="97" name="Shape 94"/>
          <p:cNvSpPr/>
          <p:nvPr/>
        </p:nvSpPr>
        <p:spPr>
          <a:xfrm>
            <a:off x="685800" y="6560820"/>
            <a:ext cx="24725" cy="24725"/>
          </a:xfrm>
          <a:prstGeom prst="rect">
            <a:avLst/>
          </a:prstGeom>
          <a:solidFill>
            <a:srgbClr val="1C2024"/>
          </a:solidFill>
          <a:ln w="12700">
            <a:solidFill>
              <a:srgbClr val="1C2024"/>
            </a:solidFill>
            <a:prstDash val="solid"/>
          </a:ln>
        </p:spPr>
      </p:sp>
      <p:sp>
        <p:nvSpPr>
          <p:cNvPr id="98" name="Text 95"/>
          <p:cNvSpPr/>
          <p:nvPr/>
        </p:nvSpPr>
        <p:spPr>
          <a:xfrm>
            <a:off x="914400" y="6391656"/>
            <a:ext cx="1828800" cy="219456"/>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AIRHOP</a:t>
            </a:r>
            <a:endParaRPr lang="en-US" sz="800" dirty="0"/>
          </a:p>
        </p:txBody>
      </p:sp>
      <p:sp>
        <p:nvSpPr>
          <p:cNvPr id="99" name="Text 96"/>
          <p:cNvSpPr/>
          <p:nvPr/>
        </p:nvSpPr>
        <p:spPr>
          <a:xfrm>
            <a:off x="9795967" y="6391656"/>
            <a:ext cx="1828800" cy="219456"/>
          </a:xfrm>
          <a:prstGeom prst="rect">
            <a:avLst/>
          </a:prstGeom>
          <a:noFill/>
          <a:ln/>
        </p:spPr>
        <p:txBody>
          <a:bodyPr wrap="square" lIns="0" tIns="0" rIns="0" bIns="0" rtlCol="0" anchor="ctr"/>
          <a:lstStyle/>
          <a:p>
            <a:pPr algn="r" indent="0" marL="0">
              <a:buNone/>
            </a:pPr>
            <a:r>
              <a:rPr lang="en-US" sz="800" dirty="0">
                <a:solidFill>
                  <a:srgbClr val="6E7178"/>
                </a:solidFill>
                <a:latin typeface="Consolas" pitchFamily="34" charset="0"/>
                <a:ea typeface="Consolas" pitchFamily="34" charset="-122"/>
                <a:cs typeface="Consolas" pitchFamily="34" charset="-120"/>
              </a:rPr>
              <a:t>04 / 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head#450"/>
          <p:cNvSpPr/>
          <p:nvPr/>
        </p:nvSpPr>
        <p:spPr>
          <a:xfrm>
            <a:off x="566928" y="402336"/>
            <a:ext cx="11057839" cy="182880"/>
          </a:xfrm>
          <a:prstGeom prst="rect">
            <a:avLst/>
          </a:prstGeom>
          <a:noFill/>
          <a:ln/>
        </p:spPr>
        <p:txBody>
          <a:bodyPr wrap="square" lIns="0" tIns="0" rIns="0" bIns="0" rtlCol="0" anchor="ctr"/>
          <a:lstStyle/>
          <a:p>
            <a:pPr indent="0" marL="0">
              <a:buNone/>
            </a:pPr>
            <a:r>
              <a:rPr lang="en-US" sz="900" b="1" spc="160" kern="0" dirty="0">
                <a:solidFill>
                  <a:srgbClr val="60646C"/>
                </a:solidFill>
                <a:latin typeface="Consolas" pitchFamily="34" charset="0"/>
                <a:ea typeface="Consolas" pitchFamily="34" charset="-122"/>
                <a:cs typeface="Consolas" pitchFamily="34" charset="-120"/>
              </a:rPr>
              <a:t>THE PRODUCT</a:t>
            </a:r>
            <a:endParaRPr lang="en-US" sz="900" dirty="0"/>
          </a:p>
        </p:txBody>
      </p:sp>
      <p:sp>
        <p:nvSpPr>
          <p:cNvPr id="3" name="head#451"/>
          <p:cNvSpPr/>
          <p:nvPr/>
        </p:nvSpPr>
        <p:spPr>
          <a:xfrm>
            <a:off x="566928" y="658368"/>
            <a:ext cx="11057839" cy="872338"/>
          </a:xfrm>
          <a:prstGeom prst="rect">
            <a:avLst/>
          </a:prstGeom>
          <a:noFill/>
          <a:ln/>
        </p:spPr>
        <p:txBody>
          <a:bodyPr wrap="square" lIns="0" tIns="0" rIns="0" bIns="0" rtlCol="0" anchor="t"/>
          <a:lstStyle/>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Shipped, on both stores,</a:t>
            </a:r>
            <a:endParaRPr lang="en-US" sz="2700" dirty="0"/>
          </a:p>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as an ordinary app.</a:t>
            </a:r>
            <a:endParaRPr lang="en-US" sz="2700" dirty="0"/>
          </a:p>
        </p:txBody>
      </p:sp>
      <p:sp>
        <p:nvSpPr>
          <p:cNvPr id="4" name="head#452"/>
          <p:cNvSpPr/>
          <p:nvPr/>
        </p:nvSpPr>
        <p:spPr>
          <a:xfrm>
            <a:off x="566928" y="1677010"/>
            <a:ext cx="9052560" cy="515112"/>
          </a:xfrm>
          <a:prstGeom prst="rect">
            <a:avLst/>
          </a:prstGeom>
          <a:noFill/>
          <a:ln/>
        </p:spPr>
        <p:txBody>
          <a:bodyPr wrap="square" lIns="0" tIns="0" rIns="0" bIns="0" rtlCol="0" anchor="t"/>
          <a:lstStyle/>
          <a:p>
            <a:pPr indent="0" marL="0">
              <a:lnSpc>
                <a:spcPct val="130000"/>
              </a:lnSpc>
              <a:buNone/>
            </a:pPr>
            <a:r>
              <a:rPr lang="en-US" sz="1300" dirty="0">
                <a:solidFill>
                  <a:srgbClr val="60646C"/>
                </a:solidFill>
                <a:latin typeface="Segoe UI" pitchFamily="34" charset="0"/>
                <a:ea typeface="Segoe UI" pitchFamily="34" charset="-122"/>
                <a:cs typeface="Segoe UI" pitchFamily="34" charset="-120"/>
              </a:rPr>
              <a:t>Four tabs, no pairing screen, and no keys for anyone to get wrong. Install it and it is already looking for people.</a:t>
            </a:r>
            <a:endParaRPr lang="en-US" sz="1300" dirty="0"/>
          </a:p>
        </p:txBody>
      </p:sp>
      <p:pic>
        <p:nvPicPr>
          <p:cNvPr id="5" name="screen0#453" descr="C:\Users\areeb\Desktop\airhop\deck\assets\screens\radar.png">    </p:cNvPr>
          <p:cNvPicPr>
            <a:picLocks noChangeAspect="1"/>
          </p:cNvPicPr>
          <p:nvPr/>
        </p:nvPicPr>
        <p:blipFill>
          <a:blip r:embed="rId1"/>
          <a:stretch>
            <a:fillRect/>
          </a:stretch>
        </p:blipFill>
        <p:spPr>
          <a:xfrm>
            <a:off x="1697337" y="2286000"/>
            <a:ext cx="1278825" cy="2615184"/>
          </a:xfrm>
          <a:prstGeom prst="rect">
            <a:avLst/>
          </a:prstGeom>
        </p:spPr>
      </p:pic>
      <p:sp>
        <p:nvSpPr>
          <p:cNvPr id="6" name="screen0#454"/>
          <p:cNvSpPr/>
          <p:nvPr/>
        </p:nvSpPr>
        <p:spPr>
          <a:xfrm>
            <a:off x="566928" y="5148072"/>
            <a:ext cx="2991002" cy="0"/>
          </a:xfrm>
          <a:prstGeom prst="line">
            <a:avLst/>
          </a:prstGeom>
          <a:noFill/>
          <a:ln w="9525">
            <a:solidFill>
              <a:srgbClr val="D9D9E0"/>
            </a:solidFill>
            <a:prstDash val="solid"/>
          </a:ln>
        </p:spPr>
      </p:sp>
      <p:sp>
        <p:nvSpPr>
          <p:cNvPr id="7" name="screen0#455"/>
          <p:cNvSpPr/>
          <p:nvPr/>
        </p:nvSpPr>
        <p:spPr>
          <a:xfrm>
            <a:off x="3667658" y="5029200"/>
            <a:ext cx="438912" cy="237744"/>
          </a:xfrm>
          <a:prstGeom prst="rect">
            <a:avLst/>
          </a:prstGeom>
          <a:noFill/>
          <a:ln/>
        </p:spPr>
        <p:txBody>
          <a:bodyPr wrap="square" lIns="0" tIns="0" rIns="0" bIns="0" rtlCol="0" anchor="ctr"/>
          <a:lstStyle/>
          <a:p>
            <a:pPr algn="r" indent="0" marL="0">
              <a:buNone/>
            </a:pPr>
            <a:r>
              <a:rPr lang="en-US" sz="950" b="1" spc="90" kern="0" dirty="0">
                <a:solidFill>
                  <a:srgbClr val="1C2024"/>
                </a:solidFill>
                <a:latin typeface="Consolas" pitchFamily="34" charset="0"/>
                <a:ea typeface="Consolas" pitchFamily="34" charset="-122"/>
                <a:cs typeface="Consolas" pitchFamily="34" charset="-120"/>
              </a:rPr>
              <a:t>MESH</a:t>
            </a:r>
            <a:endParaRPr lang="en-US" sz="950" dirty="0"/>
          </a:p>
        </p:txBody>
      </p:sp>
      <p:sp>
        <p:nvSpPr>
          <p:cNvPr id="8" name="screen0#456"/>
          <p:cNvSpPr/>
          <p:nvPr/>
        </p:nvSpPr>
        <p:spPr>
          <a:xfrm>
            <a:off x="566928" y="5358384"/>
            <a:ext cx="3539642" cy="274320"/>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Who is in range right now, placed by signal rather than distance.</a:t>
            </a:r>
            <a:endParaRPr lang="en-US" sz="950" dirty="0"/>
          </a:p>
        </p:txBody>
      </p:sp>
      <p:pic>
        <p:nvPicPr>
          <p:cNvPr id="9" name="screen1#457" descr="C:\Users\areeb\Desktop\airhop\deck\assets\screens\thread.png">    </p:cNvPr>
          <p:cNvPicPr>
            <a:picLocks noChangeAspect="1"/>
          </p:cNvPicPr>
          <p:nvPr/>
        </p:nvPicPr>
        <p:blipFill>
          <a:blip r:embed="rId2"/>
          <a:stretch>
            <a:fillRect/>
          </a:stretch>
        </p:blipFill>
        <p:spPr>
          <a:xfrm>
            <a:off x="5456435" y="2286000"/>
            <a:ext cx="1278825" cy="2615184"/>
          </a:xfrm>
          <a:prstGeom prst="rect">
            <a:avLst/>
          </a:prstGeom>
        </p:spPr>
      </p:pic>
      <p:sp>
        <p:nvSpPr>
          <p:cNvPr id="10" name="screen1#458"/>
          <p:cNvSpPr/>
          <p:nvPr/>
        </p:nvSpPr>
        <p:spPr>
          <a:xfrm>
            <a:off x="4326026" y="5148072"/>
            <a:ext cx="2122322" cy="0"/>
          </a:xfrm>
          <a:prstGeom prst="line">
            <a:avLst/>
          </a:prstGeom>
          <a:noFill/>
          <a:ln w="9525">
            <a:solidFill>
              <a:srgbClr val="D9D9E0"/>
            </a:solidFill>
            <a:prstDash val="solid"/>
          </a:ln>
        </p:spPr>
      </p:sp>
      <p:sp>
        <p:nvSpPr>
          <p:cNvPr id="11" name="screen1#459"/>
          <p:cNvSpPr/>
          <p:nvPr/>
        </p:nvSpPr>
        <p:spPr>
          <a:xfrm>
            <a:off x="6558077" y="5029200"/>
            <a:ext cx="1307592" cy="237744"/>
          </a:xfrm>
          <a:prstGeom prst="rect">
            <a:avLst/>
          </a:prstGeom>
          <a:noFill/>
          <a:ln/>
        </p:spPr>
        <p:txBody>
          <a:bodyPr wrap="square" lIns="0" tIns="0" rIns="0" bIns="0" rtlCol="0" anchor="ctr"/>
          <a:lstStyle/>
          <a:p>
            <a:pPr algn="r" indent="0" marL="0">
              <a:buNone/>
            </a:pPr>
            <a:r>
              <a:rPr lang="en-US" sz="950" b="1" spc="90" kern="0" dirty="0">
                <a:solidFill>
                  <a:srgbClr val="1C2024"/>
                </a:solidFill>
                <a:latin typeface="Consolas" pitchFamily="34" charset="0"/>
                <a:ea typeface="Consolas" pitchFamily="34" charset="-122"/>
                <a:cs typeface="Consolas" pitchFamily="34" charset="-120"/>
              </a:rPr>
              <a:t>DIRECT MESSAGE</a:t>
            </a:r>
            <a:endParaRPr lang="en-US" sz="950" dirty="0"/>
          </a:p>
        </p:txBody>
      </p:sp>
      <p:sp>
        <p:nvSpPr>
          <p:cNvPr id="12" name="screen1#460"/>
          <p:cNvSpPr/>
          <p:nvPr/>
        </p:nvSpPr>
        <p:spPr>
          <a:xfrm>
            <a:off x="4326026" y="5358384"/>
            <a:ext cx="3539642" cy="274320"/>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Encrypted by default. The phones relaying it carry it blind.</a:t>
            </a:r>
            <a:endParaRPr lang="en-US" sz="950" dirty="0"/>
          </a:p>
        </p:txBody>
      </p:sp>
      <p:pic>
        <p:nvPicPr>
          <p:cNvPr id="13" name="screen2#461" descr="C:\Users\areeb\Desktop\airhop\deck\assets\screens\wallet.png">    </p:cNvPr>
          <p:cNvPicPr>
            <a:picLocks noChangeAspect="1"/>
          </p:cNvPicPr>
          <p:nvPr/>
        </p:nvPicPr>
        <p:blipFill>
          <a:blip r:embed="rId3"/>
          <a:stretch>
            <a:fillRect/>
          </a:stretch>
        </p:blipFill>
        <p:spPr>
          <a:xfrm>
            <a:off x="9215534" y="2286000"/>
            <a:ext cx="1278825" cy="2615184"/>
          </a:xfrm>
          <a:prstGeom prst="rect">
            <a:avLst/>
          </a:prstGeom>
        </p:spPr>
      </p:pic>
      <p:sp>
        <p:nvSpPr>
          <p:cNvPr id="14" name="screen2#462"/>
          <p:cNvSpPr/>
          <p:nvPr/>
        </p:nvSpPr>
        <p:spPr>
          <a:xfrm>
            <a:off x="8085125" y="5148072"/>
            <a:ext cx="2817266" cy="0"/>
          </a:xfrm>
          <a:prstGeom prst="line">
            <a:avLst/>
          </a:prstGeom>
          <a:noFill/>
          <a:ln w="9525">
            <a:solidFill>
              <a:srgbClr val="D9D9E0"/>
            </a:solidFill>
            <a:prstDash val="solid"/>
          </a:ln>
        </p:spPr>
      </p:sp>
      <p:sp>
        <p:nvSpPr>
          <p:cNvPr id="15" name="screen2#463"/>
          <p:cNvSpPr/>
          <p:nvPr/>
        </p:nvSpPr>
        <p:spPr>
          <a:xfrm>
            <a:off x="11012119" y="5029200"/>
            <a:ext cx="612648" cy="237744"/>
          </a:xfrm>
          <a:prstGeom prst="rect">
            <a:avLst/>
          </a:prstGeom>
          <a:noFill/>
          <a:ln/>
        </p:spPr>
        <p:txBody>
          <a:bodyPr wrap="square" lIns="0" tIns="0" rIns="0" bIns="0" rtlCol="0" anchor="ctr"/>
          <a:lstStyle/>
          <a:p>
            <a:pPr algn="r" indent="0" marL="0">
              <a:buNone/>
            </a:pPr>
            <a:r>
              <a:rPr lang="en-US" sz="950" b="1" spc="90" kern="0" dirty="0">
                <a:solidFill>
                  <a:srgbClr val="1C2024"/>
                </a:solidFill>
                <a:latin typeface="Consolas" pitchFamily="34" charset="0"/>
                <a:ea typeface="Consolas" pitchFamily="34" charset="-122"/>
                <a:cs typeface="Consolas" pitchFamily="34" charset="-120"/>
              </a:rPr>
              <a:t>WALLET</a:t>
            </a:r>
            <a:endParaRPr lang="en-US" sz="950" dirty="0"/>
          </a:p>
        </p:txBody>
      </p:sp>
      <p:sp>
        <p:nvSpPr>
          <p:cNvPr id="16" name="screen2#464"/>
          <p:cNvSpPr/>
          <p:nvPr/>
        </p:nvSpPr>
        <p:spPr>
          <a:xfrm>
            <a:off x="8085125" y="5358384"/>
            <a:ext cx="3539642" cy="274320"/>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Hand ecash to the person beside you, neither phone online.</a:t>
            </a:r>
            <a:endParaRPr lang="en-US" sz="950" dirty="0"/>
          </a:p>
        </p:txBody>
      </p:sp>
      <p:sp>
        <p:nvSpPr>
          <p:cNvPr id="17" name="strip#465"/>
          <p:cNvSpPr/>
          <p:nvPr/>
        </p:nvSpPr>
        <p:spPr>
          <a:xfrm>
            <a:off x="566928" y="5632704"/>
            <a:ext cx="11057839" cy="512064"/>
          </a:xfrm>
          <a:prstGeom prst="roundRect">
            <a:avLst>
              <a:gd name="adj" fmla="val 19643"/>
            </a:avLst>
          </a:prstGeom>
          <a:solidFill>
            <a:srgbClr val="F9F9FB"/>
          </a:solidFill>
          <a:ln w="9525">
            <a:solidFill>
              <a:srgbClr val="D9D9E0"/>
            </a:solidFill>
            <a:prstDash val="solid"/>
          </a:ln>
        </p:spPr>
      </p:sp>
      <p:sp>
        <p:nvSpPr>
          <p:cNvPr id="18" name="strip#466"/>
          <p:cNvSpPr/>
          <p:nvPr/>
        </p:nvSpPr>
        <p:spPr>
          <a:xfrm>
            <a:off x="859536" y="5632704"/>
            <a:ext cx="914400" cy="512064"/>
          </a:xfrm>
          <a:prstGeom prst="rect">
            <a:avLst/>
          </a:prstGeom>
          <a:noFill/>
          <a:ln/>
        </p:spPr>
        <p:txBody>
          <a:bodyPr wrap="square" lIns="0" tIns="0" rIns="0" bIns="0" rtlCol="0" anchor="ctr"/>
          <a:lstStyle/>
          <a:p>
            <a:pPr indent="0" marL="0">
              <a:buNone/>
            </a:pPr>
            <a:r>
              <a:rPr lang="en-US" sz="800" b="1" spc="130" kern="0" dirty="0">
                <a:solidFill>
                  <a:srgbClr val="6E7178"/>
                </a:solidFill>
                <a:latin typeface="Consolas" pitchFamily="34" charset="0"/>
                <a:ea typeface="Consolas" pitchFamily="34" charset="-122"/>
                <a:cs typeface="Consolas" pitchFamily="34" charset="-120"/>
              </a:rPr>
              <a:t>DOWNLOAD</a:t>
            </a:r>
            <a:endParaRPr lang="en-US" sz="800" dirty="0"/>
          </a:p>
        </p:txBody>
      </p:sp>
      <p:sp>
        <p:nvSpPr>
          <p:cNvPr id="19" name="strip#467"/>
          <p:cNvSpPr/>
          <p:nvPr/>
        </p:nvSpPr>
        <p:spPr>
          <a:xfrm>
            <a:off x="1865376" y="5632704"/>
            <a:ext cx="5120640" cy="512064"/>
          </a:xfrm>
          <a:prstGeom prst="rect">
            <a:avLst/>
          </a:prstGeom>
          <a:noFill/>
          <a:ln/>
        </p:spPr>
        <p:txBody>
          <a:bodyPr wrap="square" lIns="0" tIns="0" rIns="0" bIns="0" rtlCol="0" anchor="ctr"/>
          <a:lstStyle/>
          <a:p>
            <a:pPr algn="l" indent="0" marL="0">
              <a:buNone/>
            </a:pPr>
            <a:r>
              <a:rPr lang="en-US" sz="950" b="1" u="sng" dirty="0">
                <a:solidFill>
                  <a:srgbClr val="1C2024"/>
                </a:solidFill>
                <a:latin typeface="Consolas" pitchFamily="34" charset="0"/>
                <a:ea typeface="Consolas" pitchFamily="34" charset="-122"/>
                <a:cs typeface="Consolas" pitchFamily="34" charset="-120"/>
                <a:hlinkClick r:id="rId4" invalidUrl="" action="" tgtFrame="" tooltip="App Store" history="1" highlightClick="0" endSnd="0">
                  <a:extLst>
                    <a:ext uri="{A12FA001-AC4F-418D-AE19-62706E023703}">
                      <ahyp:hlinkClr xmlns:ahyp="http://schemas.microsoft.com/office/drawing/2018/hyperlinkcolor" val="tx"/>
                    </a:ext>
                  </a:extLst>
                </a:hlinkClick>
              </a:rPr>
              <a:t>App Store</a:t>
            </a:r>
            <a:pPr algn="l" indent="0" marL="0">
              <a:buNone/>
            </a:pPr>
            <a:r>
              <a:rPr lang="en-US" sz="950" dirty="0">
                <a:solidFill>
                  <a:srgbClr val="D9D9E0"/>
                </a:solidFill>
                <a:latin typeface="Consolas" pitchFamily="34" charset="0"/>
                <a:ea typeface="Consolas" pitchFamily="34" charset="-122"/>
                <a:cs typeface="Consolas" pitchFamily="34" charset="-120"/>
              </a:rPr>
              <a:t>   ·   </a:t>
            </a:r>
            <a:pPr algn="l" indent="0" marL="0">
              <a:buNone/>
            </a:pPr>
            <a:r>
              <a:rPr lang="en-US" sz="950" b="1" u="sng" dirty="0">
                <a:solidFill>
                  <a:srgbClr val="1C2024"/>
                </a:solidFill>
                <a:latin typeface="Consolas" pitchFamily="34" charset="0"/>
                <a:ea typeface="Consolas" pitchFamily="34" charset="-122"/>
                <a:cs typeface="Consolas" pitchFamily="34" charset="-120"/>
                <a:hlinkClick r:id="rId5" invalidUrl="" action="" tgtFrame="" tooltip="Google Play" history="1" highlightClick="0" endSnd="0">
                  <a:extLst>
                    <a:ext uri="{A12FA001-AC4F-418D-AE19-62706E023703}">
                      <ahyp:hlinkClr xmlns:ahyp="http://schemas.microsoft.com/office/drawing/2018/hyperlinkcolor" val="tx"/>
                    </a:ext>
                  </a:extLst>
                </a:hlinkClick>
              </a:rPr>
              <a:t>Google Play</a:t>
            </a:r>
            <a:pPr algn="l" indent="0" marL="0">
              <a:buNone/>
            </a:pPr>
            <a:r>
              <a:rPr lang="en-US" sz="950" dirty="0">
                <a:solidFill>
                  <a:srgbClr val="D9D9E0"/>
                </a:solidFill>
                <a:latin typeface="Consolas" pitchFamily="34" charset="0"/>
                <a:ea typeface="Consolas" pitchFamily="34" charset="-122"/>
                <a:cs typeface="Consolas" pitchFamily="34" charset="-120"/>
              </a:rPr>
              <a:t>   ·   </a:t>
            </a:r>
            <a:pPr algn="l" indent="0" marL="0">
              <a:buNone/>
            </a:pPr>
            <a:r>
              <a:rPr lang="en-US" sz="950" b="1" u="sng" dirty="0">
                <a:solidFill>
                  <a:srgbClr val="1C2024"/>
                </a:solidFill>
                <a:latin typeface="Consolas" pitchFamily="34" charset="0"/>
                <a:ea typeface="Consolas" pitchFamily="34" charset="-122"/>
                <a:cs typeface="Consolas" pitchFamily="34" charset="-120"/>
                <a:hlinkClick r:id="rId6" invalidUrl="" action="" tgtFrame="" tooltip="F-Droid" history="1" highlightClick="0" endSnd="0">
                  <a:extLst>
                    <a:ext uri="{A12FA001-AC4F-418D-AE19-62706E023703}">
                      <ahyp:hlinkClr xmlns:ahyp="http://schemas.microsoft.com/office/drawing/2018/hyperlinkcolor" val="tx"/>
                    </a:ext>
                  </a:extLst>
                </a:hlinkClick>
              </a:rPr>
              <a:t>F-Droid</a:t>
            </a:r>
            <a:pPr algn="l" indent="0" marL="0">
              <a:buNone/>
            </a:pPr>
            <a:r>
              <a:rPr lang="en-US" sz="950" dirty="0">
                <a:solidFill>
                  <a:srgbClr val="D9D9E0"/>
                </a:solidFill>
                <a:latin typeface="Consolas" pitchFamily="34" charset="0"/>
                <a:ea typeface="Consolas" pitchFamily="34" charset="-122"/>
                <a:cs typeface="Consolas" pitchFamily="34" charset="-120"/>
              </a:rPr>
              <a:t>   ·   </a:t>
            </a:r>
            <a:pPr algn="l" indent="0" marL="0">
              <a:buNone/>
            </a:pPr>
            <a:r>
              <a:rPr lang="en-US" sz="950" b="1" u="sng" dirty="0">
                <a:solidFill>
                  <a:srgbClr val="1C2024"/>
                </a:solidFill>
                <a:latin typeface="Consolas" pitchFamily="34" charset="0"/>
                <a:ea typeface="Consolas" pitchFamily="34" charset="-122"/>
                <a:cs typeface="Consolas" pitchFamily="34" charset="-120"/>
                <a:hlinkClick r:id="rId7" invalidUrl="" action="" tgtFrame="" tooltip="APK" history="1" highlightClick="0" endSnd="0">
                  <a:extLst>
                    <a:ext uri="{A12FA001-AC4F-418D-AE19-62706E023703}">
                      <ahyp:hlinkClr xmlns:ahyp="http://schemas.microsoft.com/office/drawing/2018/hyperlinkcolor" val="tx"/>
                    </a:ext>
                  </a:extLst>
                </a:hlinkClick>
              </a:rPr>
              <a:t>APK</a:t>
            </a:r>
            <a:endParaRPr lang="en-US" sz="950" dirty="0"/>
          </a:p>
        </p:txBody>
      </p:sp>
      <p:sp>
        <p:nvSpPr>
          <p:cNvPr id="20" name="strip#468"/>
          <p:cNvSpPr/>
          <p:nvPr/>
        </p:nvSpPr>
        <p:spPr>
          <a:xfrm>
            <a:off x="7150608" y="5632704"/>
            <a:ext cx="4181551" cy="512064"/>
          </a:xfrm>
          <a:prstGeom prst="rect">
            <a:avLst/>
          </a:prstGeom>
          <a:noFill/>
          <a:ln/>
        </p:spPr>
        <p:txBody>
          <a:bodyPr wrap="square" lIns="0" tIns="0" rIns="0" bIns="0" rtlCol="0" anchor="ctr"/>
          <a:lstStyle/>
          <a:p>
            <a:pPr algn="r" indent="0" marL="0">
              <a:buNone/>
            </a:pPr>
            <a:r>
              <a:rPr lang="en-US" sz="950" dirty="0">
                <a:solidFill>
                  <a:srgbClr val="60646C"/>
                </a:solidFill>
                <a:latin typeface="Consolas" pitchFamily="34" charset="0"/>
                <a:ea typeface="Consolas" pitchFamily="34" charset="-122"/>
                <a:cs typeface="Consolas" pitchFamily="34" charset="-120"/>
              </a:rPr>
              <a:t>Next: v1.1 offline AI  ·  v1.8 SDK  ·  v1.9 external audit</a:t>
            </a:r>
            <a:endParaRPr lang="en-US" sz="950" dirty="0"/>
          </a:p>
        </p:txBody>
      </p:sp>
      <p:sp>
        <p:nvSpPr>
          <p:cNvPr id="22" name="Shape 16"/>
          <p:cNvSpPr/>
          <p:nvPr/>
        </p:nvSpPr>
        <p:spPr>
          <a:xfrm>
            <a:off x="566928" y="6327648"/>
            <a:ext cx="11057839" cy="0"/>
          </a:xfrm>
          <a:prstGeom prst="line">
            <a:avLst/>
          </a:prstGeom>
          <a:noFill/>
          <a:ln w="9525">
            <a:solidFill>
              <a:srgbClr val="D9D9E0"/>
            </a:solidFill>
            <a:prstDash val="solid"/>
          </a:ln>
        </p:spPr>
      </p:sp>
      <p:sp>
        <p:nvSpPr>
          <p:cNvPr id="23" name="Shape 17"/>
          <p:cNvSpPr/>
          <p:nvPr/>
        </p:nvSpPr>
        <p:spPr>
          <a:xfrm>
            <a:off x="566928" y="6441948"/>
            <a:ext cx="24725" cy="24725"/>
          </a:xfrm>
          <a:prstGeom prst="rect">
            <a:avLst/>
          </a:prstGeom>
          <a:solidFill>
            <a:srgbClr val="1C2024"/>
          </a:solidFill>
          <a:ln w="12700">
            <a:solidFill>
              <a:srgbClr val="1C2024"/>
            </a:solidFill>
            <a:prstDash val="solid"/>
          </a:ln>
        </p:spPr>
      </p:sp>
      <p:sp>
        <p:nvSpPr>
          <p:cNvPr id="24" name="Shape 18"/>
          <p:cNvSpPr/>
          <p:nvPr/>
        </p:nvSpPr>
        <p:spPr>
          <a:xfrm>
            <a:off x="590702" y="6441948"/>
            <a:ext cx="24725" cy="24725"/>
          </a:xfrm>
          <a:prstGeom prst="rect">
            <a:avLst/>
          </a:prstGeom>
          <a:solidFill>
            <a:srgbClr val="1C2024"/>
          </a:solidFill>
          <a:ln w="12700">
            <a:solidFill>
              <a:srgbClr val="1C2024"/>
            </a:solidFill>
            <a:prstDash val="solid"/>
          </a:ln>
        </p:spPr>
      </p:sp>
      <p:sp>
        <p:nvSpPr>
          <p:cNvPr id="25" name="Shape 19"/>
          <p:cNvSpPr/>
          <p:nvPr/>
        </p:nvSpPr>
        <p:spPr>
          <a:xfrm>
            <a:off x="780898" y="6441948"/>
            <a:ext cx="24725" cy="24725"/>
          </a:xfrm>
          <a:prstGeom prst="rect">
            <a:avLst/>
          </a:prstGeom>
          <a:solidFill>
            <a:srgbClr val="1C2024"/>
          </a:solidFill>
          <a:ln w="12700">
            <a:solidFill>
              <a:srgbClr val="1C2024"/>
            </a:solidFill>
            <a:prstDash val="solid"/>
          </a:ln>
        </p:spPr>
      </p:sp>
      <p:sp>
        <p:nvSpPr>
          <p:cNvPr id="26" name="Shape 20"/>
          <p:cNvSpPr/>
          <p:nvPr/>
        </p:nvSpPr>
        <p:spPr>
          <a:xfrm>
            <a:off x="804672" y="6441948"/>
            <a:ext cx="24725" cy="24725"/>
          </a:xfrm>
          <a:prstGeom prst="rect">
            <a:avLst/>
          </a:prstGeom>
          <a:solidFill>
            <a:srgbClr val="1C2024"/>
          </a:solidFill>
          <a:ln w="12700">
            <a:solidFill>
              <a:srgbClr val="1C2024"/>
            </a:solidFill>
            <a:prstDash val="solid"/>
          </a:ln>
        </p:spPr>
      </p:sp>
      <p:sp>
        <p:nvSpPr>
          <p:cNvPr id="27" name="Shape 21"/>
          <p:cNvSpPr/>
          <p:nvPr/>
        </p:nvSpPr>
        <p:spPr>
          <a:xfrm>
            <a:off x="590702" y="6465722"/>
            <a:ext cx="24725" cy="24725"/>
          </a:xfrm>
          <a:prstGeom prst="rect">
            <a:avLst/>
          </a:prstGeom>
          <a:solidFill>
            <a:srgbClr val="1C2024"/>
          </a:solidFill>
          <a:ln w="12700">
            <a:solidFill>
              <a:srgbClr val="1C2024"/>
            </a:solidFill>
            <a:prstDash val="solid"/>
          </a:ln>
        </p:spPr>
      </p:sp>
      <p:sp>
        <p:nvSpPr>
          <p:cNvPr id="28" name="Shape 22"/>
          <p:cNvSpPr/>
          <p:nvPr/>
        </p:nvSpPr>
        <p:spPr>
          <a:xfrm>
            <a:off x="614477" y="6465722"/>
            <a:ext cx="24725" cy="24725"/>
          </a:xfrm>
          <a:prstGeom prst="rect">
            <a:avLst/>
          </a:prstGeom>
          <a:solidFill>
            <a:srgbClr val="1C2024"/>
          </a:solidFill>
          <a:ln w="12700">
            <a:solidFill>
              <a:srgbClr val="1C2024"/>
            </a:solidFill>
            <a:prstDash val="solid"/>
          </a:ln>
        </p:spPr>
      </p:sp>
      <p:sp>
        <p:nvSpPr>
          <p:cNvPr id="29" name="Shape 23"/>
          <p:cNvSpPr/>
          <p:nvPr/>
        </p:nvSpPr>
        <p:spPr>
          <a:xfrm>
            <a:off x="757123" y="6465722"/>
            <a:ext cx="24725" cy="24725"/>
          </a:xfrm>
          <a:prstGeom prst="rect">
            <a:avLst/>
          </a:prstGeom>
          <a:solidFill>
            <a:srgbClr val="1C2024"/>
          </a:solidFill>
          <a:ln w="12700">
            <a:solidFill>
              <a:srgbClr val="1C2024"/>
            </a:solidFill>
            <a:prstDash val="solid"/>
          </a:ln>
        </p:spPr>
      </p:sp>
      <p:sp>
        <p:nvSpPr>
          <p:cNvPr id="30" name="Shape 24"/>
          <p:cNvSpPr/>
          <p:nvPr/>
        </p:nvSpPr>
        <p:spPr>
          <a:xfrm>
            <a:off x="780898" y="6465722"/>
            <a:ext cx="24725" cy="24725"/>
          </a:xfrm>
          <a:prstGeom prst="rect">
            <a:avLst/>
          </a:prstGeom>
          <a:solidFill>
            <a:srgbClr val="1C2024"/>
          </a:solidFill>
          <a:ln w="12700">
            <a:solidFill>
              <a:srgbClr val="1C2024"/>
            </a:solidFill>
            <a:prstDash val="solid"/>
          </a:ln>
        </p:spPr>
      </p:sp>
      <p:sp>
        <p:nvSpPr>
          <p:cNvPr id="31" name="Shape 25"/>
          <p:cNvSpPr/>
          <p:nvPr/>
        </p:nvSpPr>
        <p:spPr>
          <a:xfrm>
            <a:off x="614477" y="6489497"/>
            <a:ext cx="24725" cy="24725"/>
          </a:xfrm>
          <a:prstGeom prst="rect">
            <a:avLst/>
          </a:prstGeom>
          <a:solidFill>
            <a:srgbClr val="1C2024"/>
          </a:solidFill>
          <a:ln w="12700">
            <a:solidFill>
              <a:srgbClr val="1C2024"/>
            </a:solidFill>
            <a:prstDash val="solid"/>
          </a:ln>
        </p:spPr>
      </p:sp>
      <p:sp>
        <p:nvSpPr>
          <p:cNvPr id="32" name="Shape 26"/>
          <p:cNvSpPr/>
          <p:nvPr/>
        </p:nvSpPr>
        <p:spPr>
          <a:xfrm>
            <a:off x="638251" y="6489497"/>
            <a:ext cx="24725" cy="24725"/>
          </a:xfrm>
          <a:prstGeom prst="rect">
            <a:avLst/>
          </a:prstGeom>
          <a:solidFill>
            <a:srgbClr val="1C2024"/>
          </a:solidFill>
          <a:ln w="12700">
            <a:solidFill>
              <a:srgbClr val="1C2024"/>
            </a:solidFill>
            <a:prstDash val="solid"/>
          </a:ln>
        </p:spPr>
      </p:sp>
      <p:sp>
        <p:nvSpPr>
          <p:cNvPr id="33" name="Shape 27"/>
          <p:cNvSpPr/>
          <p:nvPr/>
        </p:nvSpPr>
        <p:spPr>
          <a:xfrm>
            <a:off x="685800" y="6489497"/>
            <a:ext cx="24725" cy="24725"/>
          </a:xfrm>
          <a:prstGeom prst="rect">
            <a:avLst/>
          </a:prstGeom>
          <a:solidFill>
            <a:srgbClr val="1C2024"/>
          </a:solidFill>
          <a:ln w="12700">
            <a:solidFill>
              <a:srgbClr val="1C2024"/>
            </a:solidFill>
            <a:prstDash val="solid"/>
          </a:ln>
        </p:spPr>
      </p:sp>
      <p:sp>
        <p:nvSpPr>
          <p:cNvPr id="34" name="Shape 28"/>
          <p:cNvSpPr/>
          <p:nvPr/>
        </p:nvSpPr>
        <p:spPr>
          <a:xfrm>
            <a:off x="733349" y="6489497"/>
            <a:ext cx="24725" cy="24725"/>
          </a:xfrm>
          <a:prstGeom prst="rect">
            <a:avLst/>
          </a:prstGeom>
          <a:solidFill>
            <a:srgbClr val="1C2024"/>
          </a:solidFill>
          <a:ln w="12700">
            <a:solidFill>
              <a:srgbClr val="1C2024"/>
            </a:solidFill>
            <a:prstDash val="solid"/>
          </a:ln>
        </p:spPr>
      </p:sp>
      <p:sp>
        <p:nvSpPr>
          <p:cNvPr id="35" name="Shape 29"/>
          <p:cNvSpPr/>
          <p:nvPr/>
        </p:nvSpPr>
        <p:spPr>
          <a:xfrm>
            <a:off x="757123" y="6489497"/>
            <a:ext cx="24725" cy="24725"/>
          </a:xfrm>
          <a:prstGeom prst="rect">
            <a:avLst/>
          </a:prstGeom>
          <a:solidFill>
            <a:srgbClr val="1C2024"/>
          </a:solidFill>
          <a:ln w="12700">
            <a:solidFill>
              <a:srgbClr val="1C2024"/>
            </a:solidFill>
            <a:prstDash val="solid"/>
          </a:ln>
        </p:spPr>
      </p:sp>
      <p:sp>
        <p:nvSpPr>
          <p:cNvPr id="36" name="Shape 30"/>
          <p:cNvSpPr/>
          <p:nvPr/>
        </p:nvSpPr>
        <p:spPr>
          <a:xfrm>
            <a:off x="638251" y="6513271"/>
            <a:ext cx="24725" cy="24725"/>
          </a:xfrm>
          <a:prstGeom prst="rect">
            <a:avLst/>
          </a:prstGeom>
          <a:solidFill>
            <a:srgbClr val="1C2024"/>
          </a:solidFill>
          <a:ln w="12700">
            <a:solidFill>
              <a:srgbClr val="1C2024"/>
            </a:solidFill>
            <a:prstDash val="solid"/>
          </a:ln>
        </p:spPr>
      </p:sp>
      <p:sp>
        <p:nvSpPr>
          <p:cNvPr id="37" name="Shape 31"/>
          <p:cNvSpPr/>
          <p:nvPr/>
        </p:nvSpPr>
        <p:spPr>
          <a:xfrm>
            <a:off x="662026" y="6513271"/>
            <a:ext cx="24725" cy="24725"/>
          </a:xfrm>
          <a:prstGeom prst="rect">
            <a:avLst/>
          </a:prstGeom>
          <a:solidFill>
            <a:srgbClr val="1C2024"/>
          </a:solidFill>
          <a:ln w="12700">
            <a:solidFill>
              <a:srgbClr val="1C2024"/>
            </a:solidFill>
            <a:prstDash val="solid"/>
          </a:ln>
        </p:spPr>
      </p:sp>
      <p:sp>
        <p:nvSpPr>
          <p:cNvPr id="38" name="Shape 32"/>
          <p:cNvSpPr/>
          <p:nvPr/>
        </p:nvSpPr>
        <p:spPr>
          <a:xfrm>
            <a:off x="685800" y="6513271"/>
            <a:ext cx="24725" cy="24725"/>
          </a:xfrm>
          <a:prstGeom prst="rect">
            <a:avLst/>
          </a:prstGeom>
          <a:solidFill>
            <a:srgbClr val="1C2024"/>
          </a:solidFill>
          <a:ln w="12700">
            <a:solidFill>
              <a:srgbClr val="1C2024"/>
            </a:solidFill>
            <a:prstDash val="solid"/>
          </a:ln>
        </p:spPr>
      </p:sp>
      <p:sp>
        <p:nvSpPr>
          <p:cNvPr id="39" name="Shape 33"/>
          <p:cNvSpPr/>
          <p:nvPr/>
        </p:nvSpPr>
        <p:spPr>
          <a:xfrm>
            <a:off x="709574" y="6513271"/>
            <a:ext cx="24725" cy="24725"/>
          </a:xfrm>
          <a:prstGeom prst="rect">
            <a:avLst/>
          </a:prstGeom>
          <a:solidFill>
            <a:srgbClr val="1C2024"/>
          </a:solidFill>
          <a:ln w="12700">
            <a:solidFill>
              <a:srgbClr val="1C2024"/>
            </a:solidFill>
            <a:prstDash val="solid"/>
          </a:ln>
        </p:spPr>
      </p:sp>
      <p:sp>
        <p:nvSpPr>
          <p:cNvPr id="40" name="Shape 34"/>
          <p:cNvSpPr/>
          <p:nvPr/>
        </p:nvSpPr>
        <p:spPr>
          <a:xfrm>
            <a:off x="733349" y="6513271"/>
            <a:ext cx="24725" cy="24725"/>
          </a:xfrm>
          <a:prstGeom prst="rect">
            <a:avLst/>
          </a:prstGeom>
          <a:solidFill>
            <a:srgbClr val="1C2024"/>
          </a:solidFill>
          <a:ln w="12700">
            <a:solidFill>
              <a:srgbClr val="1C2024"/>
            </a:solidFill>
            <a:prstDash val="solid"/>
          </a:ln>
        </p:spPr>
      </p:sp>
      <p:sp>
        <p:nvSpPr>
          <p:cNvPr id="41" name="Shape 35"/>
          <p:cNvSpPr/>
          <p:nvPr/>
        </p:nvSpPr>
        <p:spPr>
          <a:xfrm>
            <a:off x="662026" y="6537046"/>
            <a:ext cx="24725" cy="24725"/>
          </a:xfrm>
          <a:prstGeom prst="rect">
            <a:avLst/>
          </a:prstGeom>
          <a:solidFill>
            <a:srgbClr val="1C2024"/>
          </a:solidFill>
          <a:ln w="12700">
            <a:solidFill>
              <a:srgbClr val="1C2024"/>
            </a:solidFill>
            <a:prstDash val="solid"/>
          </a:ln>
        </p:spPr>
      </p:sp>
      <p:sp>
        <p:nvSpPr>
          <p:cNvPr id="42" name="Shape 36"/>
          <p:cNvSpPr/>
          <p:nvPr/>
        </p:nvSpPr>
        <p:spPr>
          <a:xfrm>
            <a:off x="685800" y="6537046"/>
            <a:ext cx="24725" cy="24725"/>
          </a:xfrm>
          <a:prstGeom prst="rect">
            <a:avLst/>
          </a:prstGeom>
          <a:solidFill>
            <a:srgbClr val="1C2024"/>
          </a:solidFill>
          <a:ln w="12700">
            <a:solidFill>
              <a:srgbClr val="1C2024"/>
            </a:solidFill>
            <a:prstDash val="solid"/>
          </a:ln>
        </p:spPr>
      </p:sp>
      <p:sp>
        <p:nvSpPr>
          <p:cNvPr id="43" name="Shape 37"/>
          <p:cNvSpPr/>
          <p:nvPr/>
        </p:nvSpPr>
        <p:spPr>
          <a:xfrm>
            <a:off x="709574" y="6537046"/>
            <a:ext cx="24725" cy="24725"/>
          </a:xfrm>
          <a:prstGeom prst="rect">
            <a:avLst/>
          </a:prstGeom>
          <a:solidFill>
            <a:srgbClr val="1C2024"/>
          </a:solidFill>
          <a:ln w="12700">
            <a:solidFill>
              <a:srgbClr val="1C2024"/>
            </a:solidFill>
            <a:prstDash val="solid"/>
          </a:ln>
        </p:spPr>
      </p:sp>
      <p:sp>
        <p:nvSpPr>
          <p:cNvPr id="44" name="Shape 38"/>
          <p:cNvSpPr/>
          <p:nvPr/>
        </p:nvSpPr>
        <p:spPr>
          <a:xfrm>
            <a:off x="685800" y="6560820"/>
            <a:ext cx="24725" cy="24725"/>
          </a:xfrm>
          <a:prstGeom prst="rect">
            <a:avLst/>
          </a:prstGeom>
          <a:solidFill>
            <a:srgbClr val="1C2024"/>
          </a:solidFill>
          <a:ln w="12700">
            <a:solidFill>
              <a:srgbClr val="1C2024"/>
            </a:solidFill>
            <a:prstDash val="solid"/>
          </a:ln>
        </p:spPr>
      </p:sp>
      <p:sp>
        <p:nvSpPr>
          <p:cNvPr id="45" name="Text 39"/>
          <p:cNvSpPr/>
          <p:nvPr/>
        </p:nvSpPr>
        <p:spPr>
          <a:xfrm>
            <a:off x="914400" y="6391656"/>
            <a:ext cx="1828800" cy="219456"/>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AIRHOP</a:t>
            </a:r>
            <a:endParaRPr lang="en-US" sz="800" dirty="0"/>
          </a:p>
        </p:txBody>
      </p:sp>
      <p:sp>
        <p:nvSpPr>
          <p:cNvPr id="46" name="Text 40"/>
          <p:cNvSpPr/>
          <p:nvPr/>
        </p:nvSpPr>
        <p:spPr>
          <a:xfrm>
            <a:off x="9795967" y="6391656"/>
            <a:ext cx="1828800" cy="219456"/>
          </a:xfrm>
          <a:prstGeom prst="rect">
            <a:avLst/>
          </a:prstGeom>
          <a:noFill/>
          <a:ln/>
        </p:spPr>
        <p:txBody>
          <a:bodyPr wrap="square" lIns="0" tIns="0" rIns="0" bIns="0" rtlCol="0" anchor="ctr"/>
          <a:lstStyle/>
          <a:p>
            <a:pPr algn="r" indent="0" marL="0">
              <a:buNone/>
            </a:pPr>
            <a:r>
              <a:rPr lang="en-US" sz="800" dirty="0">
                <a:solidFill>
                  <a:srgbClr val="6E7178"/>
                </a:solidFill>
                <a:latin typeface="Consolas" pitchFamily="34" charset="0"/>
                <a:ea typeface="Consolas" pitchFamily="34" charset="-122"/>
                <a:cs typeface="Consolas" pitchFamily="34" charset="-120"/>
              </a:rPr>
              <a:t>05 / 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head#469"/>
          <p:cNvSpPr/>
          <p:nvPr/>
        </p:nvSpPr>
        <p:spPr>
          <a:xfrm>
            <a:off x="566928" y="402336"/>
            <a:ext cx="11057839" cy="182880"/>
          </a:xfrm>
          <a:prstGeom prst="rect">
            <a:avLst/>
          </a:prstGeom>
          <a:noFill/>
          <a:ln/>
        </p:spPr>
        <p:txBody>
          <a:bodyPr wrap="square" lIns="0" tIns="0" rIns="0" bIns="0" rtlCol="0" anchor="ctr"/>
          <a:lstStyle/>
          <a:p>
            <a:pPr indent="0" marL="0">
              <a:buNone/>
            </a:pPr>
            <a:r>
              <a:rPr lang="en-US" sz="900" b="1" spc="160" kern="0" dirty="0">
                <a:solidFill>
                  <a:srgbClr val="60646C"/>
                </a:solidFill>
                <a:latin typeface="Consolas" pitchFamily="34" charset="0"/>
                <a:ea typeface="Consolas" pitchFamily="34" charset="-122"/>
                <a:cs typeface="Consolas" pitchFamily="34" charset="-120"/>
              </a:rPr>
              <a:t>HOW IT WORKS</a:t>
            </a:r>
            <a:endParaRPr lang="en-US" sz="900" dirty="0"/>
          </a:p>
        </p:txBody>
      </p:sp>
      <p:sp>
        <p:nvSpPr>
          <p:cNvPr id="3" name="head#470"/>
          <p:cNvSpPr/>
          <p:nvPr/>
        </p:nvSpPr>
        <p:spPr>
          <a:xfrm>
            <a:off x="566928" y="658368"/>
            <a:ext cx="11057839" cy="436169"/>
          </a:xfrm>
          <a:prstGeom prst="rect">
            <a:avLst/>
          </a:prstGeom>
          <a:noFill/>
          <a:ln/>
        </p:spPr>
        <p:txBody>
          <a:bodyPr wrap="square" lIns="0" tIns="0" rIns="0" bIns="0" rtlCol="0" anchor="t"/>
          <a:lstStyle/>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The mesh forms itself.</a:t>
            </a:r>
            <a:endParaRPr lang="en-US" sz="2700" dirty="0"/>
          </a:p>
        </p:txBody>
      </p:sp>
      <p:sp>
        <p:nvSpPr>
          <p:cNvPr id="4" name="head#471"/>
          <p:cNvSpPr/>
          <p:nvPr/>
        </p:nvSpPr>
        <p:spPr>
          <a:xfrm>
            <a:off x="566928" y="1240841"/>
            <a:ext cx="9052560" cy="515112"/>
          </a:xfrm>
          <a:prstGeom prst="rect">
            <a:avLst/>
          </a:prstGeom>
          <a:noFill/>
          <a:ln/>
        </p:spPr>
        <p:txBody>
          <a:bodyPr wrap="square" lIns="0" tIns="0" rIns="0" bIns="0" rtlCol="0" anchor="t"/>
          <a:lstStyle/>
          <a:p>
            <a:pPr indent="0" marL="0">
              <a:lnSpc>
                <a:spcPct val="130000"/>
              </a:lnSpc>
              <a:buNone/>
            </a:pPr>
            <a:r>
              <a:rPr lang="en-US" sz="1300" dirty="0">
                <a:solidFill>
                  <a:srgbClr val="60646C"/>
                </a:solidFill>
                <a:latin typeface="Segoe UI" pitchFamily="34" charset="0"/>
                <a:ea typeface="Segoe UI" pitchFamily="34" charset="-122"/>
                <a:cs typeface="Segoe UI" pitchFamily="34" charset="-120"/>
              </a:rPr>
              <a:t>Phones nearby find each other and pass messages along. Where there is internet, public Nostr relays carry the same conversation further, and not one of those relays is ours.</a:t>
            </a:r>
            <a:endParaRPr lang="en-US" sz="1300" dirty="0"/>
          </a:p>
        </p:txBody>
      </p:sp>
      <p:sp>
        <p:nvSpPr>
          <p:cNvPr id="5" name="step0#472"/>
          <p:cNvSpPr/>
          <p:nvPr/>
        </p:nvSpPr>
        <p:spPr>
          <a:xfrm>
            <a:off x="566928" y="2286000"/>
            <a:ext cx="3539642" cy="1316736"/>
          </a:xfrm>
          <a:prstGeom prst="roundRect">
            <a:avLst>
              <a:gd name="adj" fmla="val 7639"/>
            </a:avLst>
          </a:prstGeom>
          <a:solidFill>
            <a:srgbClr val="FCFCFD"/>
          </a:solidFill>
          <a:ln w="9525">
            <a:solidFill>
              <a:srgbClr val="D9D9E0"/>
            </a:solidFill>
            <a:prstDash val="solid"/>
          </a:ln>
        </p:spPr>
      </p:sp>
      <p:sp>
        <p:nvSpPr>
          <p:cNvPr id="6" name="step0#473"/>
          <p:cNvSpPr/>
          <p:nvPr/>
        </p:nvSpPr>
        <p:spPr>
          <a:xfrm>
            <a:off x="877824" y="2560320"/>
            <a:ext cx="256032" cy="237744"/>
          </a:xfrm>
          <a:prstGeom prst="rect">
            <a:avLst/>
          </a:prstGeom>
          <a:noFill/>
          <a:ln/>
        </p:spPr>
        <p:txBody>
          <a:bodyPr wrap="square" lIns="0" tIns="0" rIns="0" bIns="0" rtlCol="0" anchor="ctr"/>
          <a:lstStyle/>
          <a:p>
            <a:pPr indent="0" marL="0">
              <a:buNone/>
            </a:pPr>
            <a:r>
              <a:rPr lang="en-US" sz="950" spc="80" kern="0" dirty="0">
                <a:solidFill>
                  <a:srgbClr val="6E7178"/>
                </a:solidFill>
                <a:latin typeface="Consolas" pitchFamily="34" charset="0"/>
                <a:ea typeface="Consolas" pitchFamily="34" charset="-122"/>
                <a:cs typeface="Consolas" pitchFamily="34" charset="-120"/>
              </a:rPr>
              <a:t>01</a:t>
            </a:r>
            <a:endParaRPr lang="en-US" sz="950" dirty="0"/>
          </a:p>
        </p:txBody>
      </p:sp>
      <p:sp>
        <p:nvSpPr>
          <p:cNvPr id="7" name="step0#474"/>
          <p:cNvSpPr/>
          <p:nvPr/>
        </p:nvSpPr>
        <p:spPr>
          <a:xfrm>
            <a:off x="1188720" y="2679192"/>
            <a:ext cx="1710842" cy="0"/>
          </a:xfrm>
          <a:prstGeom prst="line">
            <a:avLst/>
          </a:prstGeom>
          <a:noFill/>
          <a:ln w="9525">
            <a:solidFill>
              <a:srgbClr val="D9D9E0"/>
            </a:solidFill>
            <a:prstDash val="solid"/>
          </a:ln>
        </p:spPr>
      </p:sp>
      <p:sp>
        <p:nvSpPr>
          <p:cNvPr id="8" name="step0#475"/>
          <p:cNvSpPr/>
          <p:nvPr/>
        </p:nvSpPr>
        <p:spPr>
          <a:xfrm>
            <a:off x="3009290" y="2560320"/>
            <a:ext cx="786384" cy="237744"/>
          </a:xfrm>
          <a:prstGeom prst="rect">
            <a:avLst/>
          </a:prstGeom>
          <a:noFill/>
          <a:ln/>
        </p:spPr>
        <p:txBody>
          <a:bodyPr wrap="square" lIns="0" tIns="0" rIns="0" bIns="0" rtlCol="0" anchor="ctr"/>
          <a:lstStyle/>
          <a:p>
            <a:pPr algn="r" indent="0" marL="0">
              <a:buNone/>
            </a:pPr>
            <a:r>
              <a:rPr lang="en-US" sz="950" b="1" spc="90" kern="0" dirty="0">
                <a:solidFill>
                  <a:srgbClr val="1C2024"/>
                </a:solidFill>
                <a:latin typeface="Consolas" pitchFamily="34" charset="0"/>
                <a:ea typeface="Consolas" pitchFamily="34" charset="-122"/>
                <a:cs typeface="Consolas" pitchFamily="34" charset="-120"/>
              </a:rPr>
              <a:t>DISCOVER</a:t>
            </a:r>
            <a:endParaRPr lang="en-US" sz="950" dirty="0"/>
          </a:p>
        </p:txBody>
      </p:sp>
      <p:sp>
        <p:nvSpPr>
          <p:cNvPr id="9" name="step0#476"/>
          <p:cNvSpPr/>
          <p:nvPr/>
        </p:nvSpPr>
        <p:spPr>
          <a:xfrm>
            <a:off x="877824" y="2999232"/>
            <a:ext cx="2917850" cy="310896"/>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Phones running Airhop or bitchat find each other over Bluetooth. No pairing, no setup, no code to type.</a:t>
            </a:r>
            <a:endParaRPr lang="en-US" sz="950" dirty="0"/>
          </a:p>
        </p:txBody>
      </p:sp>
      <p:sp>
        <p:nvSpPr>
          <p:cNvPr id="10" name="step1#477"/>
          <p:cNvSpPr/>
          <p:nvPr/>
        </p:nvSpPr>
        <p:spPr>
          <a:xfrm>
            <a:off x="4326026" y="2286000"/>
            <a:ext cx="3539642" cy="1316736"/>
          </a:xfrm>
          <a:prstGeom prst="roundRect">
            <a:avLst>
              <a:gd name="adj" fmla="val 7639"/>
            </a:avLst>
          </a:prstGeom>
          <a:solidFill>
            <a:srgbClr val="FCFCFD"/>
          </a:solidFill>
          <a:ln w="9525">
            <a:solidFill>
              <a:srgbClr val="D9D9E0"/>
            </a:solidFill>
            <a:prstDash val="solid"/>
          </a:ln>
        </p:spPr>
      </p:sp>
      <p:sp>
        <p:nvSpPr>
          <p:cNvPr id="11" name="step1#478"/>
          <p:cNvSpPr/>
          <p:nvPr/>
        </p:nvSpPr>
        <p:spPr>
          <a:xfrm>
            <a:off x="4636922" y="2560320"/>
            <a:ext cx="256032" cy="237744"/>
          </a:xfrm>
          <a:prstGeom prst="rect">
            <a:avLst/>
          </a:prstGeom>
          <a:noFill/>
          <a:ln/>
        </p:spPr>
        <p:txBody>
          <a:bodyPr wrap="square" lIns="0" tIns="0" rIns="0" bIns="0" rtlCol="0" anchor="ctr"/>
          <a:lstStyle/>
          <a:p>
            <a:pPr indent="0" marL="0">
              <a:buNone/>
            </a:pPr>
            <a:r>
              <a:rPr lang="en-US" sz="950" spc="80" kern="0" dirty="0">
                <a:solidFill>
                  <a:srgbClr val="6E7178"/>
                </a:solidFill>
                <a:latin typeface="Consolas" pitchFamily="34" charset="0"/>
                <a:ea typeface="Consolas" pitchFamily="34" charset="-122"/>
                <a:cs typeface="Consolas" pitchFamily="34" charset="-120"/>
              </a:rPr>
              <a:t>02</a:t>
            </a:r>
            <a:endParaRPr lang="en-US" sz="950" dirty="0"/>
          </a:p>
        </p:txBody>
      </p:sp>
      <p:sp>
        <p:nvSpPr>
          <p:cNvPr id="12" name="step1#479"/>
          <p:cNvSpPr/>
          <p:nvPr/>
        </p:nvSpPr>
        <p:spPr>
          <a:xfrm>
            <a:off x="4947818" y="2679192"/>
            <a:ext cx="1971446" cy="0"/>
          </a:xfrm>
          <a:prstGeom prst="line">
            <a:avLst/>
          </a:prstGeom>
          <a:noFill/>
          <a:ln w="9525">
            <a:solidFill>
              <a:srgbClr val="D9D9E0"/>
            </a:solidFill>
            <a:prstDash val="solid"/>
          </a:ln>
        </p:spPr>
      </p:sp>
      <p:sp>
        <p:nvSpPr>
          <p:cNvPr id="13" name="step1#480"/>
          <p:cNvSpPr/>
          <p:nvPr/>
        </p:nvSpPr>
        <p:spPr>
          <a:xfrm>
            <a:off x="7028993" y="2560320"/>
            <a:ext cx="525780" cy="237744"/>
          </a:xfrm>
          <a:prstGeom prst="rect">
            <a:avLst/>
          </a:prstGeom>
          <a:noFill/>
          <a:ln/>
        </p:spPr>
        <p:txBody>
          <a:bodyPr wrap="square" lIns="0" tIns="0" rIns="0" bIns="0" rtlCol="0" anchor="ctr"/>
          <a:lstStyle/>
          <a:p>
            <a:pPr algn="r" indent="0" marL="0">
              <a:buNone/>
            </a:pPr>
            <a:r>
              <a:rPr lang="en-US" sz="950" b="1" spc="90" kern="0" dirty="0">
                <a:solidFill>
                  <a:srgbClr val="1C2024"/>
                </a:solidFill>
                <a:latin typeface="Consolas" pitchFamily="34" charset="0"/>
                <a:ea typeface="Consolas" pitchFamily="34" charset="-122"/>
                <a:cs typeface="Consolas" pitchFamily="34" charset="-120"/>
              </a:rPr>
              <a:t>RELAY</a:t>
            </a:r>
            <a:endParaRPr lang="en-US" sz="950" dirty="0"/>
          </a:p>
        </p:txBody>
      </p:sp>
      <p:sp>
        <p:nvSpPr>
          <p:cNvPr id="14" name="step1#481"/>
          <p:cNvSpPr/>
          <p:nvPr/>
        </p:nvSpPr>
        <p:spPr>
          <a:xfrm>
            <a:off x="4636922" y="2999232"/>
            <a:ext cx="2917850" cy="310896"/>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A message hops phone to phone, up to seven times, 30 to 50 m a hop. The phones in between never see what they carry.</a:t>
            </a:r>
            <a:endParaRPr lang="en-US" sz="950" dirty="0"/>
          </a:p>
        </p:txBody>
      </p:sp>
      <p:sp>
        <p:nvSpPr>
          <p:cNvPr id="15" name="step2#482"/>
          <p:cNvSpPr/>
          <p:nvPr/>
        </p:nvSpPr>
        <p:spPr>
          <a:xfrm>
            <a:off x="8085125" y="2286000"/>
            <a:ext cx="3539642" cy="1316736"/>
          </a:xfrm>
          <a:prstGeom prst="roundRect">
            <a:avLst>
              <a:gd name="adj" fmla="val 7639"/>
            </a:avLst>
          </a:prstGeom>
          <a:solidFill>
            <a:srgbClr val="FCFCFD"/>
          </a:solidFill>
          <a:ln w="9525">
            <a:solidFill>
              <a:srgbClr val="D9D9E0"/>
            </a:solidFill>
            <a:prstDash val="solid"/>
          </a:ln>
        </p:spPr>
      </p:sp>
      <p:sp>
        <p:nvSpPr>
          <p:cNvPr id="16" name="step2#483"/>
          <p:cNvSpPr/>
          <p:nvPr/>
        </p:nvSpPr>
        <p:spPr>
          <a:xfrm>
            <a:off x="8396021" y="2560320"/>
            <a:ext cx="256032" cy="237744"/>
          </a:xfrm>
          <a:prstGeom prst="rect">
            <a:avLst/>
          </a:prstGeom>
          <a:noFill/>
          <a:ln/>
        </p:spPr>
        <p:txBody>
          <a:bodyPr wrap="square" lIns="0" tIns="0" rIns="0" bIns="0" rtlCol="0" anchor="ctr"/>
          <a:lstStyle/>
          <a:p>
            <a:pPr indent="0" marL="0">
              <a:buNone/>
            </a:pPr>
            <a:r>
              <a:rPr lang="en-US" sz="950" spc="80" kern="0" dirty="0">
                <a:solidFill>
                  <a:srgbClr val="6E7178"/>
                </a:solidFill>
                <a:latin typeface="Consolas" pitchFamily="34" charset="0"/>
                <a:ea typeface="Consolas" pitchFamily="34" charset="-122"/>
                <a:cs typeface="Consolas" pitchFamily="34" charset="-120"/>
              </a:rPr>
              <a:t>03</a:t>
            </a:r>
            <a:endParaRPr lang="en-US" sz="950" dirty="0"/>
          </a:p>
        </p:txBody>
      </p:sp>
      <p:sp>
        <p:nvSpPr>
          <p:cNvPr id="17" name="step2#484"/>
          <p:cNvSpPr/>
          <p:nvPr/>
        </p:nvSpPr>
        <p:spPr>
          <a:xfrm>
            <a:off x="8706917" y="2679192"/>
            <a:ext cx="1276502" cy="0"/>
          </a:xfrm>
          <a:prstGeom prst="line">
            <a:avLst/>
          </a:prstGeom>
          <a:noFill/>
          <a:ln w="9525">
            <a:solidFill>
              <a:srgbClr val="D9D9E0"/>
            </a:solidFill>
            <a:prstDash val="solid"/>
          </a:ln>
        </p:spPr>
      </p:sp>
      <p:sp>
        <p:nvSpPr>
          <p:cNvPr id="18" name="step2#485"/>
          <p:cNvSpPr/>
          <p:nvPr/>
        </p:nvSpPr>
        <p:spPr>
          <a:xfrm>
            <a:off x="10093147" y="2560320"/>
            <a:ext cx="1220724" cy="237744"/>
          </a:xfrm>
          <a:prstGeom prst="rect">
            <a:avLst/>
          </a:prstGeom>
          <a:noFill/>
          <a:ln/>
        </p:spPr>
        <p:txBody>
          <a:bodyPr wrap="square" lIns="0" tIns="0" rIns="0" bIns="0" rtlCol="0" anchor="ctr"/>
          <a:lstStyle/>
          <a:p>
            <a:pPr algn="r" indent="0" marL="0">
              <a:buNone/>
            </a:pPr>
            <a:r>
              <a:rPr lang="en-US" sz="950" b="1" spc="90" kern="0" dirty="0">
                <a:solidFill>
                  <a:srgbClr val="1C2024"/>
                </a:solidFill>
                <a:latin typeface="Consolas" pitchFamily="34" charset="0"/>
                <a:ea typeface="Consolas" pitchFamily="34" charset="-122"/>
                <a:cs typeface="Consolas" pitchFamily="34" charset="-120"/>
              </a:rPr>
              <a:t>REACH FURTHER</a:t>
            </a:r>
            <a:endParaRPr lang="en-US" sz="950" dirty="0"/>
          </a:p>
        </p:txBody>
      </p:sp>
      <p:sp>
        <p:nvSpPr>
          <p:cNvPr id="19" name="step2#486"/>
          <p:cNvSpPr/>
          <p:nvPr/>
        </p:nvSpPr>
        <p:spPr>
          <a:xfrm>
            <a:off x="8396021" y="2999232"/>
            <a:ext cx="2917850" cy="310896"/>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With internet the same conversation carries over public Nostr relays, through Tor if you want it to.</a:t>
            </a:r>
            <a:endParaRPr lang="en-US" sz="950" dirty="0"/>
          </a:p>
        </p:txBody>
      </p:sp>
      <p:sp>
        <p:nvSpPr>
          <p:cNvPr id="20" name="diagram#487"/>
          <p:cNvSpPr/>
          <p:nvPr/>
        </p:nvSpPr>
        <p:spPr>
          <a:xfrm>
            <a:off x="566928" y="3785616"/>
            <a:ext cx="11057839" cy="2029968"/>
          </a:xfrm>
          <a:prstGeom prst="roundRect">
            <a:avLst>
              <a:gd name="adj" fmla="val 4955"/>
            </a:avLst>
          </a:prstGeom>
          <a:solidFill>
            <a:srgbClr val="FCFCFD"/>
          </a:solidFill>
          <a:ln w="9525">
            <a:solidFill>
              <a:srgbClr val="D9D9E0"/>
            </a:solidFill>
            <a:prstDash val="solid"/>
          </a:ln>
        </p:spPr>
      </p:sp>
      <p:sp>
        <p:nvSpPr>
          <p:cNvPr id="21" name="diagram#488"/>
          <p:cNvSpPr/>
          <p:nvPr/>
        </p:nvSpPr>
        <p:spPr>
          <a:xfrm>
            <a:off x="804672" y="3877056"/>
            <a:ext cx="10582351" cy="256032"/>
          </a:xfrm>
          <a:prstGeom prst="rect">
            <a:avLst/>
          </a:prstGeom>
          <a:noFill/>
          <a:ln/>
        </p:spPr>
        <p:txBody>
          <a:bodyPr wrap="square" lIns="0" tIns="0" rIns="0" bIns="0" rtlCol="0" anchor="ctr"/>
          <a:lstStyle/>
          <a:p>
            <a:pPr indent="0" marL="0">
              <a:buNone/>
            </a:pPr>
            <a:r>
              <a:rPr lang="en-US" sz="800" b="1" spc="130" kern="0" dirty="0">
                <a:solidFill>
                  <a:srgbClr val="60646C"/>
                </a:solidFill>
                <a:latin typeface="Consolas" pitchFamily="34" charset="0"/>
                <a:ea typeface="Consolas" pitchFamily="34" charset="-122"/>
                <a:cs typeface="Consolas" pitchFamily="34" charset="-120"/>
              </a:rPr>
              <a:t>●  BLE MESH · LOCAL PEER TO PEER NETWORK</a:t>
            </a:r>
            <a:endParaRPr lang="en-US" sz="800" dirty="0"/>
          </a:p>
        </p:txBody>
      </p:sp>
      <p:sp>
        <p:nvSpPr>
          <p:cNvPr id="22" name="diagram#489"/>
          <p:cNvSpPr/>
          <p:nvPr/>
        </p:nvSpPr>
        <p:spPr>
          <a:xfrm>
            <a:off x="713232" y="4206240"/>
            <a:ext cx="10765231" cy="0"/>
          </a:xfrm>
          <a:prstGeom prst="line">
            <a:avLst/>
          </a:prstGeom>
          <a:noFill/>
          <a:ln w="9525">
            <a:solidFill>
              <a:srgbClr val="D9D9E0"/>
            </a:solidFill>
            <a:prstDash val="solid"/>
          </a:ln>
        </p:spPr>
      </p:sp>
      <p:sp>
        <p:nvSpPr>
          <p:cNvPr id="23" name="diagram#490"/>
          <p:cNvSpPr/>
          <p:nvPr/>
        </p:nvSpPr>
        <p:spPr>
          <a:xfrm>
            <a:off x="2651760" y="4864608"/>
            <a:ext cx="1645920" cy="0"/>
          </a:xfrm>
          <a:prstGeom prst="line">
            <a:avLst/>
          </a:prstGeom>
          <a:noFill/>
          <a:ln w="12700">
            <a:solidFill>
              <a:srgbClr val="1C2024"/>
            </a:solidFill>
            <a:prstDash val="sysDot"/>
          </a:ln>
        </p:spPr>
      </p:sp>
      <p:sp>
        <p:nvSpPr>
          <p:cNvPr id="24" name="diagram#491"/>
          <p:cNvSpPr/>
          <p:nvPr/>
        </p:nvSpPr>
        <p:spPr>
          <a:xfrm>
            <a:off x="5029200" y="4864608"/>
            <a:ext cx="1645920" cy="0"/>
          </a:xfrm>
          <a:prstGeom prst="line">
            <a:avLst/>
          </a:prstGeom>
          <a:noFill/>
          <a:ln w="12700">
            <a:solidFill>
              <a:srgbClr val="1C2024"/>
            </a:solidFill>
            <a:prstDash val="sysDot"/>
          </a:ln>
        </p:spPr>
      </p:sp>
      <p:sp>
        <p:nvSpPr>
          <p:cNvPr id="25" name="diagram#492"/>
          <p:cNvSpPr/>
          <p:nvPr/>
        </p:nvSpPr>
        <p:spPr>
          <a:xfrm>
            <a:off x="7406640" y="4864608"/>
            <a:ext cx="1965960" cy="0"/>
          </a:xfrm>
          <a:prstGeom prst="line">
            <a:avLst/>
          </a:prstGeom>
          <a:noFill/>
          <a:ln w="12700">
            <a:solidFill>
              <a:srgbClr val="2563EB"/>
            </a:solidFill>
            <a:prstDash val="sysDot"/>
          </a:ln>
        </p:spPr>
      </p:sp>
      <p:sp>
        <p:nvSpPr>
          <p:cNvPr id="26" name="diagram#493"/>
          <p:cNvSpPr/>
          <p:nvPr/>
        </p:nvSpPr>
        <p:spPr>
          <a:xfrm>
            <a:off x="2011680" y="4590288"/>
            <a:ext cx="548640" cy="548640"/>
          </a:xfrm>
          <a:prstGeom prst="ellipse">
            <a:avLst/>
          </a:prstGeom>
          <a:solidFill>
            <a:srgbClr val="FFFFFF"/>
          </a:solidFill>
          <a:ln w="15875">
            <a:solidFill>
              <a:srgbClr val="1C2024"/>
            </a:solidFill>
            <a:prstDash val="solid"/>
          </a:ln>
        </p:spPr>
      </p:sp>
      <p:sp>
        <p:nvSpPr>
          <p:cNvPr id="27" name="diagram#494"/>
          <p:cNvSpPr/>
          <p:nvPr/>
        </p:nvSpPr>
        <p:spPr>
          <a:xfrm>
            <a:off x="2217420" y="4736592"/>
            <a:ext cx="137160" cy="219456"/>
          </a:xfrm>
          <a:prstGeom prst="roundRect">
            <a:avLst>
              <a:gd name="adj" fmla="val 20000"/>
            </a:avLst>
          </a:prstGeom>
          <a:solidFill>
            <a:srgbClr val="FFFFFF"/>
          </a:solidFill>
          <a:ln w="12700">
            <a:solidFill>
              <a:srgbClr val="1C2024"/>
            </a:solidFill>
            <a:prstDash val="solid"/>
          </a:ln>
        </p:spPr>
      </p:sp>
      <p:sp>
        <p:nvSpPr>
          <p:cNvPr id="28" name="diagram#495"/>
          <p:cNvSpPr/>
          <p:nvPr/>
        </p:nvSpPr>
        <p:spPr>
          <a:xfrm>
            <a:off x="1645920" y="5193792"/>
            <a:ext cx="1280160" cy="201168"/>
          </a:xfrm>
          <a:prstGeom prst="rect">
            <a:avLst/>
          </a:prstGeom>
          <a:noFill/>
          <a:ln/>
        </p:spPr>
        <p:txBody>
          <a:bodyPr wrap="square" lIns="0" tIns="0" rIns="0" bIns="0" rtlCol="0" anchor="ctr"/>
          <a:lstStyle/>
          <a:p>
            <a:pPr algn="ctr" indent="0" marL="0">
              <a:buNone/>
            </a:pPr>
            <a:r>
              <a:rPr lang="en-US" sz="800" b="1" dirty="0">
                <a:solidFill>
                  <a:srgbClr val="1C2024"/>
                </a:solidFill>
                <a:latin typeface="Consolas" pitchFamily="34" charset="0"/>
                <a:ea typeface="Consolas" pitchFamily="34" charset="-122"/>
                <a:cs typeface="Consolas" pitchFamily="34" charset="-120"/>
              </a:rPr>
              <a:t>Node 1</a:t>
            </a:r>
            <a:endParaRPr lang="en-US" sz="800" dirty="0"/>
          </a:p>
        </p:txBody>
      </p:sp>
      <p:sp>
        <p:nvSpPr>
          <p:cNvPr id="29" name="diagram#496"/>
          <p:cNvSpPr/>
          <p:nvPr/>
        </p:nvSpPr>
        <p:spPr>
          <a:xfrm>
            <a:off x="4389120" y="4590288"/>
            <a:ext cx="548640" cy="548640"/>
          </a:xfrm>
          <a:prstGeom prst="ellipse">
            <a:avLst/>
          </a:prstGeom>
          <a:solidFill>
            <a:srgbClr val="FFFFFF"/>
          </a:solidFill>
          <a:ln w="15875">
            <a:solidFill>
              <a:srgbClr val="1C2024"/>
            </a:solidFill>
            <a:prstDash val="solid"/>
          </a:ln>
        </p:spPr>
      </p:sp>
      <p:sp>
        <p:nvSpPr>
          <p:cNvPr id="30" name="diagram#497"/>
          <p:cNvSpPr/>
          <p:nvPr/>
        </p:nvSpPr>
        <p:spPr>
          <a:xfrm>
            <a:off x="4594860" y="4736592"/>
            <a:ext cx="137160" cy="219456"/>
          </a:xfrm>
          <a:prstGeom prst="roundRect">
            <a:avLst>
              <a:gd name="adj" fmla="val 20000"/>
            </a:avLst>
          </a:prstGeom>
          <a:solidFill>
            <a:srgbClr val="FFFFFF"/>
          </a:solidFill>
          <a:ln w="12700">
            <a:solidFill>
              <a:srgbClr val="1C2024"/>
            </a:solidFill>
            <a:prstDash val="solid"/>
          </a:ln>
        </p:spPr>
      </p:sp>
      <p:sp>
        <p:nvSpPr>
          <p:cNvPr id="31" name="diagram#498"/>
          <p:cNvSpPr/>
          <p:nvPr/>
        </p:nvSpPr>
        <p:spPr>
          <a:xfrm>
            <a:off x="4023360" y="5193792"/>
            <a:ext cx="1280160" cy="201168"/>
          </a:xfrm>
          <a:prstGeom prst="rect">
            <a:avLst/>
          </a:prstGeom>
          <a:noFill/>
          <a:ln/>
        </p:spPr>
        <p:txBody>
          <a:bodyPr wrap="square" lIns="0" tIns="0" rIns="0" bIns="0" rtlCol="0" anchor="ctr"/>
          <a:lstStyle/>
          <a:p>
            <a:pPr algn="ctr" indent="0" marL="0">
              <a:buNone/>
            </a:pPr>
            <a:r>
              <a:rPr lang="en-US" sz="800" b="1" dirty="0">
                <a:solidFill>
                  <a:srgbClr val="1C2024"/>
                </a:solidFill>
                <a:latin typeface="Consolas" pitchFamily="34" charset="0"/>
                <a:ea typeface="Consolas" pitchFamily="34" charset="-122"/>
                <a:cs typeface="Consolas" pitchFamily="34" charset="-120"/>
              </a:rPr>
              <a:t>Node 2</a:t>
            </a:r>
            <a:endParaRPr lang="en-US" sz="800" dirty="0"/>
          </a:p>
        </p:txBody>
      </p:sp>
      <p:sp>
        <p:nvSpPr>
          <p:cNvPr id="32" name="diagram#499"/>
          <p:cNvSpPr/>
          <p:nvPr/>
        </p:nvSpPr>
        <p:spPr>
          <a:xfrm>
            <a:off x="6766560" y="4590288"/>
            <a:ext cx="548640" cy="548640"/>
          </a:xfrm>
          <a:prstGeom prst="ellipse">
            <a:avLst/>
          </a:prstGeom>
          <a:solidFill>
            <a:srgbClr val="FFFFFF"/>
          </a:solidFill>
          <a:ln w="15875">
            <a:solidFill>
              <a:srgbClr val="1C2024"/>
            </a:solidFill>
            <a:prstDash val="solid"/>
          </a:ln>
        </p:spPr>
      </p:sp>
      <p:sp>
        <p:nvSpPr>
          <p:cNvPr id="33" name="diagram#500"/>
          <p:cNvSpPr/>
          <p:nvPr/>
        </p:nvSpPr>
        <p:spPr>
          <a:xfrm>
            <a:off x="6972300" y="4736592"/>
            <a:ext cx="137160" cy="219456"/>
          </a:xfrm>
          <a:prstGeom prst="roundRect">
            <a:avLst>
              <a:gd name="adj" fmla="val 20000"/>
            </a:avLst>
          </a:prstGeom>
          <a:solidFill>
            <a:srgbClr val="FFFFFF"/>
          </a:solidFill>
          <a:ln w="12700">
            <a:solidFill>
              <a:srgbClr val="1C2024"/>
            </a:solidFill>
            <a:prstDash val="solid"/>
          </a:ln>
        </p:spPr>
      </p:sp>
      <p:sp>
        <p:nvSpPr>
          <p:cNvPr id="34" name="diagram#501"/>
          <p:cNvSpPr/>
          <p:nvPr/>
        </p:nvSpPr>
        <p:spPr>
          <a:xfrm>
            <a:off x="6400800" y="5193792"/>
            <a:ext cx="1280160" cy="201168"/>
          </a:xfrm>
          <a:prstGeom prst="rect">
            <a:avLst/>
          </a:prstGeom>
          <a:noFill/>
          <a:ln/>
        </p:spPr>
        <p:txBody>
          <a:bodyPr wrap="square" lIns="0" tIns="0" rIns="0" bIns="0" rtlCol="0" anchor="ctr"/>
          <a:lstStyle/>
          <a:p>
            <a:pPr algn="ctr" indent="0" marL="0">
              <a:buNone/>
            </a:pPr>
            <a:r>
              <a:rPr lang="en-US" sz="800" b="1" dirty="0">
                <a:solidFill>
                  <a:srgbClr val="1C2024"/>
                </a:solidFill>
                <a:latin typeface="Consolas" pitchFamily="34" charset="0"/>
                <a:ea typeface="Consolas" pitchFamily="34" charset="-122"/>
                <a:cs typeface="Consolas" pitchFamily="34" charset="-120"/>
              </a:rPr>
              <a:t>Node 3</a:t>
            </a:r>
            <a:endParaRPr lang="en-US" sz="800" dirty="0"/>
          </a:p>
        </p:txBody>
      </p:sp>
      <p:sp>
        <p:nvSpPr>
          <p:cNvPr id="35" name="diagram#502"/>
          <p:cNvSpPr/>
          <p:nvPr/>
        </p:nvSpPr>
        <p:spPr>
          <a:xfrm>
            <a:off x="9646920" y="4590288"/>
            <a:ext cx="548640" cy="548640"/>
          </a:xfrm>
          <a:prstGeom prst="ellipse">
            <a:avLst/>
          </a:prstGeom>
          <a:solidFill>
            <a:srgbClr val="FFFFFF"/>
          </a:solidFill>
          <a:ln w="15875">
            <a:solidFill>
              <a:srgbClr val="2563EB"/>
            </a:solidFill>
            <a:prstDash val="solid"/>
          </a:ln>
        </p:spPr>
      </p:sp>
      <p:sp>
        <p:nvSpPr>
          <p:cNvPr id="36" name="diagram#503"/>
          <p:cNvSpPr/>
          <p:nvPr/>
        </p:nvSpPr>
        <p:spPr>
          <a:xfrm>
            <a:off x="9281160" y="5193792"/>
            <a:ext cx="1280160" cy="201168"/>
          </a:xfrm>
          <a:prstGeom prst="rect">
            <a:avLst/>
          </a:prstGeom>
          <a:noFill/>
          <a:ln/>
        </p:spPr>
        <p:txBody>
          <a:bodyPr wrap="square" lIns="0" tIns="0" rIns="0" bIns="0" rtlCol="0" anchor="ctr"/>
          <a:lstStyle/>
          <a:p>
            <a:pPr algn="ctr" indent="0" marL="0">
              <a:buNone/>
            </a:pPr>
            <a:r>
              <a:rPr lang="en-US" sz="800" b="1" dirty="0">
                <a:solidFill>
                  <a:srgbClr val="2563EB"/>
                </a:solidFill>
                <a:latin typeface="Consolas" pitchFamily="34" charset="0"/>
                <a:ea typeface="Consolas" pitchFamily="34" charset="-122"/>
                <a:cs typeface="Consolas" pitchFamily="34" charset="-120"/>
              </a:rPr>
              <a:t>Nostr relay</a:t>
            </a:r>
            <a:endParaRPr lang="en-US" sz="800" dirty="0"/>
          </a:p>
        </p:txBody>
      </p:sp>
      <p:sp>
        <p:nvSpPr>
          <p:cNvPr id="37" name="diagram#504"/>
          <p:cNvSpPr/>
          <p:nvPr/>
        </p:nvSpPr>
        <p:spPr>
          <a:xfrm>
            <a:off x="3493008" y="4315968"/>
            <a:ext cx="2340864" cy="237744"/>
          </a:xfrm>
          <a:prstGeom prst="roundRect">
            <a:avLst>
              <a:gd name="adj" fmla="val 50000"/>
            </a:avLst>
          </a:prstGeom>
          <a:solidFill>
            <a:srgbClr val="F0F0F3"/>
          </a:solidFill>
          <a:ln w="9525">
            <a:solidFill>
              <a:srgbClr val="D9D9E0"/>
            </a:solidFill>
            <a:prstDash val="solid"/>
          </a:ln>
        </p:spPr>
      </p:sp>
      <p:sp>
        <p:nvSpPr>
          <p:cNvPr id="38" name="diagram#505"/>
          <p:cNvSpPr/>
          <p:nvPr/>
        </p:nvSpPr>
        <p:spPr>
          <a:xfrm>
            <a:off x="3493008" y="4315968"/>
            <a:ext cx="2340864"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BLE RELAY, UP TO 7 HOPS</a:t>
            </a:r>
            <a:endParaRPr lang="en-US" sz="800" dirty="0"/>
          </a:p>
        </p:txBody>
      </p:sp>
      <p:sp>
        <p:nvSpPr>
          <p:cNvPr id="39" name="diagram#506"/>
          <p:cNvSpPr/>
          <p:nvPr/>
        </p:nvSpPr>
        <p:spPr>
          <a:xfrm>
            <a:off x="877824" y="5582412"/>
            <a:ext cx="128016" cy="128016"/>
          </a:xfrm>
          <a:prstGeom prst="ellipse">
            <a:avLst/>
          </a:prstGeom>
          <a:solidFill>
            <a:srgbClr val="FFFFFF"/>
          </a:solidFill>
          <a:ln w="15875">
            <a:solidFill>
              <a:srgbClr val="1C2024"/>
            </a:solidFill>
            <a:prstDash val="solid"/>
          </a:ln>
        </p:spPr>
      </p:sp>
      <p:sp>
        <p:nvSpPr>
          <p:cNvPr id="40" name="diagram#507"/>
          <p:cNvSpPr/>
          <p:nvPr/>
        </p:nvSpPr>
        <p:spPr>
          <a:xfrm>
            <a:off x="1133856" y="5541264"/>
            <a:ext cx="2124380" cy="201168"/>
          </a:xfrm>
          <a:prstGeom prst="rect">
            <a:avLst/>
          </a:prstGeom>
          <a:noFill/>
          <a:ln/>
        </p:spPr>
        <p:txBody>
          <a:bodyPr wrap="square" lIns="0" tIns="0" rIns="0" bIns="0" rtlCol="0" anchor="ctr"/>
          <a:lstStyle/>
          <a:p>
            <a:pPr indent="0" marL="0">
              <a:buNone/>
            </a:pPr>
            <a:r>
              <a:rPr lang="en-US" sz="800" dirty="0">
                <a:solidFill>
                  <a:srgbClr val="60646C"/>
                </a:solidFill>
                <a:latin typeface="Consolas" pitchFamily="34" charset="0"/>
                <a:ea typeface="Consolas" pitchFamily="34" charset="-122"/>
                <a:cs typeface="Consolas" pitchFamily="34" charset="-120"/>
              </a:rPr>
              <a:t>Mesh node, offline</a:t>
            </a:r>
            <a:endParaRPr lang="en-US" sz="800" dirty="0"/>
          </a:p>
        </p:txBody>
      </p:sp>
      <p:sp>
        <p:nvSpPr>
          <p:cNvPr id="41" name="diagram#508"/>
          <p:cNvSpPr/>
          <p:nvPr/>
        </p:nvSpPr>
        <p:spPr>
          <a:xfrm>
            <a:off x="3587420" y="5641848"/>
            <a:ext cx="219456" cy="0"/>
          </a:xfrm>
          <a:prstGeom prst="line">
            <a:avLst/>
          </a:prstGeom>
          <a:noFill/>
          <a:ln w="12700">
            <a:solidFill>
              <a:srgbClr val="6E7178"/>
            </a:solidFill>
            <a:prstDash val="sysDot"/>
          </a:ln>
        </p:spPr>
      </p:sp>
      <p:sp>
        <p:nvSpPr>
          <p:cNvPr id="42" name="diagram#509"/>
          <p:cNvSpPr/>
          <p:nvPr/>
        </p:nvSpPr>
        <p:spPr>
          <a:xfrm>
            <a:off x="3898316" y="5541264"/>
            <a:ext cx="2124380" cy="201168"/>
          </a:xfrm>
          <a:prstGeom prst="rect">
            <a:avLst/>
          </a:prstGeom>
          <a:noFill/>
          <a:ln/>
        </p:spPr>
        <p:txBody>
          <a:bodyPr wrap="square" lIns="0" tIns="0" rIns="0" bIns="0" rtlCol="0" anchor="ctr"/>
          <a:lstStyle/>
          <a:p>
            <a:pPr indent="0" marL="0">
              <a:buNone/>
            </a:pPr>
            <a:r>
              <a:rPr lang="en-US" sz="800" dirty="0">
                <a:solidFill>
                  <a:srgbClr val="60646C"/>
                </a:solidFill>
                <a:latin typeface="Consolas" pitchFamily="34" charset="0"/>
                <a:ea typeface="Consolas" pitchFamily="34" charset="-122"/>
                <a:cs typeface="Consolas" pitchFamily="34" charset="-120"/>
              </a:rPr>
              <a:t>Multi-hop relay, Noise XX encrypted</a:t>
            </a:r>
            <a:endParaRPr lang="en-US" sz="800" dirty="0"/>
          </a:p>
        </p:txBody>
      </p:sp>
      <p:sp>
        <p:nvSpPr>
          <p:cNvPr id="43" name="diagram#510"/>
          <p:cNvSpPr/>
          <p:nvPr/>
        </p:nvSpPr>
        <p:spPr>
          <a:xfrm>
            <a:off x="6351880" y="5641848"/>
            <a:ext cx="219456" cy="0"/>
          </a:xfrm>
          <a:prstGeom prst="line">
            <a:avLst/>
          </a:prstGeom>
          <a:noFill/>
          <a:ln w="12700">
            <a:solidFill>
              <a:srgbClr val="6E7178"/>
            </a:solidFill>
            <a:prstDash val="sysDot"/>
          </a:ln>
        </p:spPr>
      </p:sp>
      <p:sp>
        <p:nvSpPr>
          <p:cNvPr id="44" name="diagram#511"/>
          <p:cNvSpPr/>
          <p:nvPr/>
        </p:nvSpPr>
        <p:spPr>
          <a:xfrm>
            <a:off x="6662776" y="5541264"/>
            <a:ext cx="2124380" cy="201168"/>
          </a:xfrm>
          <a:prstGeom prst="rect">
            <a:avLst/>
          </a:prstGeom>
          <a:noFill/>
          <a:ln/>
        </p:spPr>
        <p:txBody>
          <a:bodyPr wrap="square" lIns="0" tIns="0" rIns="0" bIns="0" rtlCol="0" anchor="ctr"/>
          <a:lstStyle/>
          <a:p>
            <a:pPr indent="0" marL="0">
              <a:buNone/>
            </a:pPr>
            <a:r>
              <a:rPr lang="en-US" sz="800" dirty="0">
                <a:solidFill>
                  <a:srgbClr val="60646C"/>
                </a:solidFill>
                <a:latin typeface="Consolas" pitchFamily="34" charset="0"/>
                <a:ea typeface="Consolas" pitchFamily="34" charset="-122"/>
                <a:cs typeface="Consolas" pitchFamily="34" charset="-120"/>
              </a:rPr>
              <a:t>bitchat on the same mesh</a:t>
            </a:r>
            <a:endParaRPr lang="en-US" sz="800" dirty="0"/>
          </a:p>
        </p:txBody>
      </p:sp>
      <p:sp>
        <p:nvSpPr>
          <p:cNvPr id="45" name="diagram#512"/>
          <p:cNvSpPr/>
          <p:nvPr/>
        </p:nvSpPr>
        <p:spPr>
          <a:xfrm>
            <a:off x="9116339" y="5641848"/>
            <a:ext cx="219456" cy="0"/>
          </a:xfrm>
          <a:prstGeom prst="line">
            <a:avLst/>
          </a:prstGeom>
          <a:noFill/>
          <a:ln w="12700">
            <a:solidFill>
              <a:srgbClr val="2563EB"/>
            </a:solidFill>
            <a:prstDash val="sysDot"/>
          </a:ln>
        </p:spPr>
      </p:sp>
      <p:sp>
        <p:nvSpPr>
          <p:cNvPr id="46" name="diagram#513"/>
          <p:cNvSpPr/>
          <p:nvPr/>
        </p:nvSpPr>
        <p:spPr>
          <a:xfrm>
            <a:off x="9427235" y="5541264"/>
            <a:ext cx="2124380" cy="201168"/>
          </a:xfrm>
          <a:prstGeom prst="rect">
            <a:avLst/>
          </a:prstGeom>
          <a:noFill/>
          <a:ln/>
        </p:spPr>
        <p:txBody>
          <a:bodyPr wrap="square" lIns="0" tIns="0" rIns="0" bIns="0" rtlCol="0" anchor="ctr"/>
          <a:lstStyle/>
          <a:p>
            <a:pPr indent="0" marL="0">
              <a:buNone/>
            </a:pPr>
            <a:r>
              <a:rPr lang="en-US" sz="800" dirty="0">
                <a:solidFill>
                  <a:srgbClr val="60646C"/>
                </a:solidFill>
                <a:latin typeface="Consolas" pitchFamily="34" charset="0"/>
                <a:ea typeface="Consolas" pitchFamily="34" charset="-122"/>
                <a:cs typeface="Consolas" pitchFamily="34" charset="-120"/>
              </a:rPr>
              <a:t>Nostr bridge, when online</a:t>
            </a:r>
            <a:endParaRPr lang="en-US" sz="800" dirty="0"/>
          </a:p>
        </p:txBody>
      </p:sp>
      <p:sp>
        <p:nvSpPr>
          <p:cNvPr id="47" name="facts#514"/>
          <p:cNvSpPr/>
          <p:nvPr/>
        </p:nvSpPr>
        <p:spPr>
          <a:xfrm>
            <a:off x="566928" y="5925312"/>
            <a:ext cx="11057839" cy="274320"/>
          </a:xfrm>
          <a:prstGeom prst="rect">
            <a:avLst/>
          </a:prstGeom>
          <a:noFill/>
          <a:ln/>
        </p:spPr>
        <p:txBody>
          <a:bodyPr wrap="square" lIns="0" tIns="0" rIns="0" bIns="0" rtlCol="0" anchor="t"/>
          <a:lstStyle/>
          <a:p>
            <a:pPr indent="0" marL="0">
              <a:lnSpc>
                <a:spcPct val="134000"/>
              </a:lnSpc>
              <a:buNone/>
            </a:pPr>
            <a:r>
              <a:rPr lang="en-US" sz="950" dirty="0">
                <a:solidFill>
                  <a:srgbClr val="1C2024"/>
                </a:solidFill>
                <a:latin typeface="Segoe UI" pitchFamily="34" charset="0"/>
                <a:ea typeface="Segoe UI" pitchFamily="34" charset="-122"/>
                <a:cs typeface="Segoe UI" pitchFamily="34" charset="-120"/>
              </a:rPr>
              <a:t>One TypeScript protocol core with two thin native radios, so a fix lands on iOS and Android in the same commit. 189 source files, 125 test files, and no server anywhere in the delivery path.</a:t>
            </a:r>
            <a:endParaRPr lang="en-US" sz="950" dirty="0"/>
          </a:p>
        </p:txBody>
      </p:sp>
      <p:sp>
        <p:nvSpPr>
          <p:cNvPr id="49" name="Shape 46"/>
          <p:cNvSpPr/>
          <p:nvPr/>
        </p:nvSpPr>
        <p:spPr>
          <a:xfrm>
            <a:off x="566928" y="6327648"/>
            <a:ext cx="11057839" cy="0"/>
          </a:xfrm>
          <a:prstGeom prst="line">
            <a:avLst/>
          </a:prstGeom>
          <a:noFill/>
          <a:ln w="9525">
            <a:solidFill>
              <a:srgbClr val="D9D9E0"/>
            </a:solidFill>
            <a:prstDash val="solid"/>
          </a:ln>
        </p:spPr>
      </p:sp>
      <p:sp>
        <p:nvSpPr>
          <p:cNvPr id="50" name="Shape 47"/>
          <p:cNvSpPr/>
          <p:nvPr/>
        </p:nvSpPr>
        <p:spPr>
          <a:xfrm>
            <a:off x="566928" y="6441948"/>
            <a:ext cx="24725" cy="24725"/>
          </a:xfrm>
          <a:prstGeom prst="rect">
            <a:avLst/>
          </a:prstGeom>
          <a:solidFill>
            <a:srgbClr val="1C2024"/>
          </a:solidFill>
          <a:ln w="12700">
            <a:solidFill>
              <a:srgbClr val="1C2024"/>
            </a:solidFill>
            <a:prstDash val="solid"/>
          </a:ln>
        </p:spPr>
      </p:sp>
      <p:sp>
        <p:nvSpPr>
          <p:cNvPr id="51" name="Shape 48"/>
          <p:cNvSpPr/>
          <p:nvPr/>
        </p:nvSpPr>
        <p:spPr>
          <a:xfrm>
            <a:off x="590702" y="6441948"/>
            <a:ext cx="24725" cy="24725"/>
          </a:xfrm>
          <a:prstGeom prst="rect">
            <a:avLst/>
          </a:prstGeom>
          <a:solidFill>
            <a:srgbClr val="1C2024"/>
          </a:solidFill>
          <a:ln w="12700">
            <a:solidFill>
              <a:srgbClr val="1C2024"/>
            </a:solidFill>
            <a:prstDash val="solid"/>
          </a:ln>
        </p:spPr>
      </p:sp>
      <p:sp>
        <p:nvSpPr>
          <p:cNvPr id="52" name="Shape 49"/>
          <p:cNvSpPr/>
          <p:nvPr/>
        </p:nvSpPr>
        <p:spPr>
          <a:xfrm>
            <a:off x="780898" y="6441948"/>
            <a:ext cx="24725" cy="24725"/>
          </a:xfrm>
          <a:prstGeom prst="rect">
            <a:avLst/>
          </a:prstGeom>
          <a:solidFill>
            <a:srgbClr val="1C2024"/>
          </a:solidFill>
          <a:ln w="12700">
            <a:solidFill>
              <a:srgbClr val="1C2024"/>
            </a:solidFill>
            <a:prstDash val="solid"/>
          </a:ln>
        </p:spPr>
      </p:sp>
      <p:sp>
        <p:nvSpPr>
          <p:cNvPr id="53" name="Shape 50"/>
          <p:cNvSpPr/>
          <p:nvPr/>
        </p:nvSpPr>
        <p:spPr>
          <a:xfrm>
            <a:off x="804672" y="6441948"/>
            <a:ext cx="24725" cy="24725"/>
          </a:xfrm>
          <a:prstGeom prst="rect">
            <a:avLst/>
          </a:prstGeom>
          <a:solidFill>
            <a:srgbClr val="1C2024"/>
          </a:solidFill>
          <a:ln w="12700">
            <a:solidFill>
              <a:srgbClr val="1C2024"/>
            </a:solidFill>
            <a:prstDash val="solid"/>
          </a:ln>
        </p:spPr>
      </p:sp>
      <p:sp>
        <p:nvSpPr>
          <p:cNvPr id="54" name="Shape 51"/>
          <p:cNvSpPr/>
          <p:nvPr/>
        </p:nvSpPr>
        <p:spPr>
          <a:xfrm>
            <a:off x="590702" y="6465722"/>
            <a:ext cx="24725" cy="24725"/>
          </a:xfrm>
          <a:prstGeom prst="rect">
            <a:avLst/>
          </a:prstGeom>
          <a:solidFill>
            <a:srgbClr val="1C2024"/>
          </a:solidFill>
          <a:ln w="12700">
            <a:solidFill>
              <a:srgbClr val="1C2024"/>
            </a:solidFill>
            <a:prstDash val="solid"/>
          </a:ln>
        </p:spPr>
      </p:sp>
      <p:sp>
        <p:nvSpPr>
          <p:cNvPr id="55" name="Shape 52"/>
          <p:cNvSpPr/>
          <p:nvPr/>
        </p:nvSpPr>
        <p:spPr>
          <a:xfrm>
            <a:off x="614477" y="6465722"/>
            <a:ext cx="24725" cy="24725"/>
          </a:xfrm>
          <a:prstGeom prst="rect">
            <a:avLst/>
          </a:prstGeom>
          <a:solidFill>
            <a:srgbClr val="1C2024"/>
          </a:solidFill>
          <a:ln w="12700">
            <a:solidFill>
              <a:srgbClr val="1C2024"/>
            </a:solidFill>
            <a:prstDash val="solid"/>
          </a:ln>
        </p:spPr>
      </p:sp>
      <p:sp>
        <p:nvSpPr>
          <p:cNvPr id="56" name="Shape 53"/>
          <p:cNvSpPr/>
          <p:nvPr/>
        </p:nvSpPr>
        <p:spPr>
          <a:xfrm>
            <a:off x="757123" y="6465722"/>
            <a:ext cx="24725" cy="24725"/>
          </a:xfrm>
          <a:prstGeom prst="rect">
            <a:avLst/>
          </a:prstGeom>
          <a:solidFill>
            <a:srgbClr val="1C2024"/>
          </a:solidFill>
          <a:ln w="12700">
            <a:solidFill>
              <a:srgbClr val="1C2024"/>
            </a:solidFill>
            <a:prstDash val="solid"/>
          </a:ln>
        </p:spPr>
      </p:sp>
      <p:sp>
        <p:nvSpPr>
          <p:cNvPr id="57" name="Shape 54"/>
          <p:cNvSpPr/>
          <p:nvPr/>
        </p:nvSpPr>
        <p:spPr>
          <a:xfrm>
            <a:off x="780898" y="6465722"/>
            <a:ext cx="24725" cy="24725"/>
          </a:xfrm>
          <a:prstGeom prst="rect">
            <a:avLst/>
          </a:prstGeom>
          <a:solidFill>
            <a:srgbClr val="1C2024"/>
          </a:solidFill>
          <a:ln w="12700">
            <a:solidFill>
              <a:srgbClr val="1C2024"/>
            </a:solidFill>
            <a:prstDash val="solid"/>
          </a:ln>
        </p:spPr>
      </p:sp>
      <p:sp>
        <p:nvSpPr>
          <p:cNvPr id="58" name="Shape 55"/>
          <p:cNvSpPr/>
          <p:nvPr/>
        </p:nvSpPr>
        <p:spPr>
          <a:xfrm>
            <a:off x="614477" y="6489497"/>
            <a:ext cx="24725" cy="24725"/>
          </a:xfrm>
          <a:prstGeom prst="rect">
            <a:avLst/>
          </a:prstGeom>
          <a:solidFill>
            <a:srgbClr val="1C2024"/>
          </a:solidFill>
          <a:ln w="12700">
            <a:solidFill>
              <a:srgbClr val="1C2024"/>
            </a:solidFill>
            <a:prstDash val="solid"/>
          </a:ln>
        </p:spPr>
      </p:sp>
      <p:sp>
        <p:nvSpPr>
          <p:cNvPr id="59" name="Shape 56"/>
          <p:cNvSpPr/>
          <p:nvPr/>
        </p:nvSpPr>
        <p:spPr>
          <a:xfrm>
            <a:off x="638251" y="6489497"/>
            <a:ext cx="24725" cy="24725"/>
          </a:xfrm>
          <a:prstGeom prst="rect">
            <a:avLst/>
          </a:prstGeom>
          <a:solidFill>
            <a:srgbClr val="1C2024"/>
          </a:solidFill>
          <a:ln w="12700">
            <a:solidFill>
              <a:srgbClr val="1C2024"/>
            </a:solidFill>
            <a:prstDash val="solid"/>
          </a:ln>
        </p:spPr>
      </p:sp>
      <p:sp>
        <p:nvSpPr>
          <p:cNvPr id="60" name="Shape 57"/>
          <p:cNvSpPr/>
          <p:nvPr/>
        </p:nvSpPr>
        <p:spPr>
          <a:xfrm>
            <a:off x="685800" y="6489497"/>
            <a:ext cx="24725" cy="24725"/>
          </a:xfrm>
          <a:prstGeom prst="rect">
            <a:avLst/>
          </a:prstGeom>
          <a:solidFill>
            <a:srgbClr val="1C2024"/>
          </a:solidFill>
          <a:ln w="12700">
            <a:solidFill>
              <a:srgbClr val="1C2024"/>
            </a:solidFill>
            <a:prstDash val="solid"/>
          </a:ln>
        </p:spPr>
      </p:sp>
      <p:sp>
        <p:nvSpPr>
          <p:cNvPr id="61" name="Shape 58"/>
          <p:cNvSpPr/>
          <p:nvPr/>
        </p:nvSpPr>
        <p:spPr>
          <a:xfrm>
            <a:off x="733349" y="6489497"/>
            <a:ext cx="24725" cy="24725"/>
          </a:xfrm>
          <a:prstGeom prst="rect">
            <a:avLst/>
          </a:prstGeom>
          <a:solidFill>
            <a:srgbClr val="1C2024"/>
          </a:solidFill>
          <a:ln w="12700">
            <a:solidFill>
              <a:srgbClr val="1C2024"/>
            </a:solidFill>
            <a:prstDash val="solid"/>
          </a:ln>
        </p:spPr>
      </p:sp>
      <p:sp>
        <p:nvSpPr>
          <p:cNvPr id="62" name="Shape 59"/>
          <p:cNvSpPr/>
          <p:nvPr/>
        </p:nvSpPr>
        <p:spPr>
          <a:xfrm>
            <a:off x="757123" y="6489497"/>
            <a:ext cx="24725" cy="24725"/>
          </a:xfrm>
          <a:prstGeom prst="rect">
            <a:avLst/>
          </a:prstGeom>
          <a:solidFill>
            <a:srgbClr val="1C2024"/>
          </a:solidFill>
          <a:ln w="12700">
            <a:solidFill>
              <a:srgbClr val="1C2024"/>
            </a:solidFill>
            <a:prstDash val="solid"/>
          </a:ln>
        </p:spPr>
      </p:sp>
      <p:sp>
        <p:nvSpPr>
          <p:cNvPr id="63" name="Shape 60"/>
          <p:cNvSpPr/>
          <p:nvPr/>
        </p:nvSpPr>
        <p:spPr>
          <a:xfrm>
            <a:off x="638251" y="6513271"/>
            <a:ext cx="24725" cy="24725"/>
          </a:xfrm>
          <a:prstGeom prst="rect">
            <a:avLst/>
          </a:prstGeom>
          <a:solidFill>
            <a:srgbClr val="1C2024"/>
          </a:solidFill>
          <a:ln w="12700">
            <a:solidFill>
              <a:srgbClr val="1C2024"/>
            </a:solidFill>
            <a:prstDash val="solid"/>
          </a:ln>
        </p:spPr>
      </p:sp>
      <p:sp>
        <p:nvSpPr>
          <p:cNvPr id="64" name="Shape 61"/>
          <p:cNvSpPr/>
          <p:nvPr/>
        </p:nvSpPr>
        <p:spPr>
          <a:xfrm>
            <a:off x="662026" y="6513271"/>
            <a:ext cx="24725" cy="24725"/>
          </a:xfrm>
          <a:prstGeom prst="rect">
            <a:avLst/>
          </a:prstGeom>
          <a:solidFill>
            <a:srgbClr val="1C2024"/>
          </a:solidFill>
          <a:ln w="12700">
            <a:solidFill>
              <a:srgbClr val="1C2024"/>
            </a:solidFill>
            <a:prstDash val="solid"/>
          </a:ln>
        </p:spPr>
      </p:sp>
      <p:sp>
        <p:nvSpPr>
          <p:cNvPr id="65" name="Shape 62"/>
          <p:cNvSpPr/>
          <p:nvPr/>
        </p:nvSpPr>
        <p:spPr>
          <a:xfrm>
            <a:off x="685800" y="6513271"/>
            <a:ext cx="24725" cy="24725"/>
          </a:xfrm>
          <a:prstGeom prst="rect">
            <a:avLst/>
          </a:prstGeom>
          <a:solidFill>
            <a:srgbClr val="1C2024"/>
          </a:solidFill>
          <a:ln w="12700">
            <a:solidFill>
              <a:srgbClr val="1C2024"/>
            </a:solidFill>
            <a:prstDash val="solid"/>
          </a:ln>
        </p:spPr>
      </p:sp>
      <p:sp>
        <p:nvSpPr>
          <p:cNvPr id="66" name="Shape 63"/>
          <p:cNvSpPr/>
          <p:nvPr/>
        </p:nvSpPr>
        <p:spPr>
          <a:xfrm>
            <a:off x="709574" y="6513271"/>
            <a:ext cx="24725" cy="24725"/>
          </a:xfrm>
          <a:prstGeom prst="rect">
            <a:avLst/>
          </a:prstGeom>
          <a:solidFill>
            <a:srgbClr val="1C2024"/>
          </a:solidFill>
          <a:ln w="12700">
            <a:solidFill>
              <a:srgbClr val="1C2024"/>
            </a:solidFill>
            <a:prstDash val="solid"/>
          </a:ln>
        </p:spPr>
      </p:sp>
      <p:sp>
        <p:nvSpPr>
          <p:cNvPr id="67" name="Shape 64"/>
          <p:cNvSpPr/>
          <p:nvPr/>
        </p:nvSpPr>
        <p:spPr>
          <a:xfrm>
            <a:off x="733349" y="6513271"/>
            <a:ext cx="24725" cy="24725"/>
          </a:xfrm>
          <a:prstGeom prst="rect">
            <a:avLst/>
          </a:prstGeom>
          <a:solidFill>
            <a:srgbClr val="1C2024"/>
          </a:solidFill>
          <a:ln w="12700">
            <a:solidFill>
              <a:srgbClr val="1C2024"/>
            </a:solidFill>
            <a:prstDash val="solid"/>
          </a:ln>
        </p:spPr>
      </p:sp>
      <p:sp>
        <p:nvSpPr>
          <p:cNvPr id="68" name="Shape 65"/>
          <p:cNvSpPr/>
          <p:nvPr/>
        </p:nvSpPr>
        <p:spPr>
          <a:xfrm>
            <a:off x="662026" y="6537046"/>
            <a:ext cx="24725" cy="24725"/>
          </a:xfrm>
          <a:prstGeom prst="rect">
            <a:avLst/>
          </a:prstGeom>
          <a:solidFill>
            <a:srgbClr val="1C2024"/>
          </a:solidFill>
          <a:ln w="12700">
            <a:solidFill>
              <a:srgbClr val="1C2024"/>
            </a:solidFill>
            <a:prstDash val="solid"/>
          </a:ln>
        </p:spPr>
      </p:sp>
      <p:sp>
        <p:nvSpPr>
          <p:cNvPr id="69" name="Shape 66"/>
          <p:cNvSpPr/>
          <p:nvPr/>
        </p:nvSpPr>
        <p:spPr>
          <a:xfrm>
            <a:off x="685800" y="6537046"/>
            <a:ext cx="24725" cy="24725"/>
          </a:xfrm>
          <a:prstGeom prst="rect">
            <a:avLst/>
          </a:prstGeom>
          <a:solidFill>
            <a:srgbClr val="1C2024"/>
          </a:solidFill>
          <a:ln w="12700">
            <a:solidFill>
              <a:srgbClr val="1C2024"/>
            </a:solidFill>
            <a:prstDash val="solid"/>
          </a:ln>
        </p:spPr>
      </p:sp>
      <p:sp>
        <p:nvSpPr>
          <p:cNvPr id="70" name="Shape 67"/>
          <p:cNvSpPr/>
          <p:nvPr/>
        </p:nvSpPr>
        <p:spPr>
          <a:xfrm>
            <a:off x="709574" y="6537046"/>
            <a:ext cx="24725" cy="24725"/>
          </a:xfrm>
          <a:prstGeom prst="rect">
            <a:avLst/>
          </a:prstGeom>
          <a:solidFill>
            <a:srgbClr val="1C2024"/>
          </a:solidFill>
          <a:ln w="12700">
            <a:solidFill>
              <a:srgbClr val="1C2024"/>
            </a:solidFill>
            <a:prstDash val="solid"/>
          </a:ln>
        </p:spPr>
      </p:sp>
      <p:sp>
        <p:nvSpPr>
          <p:cNvPr id="71" name="Shape 68"/>
          <p:cNvSpPr/>
          <p:nvPr/>
        </p:nvSpPr>
        <p:spPr>
          <a:xfrm>
            <a:off x="685800" y="6560820"/>
            <a:ext cx="24725" cy="24725"/>
          </a:xfrm>
          <a:prstGeom prst="rect">
            <a:avLst/>
          </a:prstGeom>
          <a:solidFill>
            <a:srgbClr val="1C2024"/>
          </a:solidFill>
          <a:ln w="12700">
            <a:solidFill>
              <a:srgbClr val="1C2024"/>
            </a:solidFill>
            <a:prstDash val="solid"/>
          </a:ln>
        </p:spPr>
      </p:sp>
      <p:sp>
        <p:nvSpPr>
          <p:cNvPr id="72" name="Text 69"/>
          <p:cNvSpPr/>
          <p:nvPr/>
        </p:nvSpPr>
        <p:spPr>
          <a:xfrm>
            <a:off x="914400" y="6391656"/>
            <a:ext cx="1828800" cy="219456"/>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AIRHOP</a:t>
            </a:r>
            <a:endParaRPr lang="en-US" sz="800" dirty="0"/>
          </a:p>
        </p:txBody>
      </p:sp>
      <p:sp>
        <p:nvSpPr>
          <p:cNvPr id="73" name="Text 70"/>
          <p:cNvSpPr/>
          <p:nvPr/>
        </p:nvSpPr>
        <p:spPr>
          <a:xfrm>
            <a:off x="9795967" y="6391656"/>
            <a:ext cx="1828800" cy="219456"/>
          </a:xfrm>
          <a:prstGeom prst="rect">
            <a:avLst/>
          </a:prstGeom>
          <a:noFill/>
          <a:ln/>
        </p:spPr>
        <p:txBody>
          <a:bodyPr wrap="square" lIns="0" tIns="0" rIns="0" bIns="0" rtlCol="0" anchor="ctr"/>
          <a:lstStyle/>
          <a:p>
            <a:pPr algn="r" indent="0" marL="0">
              <a:buNone/>
            </a:pPr>
            <a:r>
              <a:rPr lang="en-US" sz="800" dirty="0">
                <a:solidFill>
                  <a:srgbClr val="6E7178"/>
                </a:solidFill>
                <a:latin typeface="Consolas" pitchFamily="34" charset="0"/>
                <a:ea typeface="Consolas" pitchFamily="34" charset="-122"/>
                <a:cs typeface="Consolas" pitchFamily="34" charset="-120"/>
              </a:rPr>
              <a:t>06 / 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head#515"/>
          <p:cNvSpPr/>
          <p:nvPr/>
        </p:nvSpPr>
        <p:spPr>
          <a:xfrm>
            <a:off x="566928" y="402336"/>
            <a:ext cx="11057839" cy="182880"/>
          </a:xfrm>
          <a:prstGeom prst="rect">
            <a:avLst/>
          </a:prstGeom>
          <a:noFill/>
          <a:ln/>
        </p:spPr>
        <p:txBody>
          <a:bodyPr wrap="square" lIns="0" tIns="0" rIns="0" bIns="0" rtlCol="0" anchor="ctr"/>
          <a:lstStyle/>
          <a:p>
            <a:pPr indent="0" marL="0">
              <a:buNone/>
            </a:pPr>
            <a:r>
              <a:rPr lang="en-US" sz="900" b="1" spc="160" kern="0" dirty="0">
                <a:solidFill>
                  <a:srgbClr val="60646C"/>
                </a:solidFill>
                <a:latin typeface="Consolas" pitchFamily="34" charset="0"/>
                <a:ea typeface="Consolas" pitchFamily="34" charset="-122"/>
                <a:cs typeface="Consolas" pitchFamily="34" charset="-120"/>
              </a:rPr>
              <a:t>SECURITY</a:t>
            </a:r>
            <a:endParaRPr lang="en-US" sz="900" dirty="0"/>
          </a:p>
        </p:txBody>
      </p:sp>
      <p:sp>
        <p:nvSpPr>
          <p:cNvPr id="3" name="head#516"/>
          <p:cNvSpPr/>
          <p:nvPr/>
        </p:nvSpPr>
        <p:spPr>
          <a:xfrm>
            <a:off x="566928" y="658368"/>
            <a:ext cx="11057839" cy="872338"/>
          </a:xfrm>
          <a:prstGeom prst="rect">
            <a:avLst/>
          </a:prstGeom>
          <a:noFill/>
          <a:ln/>
        </p:spPr>
        <p:txBody>
          <a:bodyPr wrap="square" lIns="0" tIns="0" rIns="0" bIns="0" rtlCol="0" anchor="t"/>
          <a:lstStyle/>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Written against an attacker</a:t>
            </a:r>
            <a:endParaRPr lang="en-US" sz="2700" dirty="0"/>
          </a:p>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standing next to you.</a:t>
            </a:r>
            <a:endParaRPr lang="en-US" sz="2700" dirty="0"/>
          </a:p>
        </p:txBody>
      </p:sp>
      <p:sp>
        <p:nvSpPr>
          <p:cNvPr id="4" name="head#517"/>
          <p:cNvSpPr/>
          <p:nvPr/>
        </p:nvSpPr>
        <p:spPr>
          <a:xfrm>
            <a:off x="566928" y="1677010"/>
            <a:ext cx="9052560" cy="515112"/>
          </a:xfrm>
          <a:prstGeom prst="rect">
            <a:avLst/>
          </a:prstGeom>
          <a:noFill/>
          <a:ln/>
        </p:spPr>
        <p:txBody>
          <a:bodyPr wrap="square" lIns="0" tIns="0" rIns="0" bIns="0" rtlCol="0" anchor="t"/>
          <a:lstStyle/>
          <a:p>
            <a:pPr indent="0" marL="0">
              <a:lnSpc>
                <a:spcPct val="130000"/>
              </a:lnSpc>
              <a:buNone/>
            </a:pPr>
            <a:r>
              <a:rPr lang="en-US" sz="1300" dirty="0">
                <a:solidFill>
                  <a:srgbClr val="60646C"/>
                </a:solidFill>
                <a:latin typeface="Segoe UI" pitchFamily="34" charset="0"/>
                <a:ea typeface="Segoe UI" pitchFamily="34" charset="-122"/>
                <a:cs typeface="Segoe UI" pitchFamily="34" charset="-120"/>
              </a:rPr>
              <a:t>Assume the stranger in range is hostile. They can forge any header, replay anything they captured, invent as many identities as they like, and quietly drop whatever passes through their phone. All of this is built for that.</a:t>
            </a:r>
            <a:endParaRPr lang="en-US" sz="1300" dirty="0"/>
          </a:p>
        </p:txBody>
      </p:sp>
      <p:sp>
        <p:nvSpPr>
          <p:cNvPr id="5" name="sec0#518"/>
          <p:cNvSpPr/>
          <p:nvPr/>
        </p:nvSpPr>
        <p:spPr>
          <a:xfrm>
            <a:off x="566928" y="2286000"/>
            <a:ext cx="2599868" cy="1444752"/>
          </a:xfrm>
          <a:prstGeom prst="roundRect">
            <a:avLst>
              <a:gd name="adj" fmla="val 6962"/>
            </a:avLst>
          </a:prstGeom>
          <a:solidFill>
            <a:srgbClr val="FCFCFD"/>
          </a:solidFill>
          <a:ln w="9525">
            <a:solidFill>
              <a:srgbClr val="D9D9E0"/>
            </a:solidFill>
            <a:prstDash val="solid"/>
          </a:ln>
        </p:spPr>
      </p:sp>
      <p:sp>
        <p:nvSpPr>
          <p:cNvPr id="6" name="sec0#519"/>
          <p:cNvSpPr/>
          <p:nvPr/>
        </p:nvSpPr>
        <p:spPr>
          <a:xfrm>
            <a:off x="859536" y="2487168"/>
            <a:ext cx="2014652" cy="237744"/>
          </a:xfrm>
          <a:prstGeom prst="rect">
            <a:avLst/>
          </a:prstGeom>
          <a:noFill/>
          <a:ln/>
        </p:spPr>
        <p:txBody>
          <a:bodyPr wrap="square" lIns="0" tIns="0" rIns="0" bIns="0" rtlCol="0" anchor="ctr"/>
          <a:lstStyle/>
          <a:p>
            <a:pPr indent="0" marL="0">
              <a:buNone/>
            </a:pPr>
            <a:r>
              <a:rPr lang="en-US" sz="950" b="1" spc="90" kern="0" dirty="0">
                <a:solidFill>
                  <a:srgbClr val="1C2024"/>
                </a:solidFill>
                <a:latin typeface="Consolas" pitchFamily="34" charset="0"/>
                <a:ea typeface="Consolas" pitchFamily="34" charset="-122"/>
                <a:cs typeface="Consolas" pitchFamily="34" charset="-120"/>
              </a:rPr>
              <a:t>Sessions</a:t>
            </a:r>
            <a:endParaRPr lang="en-US" sz="950" dirty="0"/>
          </a:p>
        </p:txBody>
      </p:sp>
      <p:sp>
        <p:nvSpPr>
          <p:cNvPr id="7" name="sec0#520"/>
          <p:cNvSpPr/>
          <p:nvPr/>
        </p:nvSpPr>
        <p:spPr>
          <a:xfrm>
            <a:off x="859536" y="2798064"/>
            <a:ext cx="2014652" cy="0"/>
          </a:xfrm>
          <a:prstGeom prst="line">
            <a:avLst/>
          </a:prstGeom>
          <a:noFill/>
          <a:ln w="9525">
            <a:solidFill>
              <a:srgbClr val="D9D9E0"/>
            </a:solidFill>
            <a:prstDash val="solid"/>
          </a:ln>
        </p:spPr>
      </p:sp>
      <p:sp>
        <p:nvSpPr>
          <p:cNvPr id="8" name="sec0#521"/>
          <p:cNvSpPr/>
          <p:nvPr/>
        </p:nvSpPr>
        <p:spPr>
          <a:xfrm>
            <a:off x="859536" y="2907792"/>
            <a:ext cx="2014652" cy="768096"/>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Noise XX for mutual authentication and forward secrecy per session, the same handshake WireGuard uses.</a:t>
            </a:r>
            <a:endParaRPr lang="en-US" sz="950" dirty="0"/>
          </a:p>
        </p:txBody>
      </p:sp>
      <p:sp>
        <p:nvSpPr>
          <p:cNvPr id="9" name="sec1#522"/>
          <p:cNvSpPr/>
          <p:nvPr/>
        </p:nvSpPr>
        <p:spPr>
          <a:xfrm>
            <a:off x="3386252" y="2286000"/>
            <a:ext cx="2599868" cy="1444752"/>
          </a:xfrm>
          <a:prstGeom prst="roundRect">
            <a:avLst>
              <a:gd name="adj" fmla="val 6962"/>
            </a:avLst>
          </a:prstGeom>
          <a:solidFill>
            <a:srgbClr val="FCFCFD"/>
          </a:solidFill>
          <a:ln w="9525">
            <a:solidFill>
              <a:srgbClr val="D9D9E0"/>
            </a:solidFill>
            <a:prstDash val="solid"/>
          </a:ln>
        </p:spPr>
      </p:sp>
      <p:sp>
        <p:nvSpPr>
          <p:cNvPr id="10" name="sec1#523"/>
          <p:cNvSpPr/>
          <p:nvPr/>
        </p:nvSpPr>
        <p:spPr>
          <a:xfrm>
            <a:off x="3678860" y="2487168"/>
            <a:ext cx="2014652" cy="237744"/>
          </a:xfrm>
          <a:prstGeom prst="rect">
            <a:avLst/>
          </a:prstGeom>
          <a:noFill/>
          <a:ln/>
        </p:spPr>
        <p:txBody>
          <a:bodyPr wrap="square" lIns="0" tIns="0" rIns="0" bIns="0" rtlCol="0" anchor="ctr"/>
          <a:lstStyle/>
          <a:p>
            <a:pPr indent="0" marL="0">
              <a:buNone/>
            </a:pPr>
            <a:r>
              <a:rPr lang="en-US" sz="950" b="1" spc="90" kern="0" dirty="0">
                <a:solidFill>
                  <a:srgbClr val="1C2024"/>
                </a:solidFill>
                <a:latin typeface="Consolas" pitchFamily="34" charset="0"/>
                <a:ea typeface="Consolas" pitchFamily="34" charset="-122"/>
                <a:cs typeface="Consolas" pitchFamily="34" charset="-120"/>
              </a:rPr>
              <a:t>Messages</a:t>
            </a:r>
            <a:endParaRPr lang="en-US" sz="950" dirty="0"/>
          </a:p>
        </p:txBody>
      </p:sp>
      <p:sp>
        <p:nvSpPr>
          <p:cNvPr id="11" name="sec1#524"/>
          <p:cNvSpPr/>
          <p:nvPr/>
        </p:nvSpPr>
        <p:spPr>
          <a:xfrm>
            <a:off x="3678860" y="2798064"/>
            <a:ext cx="2014652" cy="0"/>
          </a:xfrm>
          <a:prstGeom prst="line">
            <a:avLst/>
          </a:prstGeom>
          <a:noFill/>
          <a:ln w="9525">
            <a:solidFill>
              <a:srgbClr val="D9D9E0"/>
            </a:solidFill>
            <a:prstDash val="solid"/>
          </a:ln>
        </p:spPr>
      </p:sp>
      <p:sp>
        <p:nvSpPr>
          <p:cNvPr id="12" name="sec1#525"/>
          <p:cNvSpPr/>
          <p:nvPr/>
        </p:nvSpPr>
        <p:spPr>
          <a:xfrm>
            <a:off x="3678860" y="2907792"/>
            <a:ext cx="2014652" cy="768096"/>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Double Ratchet for forward secrecy per message, seeded from a secret only the two parties hold.</a:t>
            </a:r>
            <a:endParaRPr lang="en-US" sz="950" dirty="0"/>
          </a:p>
        </p:txBody>
      </p:sp>
      <p:sp>
        <p:nvSpPr>
          <p:cNvPr id="13" name="sec2#526"/>
          <p:cNvSpPr/>
          <p:nvPr/>
        </p:nvSpPr>
        <p:spPr>
          <a:xfrm>
            <a:off x="6205576" y="2286000"/>
            <a:ext cx="2599868" cy="1444752"/>
          </a:xfrm>
          <a:prstGeom prst="roundRect">
            <a:avLst>
              <a:gd name="adj" fmla="val 6962"/>
            </a:avLst>
          </a:prstGeom>
          <a:solidFill>
            <a:srgbClr val="FCFCFD"/>
          </a:solidFill>
          <a:ln w="9525">
            <a:solidFill>
              <a:srgbClr val="D9D9E0"/>
            </a:solidFill>
            <a:prstDash val="solid"/>
          </a:ln>
        </p:spPr>
      </p:sp>
      <p:sp>
        <p:nvSpPr>
          <p:cNvPr id="14" name="sec2#527"/>
          <p:cNvSpPr/>
          <p:nvPr/>
        </p:nvSpPr>
        <p:spPr>
          <a:xfrm>
            <a:off x="6498184" y="2487168"/>
            <a:ext cx="2014652" cy="237744"/>
          </a:xfrm>
          <a:prstGeom prst="rect">
            <a:avLst/>
          </a:prstGeom>
          <a:noFill/>
          <a:ln/>
        </p:spPr>
        <p:txBody>
          <a:bodyPr wrap="square" lIns="0" tIns="0" rIns="0" bIns="0" rtlCol="0" anchor="ctr"/>
          <a:lstStyle/>
          <a:p>
            <a:pPr indent="0" marL="0">
              <a:buNone/>
            </a:pPr>
            <a:r>
              <a:rPr lang="en-US" sz="950" b="1" spc="90" kern="0" dirty="0">
                <a:solidFill>
                  <a:srgbClr val="1C2024"/>
                </a:solidFill>
                <a:latin typeface="Consolas" pitchFamily="34" charset="0"/>
                <a:ea typeface="Consolas" pitchFamily="34" charset="-122"/>
                <a:cs typeface="Consolas" pitchFamily="34" charset="-120"/>
              </a:rPr>
              <a:t>Identity</a:t>
            </a:r>
            <a:endParaRPr lang="en-US" sz="950" dirty="0"/>
          </a:p>
        </p:txBody>
      </p:sp>
      <p:sp>
        <p:nvSpPr>
          <p:cNvPr id="15" name="sec2#528"/>
          <p:cNvSpPr/>
          <p:nvPr/>
        </p:nvSpPr>
        <p:spPr>
          <a:xfrm>
            <a:off x="6498184" y="2798064"/>
            <a:ext cx="2014652" cy="0"/>
          </a:xfrm>
          <a:prstGeom prst="line">
            <a:avLst/>
          </a:prstGeom>
          <a:noFill/>
          <a:ln w="9525">
            <a:solidFill>
              <a:srgbClr val="D9D9E0"/>
            </a:solidFill>
            <a:prstDash val="solid"/>
          </a:ln>
        </p:spPr>
      </p:sp>
      <p:sp>
        <p:nvSpPr>
          <p:cNvPr id="16" name="sec2#529"/>
          <p:cNvSpPr/>
          <p:nvPr/>
        </p:nvSpPr>
        <p:spPr>
          <a:xfrm>
            <a:off x="6498184" y="2907792"/>
            <a:ext cx="2014652" cy="768096"/>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Every packet signed and checked before it is shown. A name comes from the key, so it cannot be taken.</a:t>
            </a:r>
            <a:endParaRPr lang="en-US" sz="950" dirty="0"/>
          </a:p>
        </p:txBody>
      </p:sp>
      <p:sp>
        <p:nvSpPr>
          <p:cNvPr id="17" name="sec3#530"/>
          <p:cNvSpPr/>
          <p:nvPr/>
        </p:nvSpPr>
        <p:spPr>
          <a:xfrm>
            <a:off x="9024899" y="2286000"/>
            <a:ext cx="2599868" cy="1444752"/>
          </a:xfrm>
          <a:prstGeom prst="roundRect">
            <a:avLst>
              <a:gd name="adj" fmla="val 6962"/>
            </a:avLst>
          </a:prstGeom>
          <a:solidFill>
            <a:srgbClr val="FCFCFD"/>
          </a:solidFill>
          <a:ln w="9525">
            <a:solidFill>
              <a:srgbClr val="D9D9E0"/>
            </a:solidFill>
            <a:prstDash val="solid"/>
          </a:ln>
        </p:spPr>
      </p:sp>
      <p:sp>
        <p:nvSpPr>
          <p:cNvPr id="18" name="sec3#531"/>
          <p:cNvSpPr/>
          <p:nvPr/>
        </p:nvSpPr>
        <p:spPr>
          <a:xfrm>
            <a:off x="9317507" y="2487168"/>
            <a:ext cx="2014652" cy="237744"/>
          </a:xfrm>
          <a:prstGeom prst="rect">
            <a:avLst/>
          </a:prstGeom>
          <a:noFill/>
          <a:ln/>
        </p:spPr>
        <p:txBody>
          <a:bodyPr wrap="square" lIns="0" tIns="0" rIns="0" bIns="0" rtlCol="0" anchor="ctr"/>
          <a:lstStyle/>
          <a:p>
            <a:pPr indent="0" marL="0">
              <a:buNone/>
            </a:pPr>
            <a:r>
              <a:rPr lang="en-US" sz="950" b="1" spc="90" kern="0" dirty="0">
                <a:solidFill>
                  <a:srgbClr val="1C2024"/>
                </a:solidFill>
                <a:latin typeface="Consolas" pitchFamily="34" charset="0"/>
                <a:ea typeface="Consolas" pitchFamily="34" charset="-122"/>
                <a:cs typeface="Consolas" pitchFamily="34" charset="-120"/>
              </a:rPr>
              <a:t>Seizure</a:t>
            </a:r>
            <a:endParaRPr lang="en-US" sz="950" dirty="0"/>
          </a:p>
        </p:txBody>
      </p:sp>
      <p:sp>
        <p:nvSpPr>
          <p:cNvPr id="19" name="sec3#532"/>
          <p:cNvSpPr/>
          <p:nvPr/>
        </p:nvSpPr>
        <p:spPr>
          <a:xfrm>
            <a:off x="9317507" y="2798064"/>
            <a:ext cx="2014652" cy="0"/>
          </a:xfrm>
          <a:prstGeom prst="line">
            <a:avLst/>
          </a:prstGeom>
          <a:noFill/>
          <a:ln w="9525">
            <a:solidFill>
              <a:srgbClr val="D9D9E0"/>
            </a:solidFill>
            <a:prstDash val="solid"/>
          </a:ln>
        </p:spPr>
      </p:sp>
      <p:sp>
        <p:nvSpPr>
          <p:cNvPr id="20" name="sec3#533"/>
          <p:cNvSpPr/>
          <p:nvPr/>
        </p:nvSpPr>
        <p:spPr>
          <a:xfrm>
            <a:off x="9317507" y="2907792"/>
            <a:ext cx="2014652" cy="768096"/>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Nothing readable on disk, keys in the OS keychain, and a panic wipe that clears the phone in under a second.</a:t>
            </a:r>
            <a:endParaRPr lang="en-US" sz="950" dirty="0"/>
          </a:p>
        </p:txBody>
      </p:sp>
      <p:sp>
        <p:nvSpPr>
          <p:cNvPr id="21" name="proof#534"/>
          <p:cNvSpPr/>
          <p:nvPr/>
        </p:nvSpPr>
        <p:spPr>
          <a:xfrm>
            <a:off x="566928" y="3913632"/>
            <a:ext cx="11057839" cy="1810512"/>
          </a:xfrm>
          <a:prstGeom prst="roundRect">
            <a:avLst>
              <a:gd name="adj" fmla="val 5556"/>
            </a:avLst>
          </a:prstGeom>
          <a:solidFill>
            <a:srgbClr val="FCFCFD"/>
          </a:solidFill>
          <a:ln w="9525">
            <a:solidFill>
              <a:srgbClr val="D9D9E0"/>
            </a:solidFill>
            <a:prstDash val="solid"/>
          </a:ln>
        </p:spPr>
      </p:sp>
      <p:sp>
        <p:nvSpPr>
          <p:cNvPr id="22" name="proof#535"/>
          <p:cNvSpPr/>
          <p:nvPr/>
        </p:nvSpPr>
        <p:spPr>
          <a:xfrm>
            <a:off x="804672" y="4005072"/>
            <a:ext cx="10582351" cy="256032"/>
          </a:xfrm>
          <a:prstGeom prst="rect">
            <a:avLst/>
          </a:prstGeom>
          <a:noFill/>
          <a:ln/>
        </p:spPr>
        <p:txBody>
          <a:bodyPr wrap="square" lIns="0" tIns="0" rIns="0" bIns="0" rtlCol="0" anchor="ctr"/>
          <a:lstStyle/>
          <a:p>
            <a:pPr indent="0" marL="0">
              <a:buNone/>
            </a:pPr>
            <a:r>
              <a:rPr lang="en-US" sz="800" b="1" spc="130" kern="0" dirty="0">
                <a:solidFill>
                  <a:srgbClr val="60646C"/>
                </a:solidFill>
                <a:latin typeface="Consolas" pitchFamily="34" charset="0"/>
                <a:ea typeface="Consolas" pitchFamily="34" charset="-122"/>
                <a:cs typeface="Consolas" pitchFamily="34" charset="-120"/>
              </a:rPr>
              <a:t>●  TESTED BY ATTACKING IT</a:t>
            </a:r>
            <a:endParaRPr lang="en-US" sz="800" dirty="0"/>
          </a:p>
        </p:txBody>
      </p:sp>
      <p:sp>
        <p:nvSpPr>
          <p:cNvPr id="23" name="proof#536"/>
          <p:cNvSpPr/>
          <p:nvPr/>
        </p:nvSpPr>
        <p:spPr>
          <a:xfrm>
            <a:off x="713232" y="4334256"/>
            <a:ext cx="10765231" cy="0"/>
          </a:xfrm>
          <a:prstGeom prst="line">
            <a:avLst/>
          </a:prstGeom>
          <a:noFill/>
          <a:ln w="9525">
            <a:solidFill>
              <a:srgbClr val="D9D9E0"/>
            </a:solidFill>
            <a:prstDash val="solid"/>
          </a:ln>
        </p:spPr>
      </p:sp>
      <p:sp>
        <p:nvSpPr>
          <p:cNvPr id="24" name="proof#537"/>
          <p:cNvSpPr/>
          <p:nvPr/>
        </p:nvSpPr>
        <p:spPr>
          <a:xfrm>
            <a:off x="896112" y="4480560"/>
            <a:ext cx="822960" cy="310896"/>
          </a:xfrm>
          <a:prstGeom prst="rect">
            <a:avLst/>
          </a:prstGeom>
          <a:noFill/>
          <a:ln/>
        </p:spPr>
        <p:txBody>
          <a:bodyPr wrap="square" lIns="0" tIns="0" rIns="0" bIns="0" rtlCol="0" anchor="ctr"/>
          <a:lstStyle/>
          <a:p>
            <a:pPr indent="0" marL="0">
              <a:buNone/>
            </a:pPr>
            <a:r>
              <a:rPr lang="en-US" sz="1500" b="1" dirty="0">
                <a:solidFill>
                  <a:srgbClr val="1C2024"/>
                </a:solidFill>
                <a:latin typeface="Segoe UI" pitchFamily="34" charset="0"/>
                <a:ea typeface="Segoe UI" pitchFamily="34" charset="-122"/>
                <a:cs typeface="Segoe UI" pitchFamily="34" charset="-120"/>
              </a:rPr>
              <a:t>70+</a:t>
            </a:r>
            <a:endParaRPr lang="en-US" sz="1500" dirty="0"/>
          </a:p>
        </p:txBody>
      </p:sp>
      <p:sp>
        <p:nvSpPr>
          <p:cNvPr id="25" name="proof#538"/>
          <p:cNvSpPr/>
          <p:nvPr/>
        </p:nvSpPr>
        <p:spPr>
          <a:xfrm>
            <a:off x="1773936" y="4480560"/>
            <a:ext cx="2651760" cy="31089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scenarios across 11 tiers</a:t>
            </a:r>
            <a:endParaRPr lang="en-US" sz="950" dirty="0"/>
          </a:p>
        </p:txBody>
      </p:sp>
      <p:sp>
        <p:nvSpPr>
          <p:cNvPr id="26" name="proof#539"/>
          <p:cNvSpPr/>
          <p:nvPr/>
        </p:nvSpPr>
        <p:spPr>
          <a:xfrm>
            <a:off x="896112" y="4864608"/>
            <a:ext cx="822960" cy="310896"/>
          </a:xfrm>
          <a:prstGeom prst="rect">
            <a:avLst/>
          </a:prstGeom>
          <a:noFill/>
          <a:ln/>
        </p:spPr>
        <p:txBody>
          <a:bodyPr wrap="square" lIns="0" tIns="0" rIns="0" bIns="0" rtlCol="0" anchor="ctr"/>
          <a:lstStyle/>
          <a:p>
            <a:pPr indent="0" marL="0">
              <a:buNone/>
            </a:pPr>
            <a:r>
              <a:rPr lang="en-US" sz="1500" b="1" dirty="0">
                <a:solidFill>
                  <a:srgbClr val="1C2024"/>
                </a:solidFill>
                <a:latin typeface="Segoe UI" pitchFamily="34" charset="0"/>
                <a:ea typeface="Segoe UI" pitchFamily="34" charset="-122"/>
                <a:cs typeface="Segoe UI" pitchFamily="34" charset="-120"/>
              </a:rPr>
              <a:t>25</a:t>
            </a:r>
            <a:endParaRPr lang="en-US" sz="1500" dirty="0"/>
          </a:p>
        </p:txBody>
      </p:sp>
      <p:sp>
        <p:nvSpPr>
          <p:cNvPr id="27" name="proof#540"/>
          <p:cNvSpPr/>
          <p:nvPr/>
        </p:nvSpPr>
        <p:spPr>
          <a:xfrm>
            <a:off x="1773936" y="4864608"/>
            <a:ext cx="2651760" cy="31089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phones in one simulated room</a:t>
            </a:r>
            <a:endParaRPr lang="en-US" sz="950" dirty="0"/>
          </a:p>
        </p:txBody>
      </p:sp>
      <p:sp>
        <p:nvSpPr>
          <p:cNvPr id="28" name="proof#541"/>
          <p:cNvSpPr/>
          <p:nvPr/>
        </p:nvSpPr>
        <p:spPr>
          <a:xfrm>
            <a:off x="896112" y="5248656"/>
            <a:ext cx="822960" cy="310896"/>
          </a:xfrm>
          <a:prstGeom prst="rect">
            <a:avLst/>
          </a:prstGeom>
          <a:noFill/>
          <a:ln/>
        </p:spPr>
        <p:txBody>
          <a:bodyPr wrap="square" lIns="0" tIns="0" rIns="0" bIns="0" rtlCol="0" anchor="ctr"/>
          <a:lstStyle/>
          <a:p>
            <a:pPr indent="0" marL="0">
              <a:buNone/>
            </a:pPr>
            <a:r>
              <a:rPr lang="en-US" sz="1500" b="1" dirty="0">
                <a:solidFill>
                  <a:srgbClr val="1C2024"/>
                </a:solidFill>
                <a:latin typeface="Segoe UI" pitchFamily="34" charset="0"/>
                <a:ea typeface="Segoe UI" pitchFamily="34" charset="-122"/>
                <a:cs typeface="Segoe UI" pitchFamily="34" charset="-120"/>
              </a:rPr>
              <a:t>17</a:t>
            </a:r>
            <a:endParaRPr lang="en-US" sz="1500" dirty="0"/>
          </a:p>
        </p:txBody>
      </p:sp>
      <p:sp>
        <p:nvSpPr>
          <p:cNvPr id="29" name="proof#542"/>
          <p:cNvSpPr/>
          <p:nvPr/>
        </p:nvSpPr>
        <p:spPr>
          <a:xfrm>
            <a:off x="1773936" y="5248656"/>
            <a:ext cx="2651760" cy="31089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findings, 16 fixed, 1 accepted</a:t>
            </a:r>
            <a:endParaRPr lang="en-US" sz="950" dirty="0"/>
          </a:p>
        </p:txBody>
      </p:sp>
      <p:sp>
        <p:nvSpPr>
          <p:cNvPr id="30" name="proof#543"/>
          <p:cNvSpPr/>
          <p:nvPr/>
        </p:nvSpPr>
        <p:spPr>
          <a:xfrm>
            <a:off x="4681728" y="4480560"/>
            <a:ext cx="0" cy="987552"/>
          </a:xfrm>
          <a:prstGeom prst="line">
            <a:avLst/>
          </a:prstGeom>
          <a:noFill/>
          <a:ln w="9525">
            <a:solidFill>
              <a:srgbClr val="D9D9E0"/>
            </a:solidFill>
            <a:prstDash val="solid"/>
          </a:ln>
        </p:spPr>
      </p:sp>
      <p:sp>
        <p:nvSpPr>
          <p:cNvPr id="31" name="proof#544"/>
          <p:cNvSpPr/>
          <p:nvPr/>
        </p:nvSpPr>
        <p:spPr>
          <a:xfrm>
            <a:off x="4937760" y="4462272"/>
            <a:ext cx="3931920" cy="292608"/>
          </a:xfrm>
          <a:prstGeom prst="rect">
            <a:avLst/>
          </a:prstGeom>
          <a:noFill/>
          <a:ln/>
        </p:spPr>
        <p:txBody>
          <a:bodyPr wrap="square" lIns="0" tIns="0" rIns="0" bIns="0" rtlCol="0" anchor="ctr"/>
          <a:lstStyle/>
          <a:p>
            <a:pPr indent="0" marL="0">
              <a:buNone/>
            </a:pPr>
            <a:r>
              <a:rPr lang="en-US" sz="950" dirty="0">
                <a:solidFill>
                  <a:srgbClr val="1C2024"/>
                </a:solidFill>
                <a:latin typeface="Segoe UI" pitchFamily="34" charset="0"/>
                <a:ea typeface="Segoe UI" pitchFamily="34" charset="-122"/>
                <a:cs typeface="Segoe UI" pitchFamily="34" charset="-120"/>
              </a:rPr>
              <a:t>Forged sender on a public channel</a:t>
            </a:r>
            <a:endParaRPr lang="en-US" sz="950" dirty="0"/>
          </a:p>
        </p:txBody>
      </p:sp>
      <p:sp>
        <p:nvSpPr>
          <p:cNvPr id="32" name="proof#545"/>
          <p:cNvSpPr/>
          <p:nvPr/>
        </p:nvSpPr>
        <p:spPr>
          <a:xfrm>
            <a:off x="8887968" y="4462272"/>
            <a:ext cx="2425903" cy="292608"/>
          </a:xfrm>
          <a:prstGeom prst="rect">
            <a:avLst/>
          </a:prstGeom>
          <a:noFill/>
          <a:ln/>
        </p:spPr>
        <p:txBody>
          <a:bodyPr wrap="square" lIns="0" tIns="0" rIns="0" bIns="0" rtlCol="0" anchor="ctr"/>
          <a:lstStyle/>
          <a:p>
            <a:pPr algn="r" indent="0" marL="0">
              <a:buNone/>
            </a:pPr>
            <a:r>
              <a:rPr lang="en-US" sz="800" dirty="0">
                <a:solidFill>
                  <a:srgbClr val="60646C"/>
                </a:solidFill>
                <a:latin typeface="Consolas" pitchFamily="34" charset="0"/>
                <a:ea typeface="Consolas" pitchFamily="34" charset="-122"/>
                <a:cs typeface="Consolas" pitchFamily="34" charset="-120"/>
              </a:rPr>
              <a:t>Refused</a:t>
            </a:r>
            <a:endParaRPr lang="en-US" sz="800" dirty="0"/>
          </a:p>
        </p:txBody>
      </p:sp>
      <p:sp>
        <p:nvSpPr>
          <p:cNvPr id="33" name="proof#546"/>
          <p:cNvSpPr/>
          <p:nvPr/>
        </p:nvSpPr>
        <p:spPr>
          <a:xfrm>
            <a:off x="4937760" y="4773168"/>
            <a:ext cx="6376111" cy="0"/>
          </a:xfrm>
          <a:prstGeom prst="line">
            <a:avLst/>
          </a:prstGeom>
          <a:noFill/>
          <a:ln w="9525">
            <a:solidFill>
              <a:srgbClr val="D9D9E0"/>
            </a:solidFill>
            <a:prstDash val="solid"/>
          </a:ln>
        </p:spPr>
      </p:sp>
      <p:sp>
        <p:nvSpPr>
          <p:cNvPr id="34" name="proof#547"/>
          <p:cNvSpPr/>
          <p:nvPr/>
        </p:nvSpPr>
        <p:spPr>
          <a:xfrm>
            <a:off x="4937760" y="4773168"/>
            <a:ext cx="3931920" cy="292608"/>
          </a:xfrm>
          <a:prstGeom prst="rect">
            <a:avLst/>
          </a:prstGeom>
          <a:noFill/>
          <a:ln/>
        </p:spPr>
        <p:txBody>
          <a:bodyPr wrap="square" lIns="0" tIns="0" rIns="0" bIns="0" rtlCol="0" anchor="ctr"/>
          <a:lstStyle/>
          <a:p>
            <a:pPr indent="0" marL="0">
              <a:buNone/>
            </a:pPr>
            <a:r>
              <a:rPr lang="en-US" sz="950" dirty="0">
                <a:solidFill>
                  <a:srgbClr val="1C2024"/>
                </a:solidFill>
                <a:latin typeface="Segoe UI" pitchFamily="34" charset="0"/>
                <a:ea typeface="Segoe UI" pitchFamily="34" charset="-122"/>
                <a:cs typeface="Segoe UI" pitchFamily="34" charset="-120"/>
              </a:rPr>
              <a:t>Announce rebinding a known peer's key</a:t>
            </a:r>
            <a:endParaRPr lang="en-US" sz="950" dirty="0"/>
          </a:p>
        </p:txBody>
      </p:sp>
      <p:sp>
        <p:nvSpPr>
          <p:cNvPr id="35" name="proof#548"/>
          <p:cNvSpPr/>
          <p:nvPr/>
        </p:nvSpPr>
        <p:spPr>
          <a:xfrm>
            <a:off x="8887968" y="4773168"/>
            <a:ext cx="2425903" cy="292608"/>
          </a:xfrm>
          <a:prstGeom prst="rect">
            <a:avLst/>
          </a:prstGeom>
          <a:noFill/>
          <a:ln/>
        </p:spPr>
        <p:txBody>
          <a:bodyPr wrap="square" lIns="0" tIns="0" rIns="0" bIns="0" rtlCol="0" anchor="ctr"/>
          <a:lstStyle/>
          <a:p>
            <a:pPr algn="r" indent="0" marL="0">
              <a:buNone/>
            </a:pPr>
            <a:r>
              <a:rPr lang="en-US" sz="800" dirty="0">
                <a:solidFill>
                  <a:srgbClr val="60646C"/>
                </a:solidFill>
                <a:latin typeface="Consolas" pitchFamily="34" charset="0"/>
                <a:ea typeface="Consolas" pitchFamily="34" charset="-122"/>
                <a:cs typeface="Consolas" pitchFamily="34" charset="-120"/>
              </a:rPr>
              <a:t>Refused at three layers</a:t>
            </a:r>
            <a:endParaRPr lang="en-US" sz="800" dirty="0"/>
          </a:p>
        </p:txBody>
      </p:sp>
      <p:sp>
        <p:nvSpPr>
          <p:cNvPr id="36" name="proof#549"/>
          <p:cNvSpPr/>
          <p:nvPr/>
        </p:nvSpPr>
        <p:spPr>
          <a:xfrm>
            <a:off x="4937760" y="5084064"/>
            <a:ext cx="6376111" cy="0"/>
          </a:xfrm>
          <a:prstGeom prst="line">
            <a:avLst/>
          </a:prstGeom>
          <a:noFill/>
          <a:ln w="9525">
            <a:solidFill>
              <a:srgbClr val="D9D9E0"/>
            </a:solidFill>
            <a:prstDash val="solid"/>
          </a:ln>
        </p:spPr>
      </p:sp>
      <p:sp>
        <p:nvSpPr>
          <p:cNvPr id="37" name="proof#550"/>
          <p:cNvSpPr/>
          <p:nvPr/>
        </p:nvSpPr>
        <p:spPr>
          <a:xfrm>
            <a:off x="4937760" y="5084064"/>
            <a:ext cx="3931920" cy="292608"/>
          </a:xfrm>
          <a:prstGeom prst="rect">
            <a:avLst/>
          </a:prstGeom>
          <a:noFill/>
          <a:ln/>
        </p:spPr>
        <p:txBody>
          <a:bodyPr wrap="square" lIns="0" tIns="0" rIns="0" bIns="0" rtlCol="0" anchor="ctr"/>
          <a:lstStyle/>
          <a:p>
            <a:pPr indent="0" marL="0">
              <a:buNone/>
            </a:pPr>
            <a:r>
              <a:rPr lang="en-US" sz="950" dirty="0">
                <a:solidFill>
                  <a:srgbClr val="1C2024"/>
                </a:solidFill>
                <a:latin typeface="Segoe UI" pitchFamily="34" charset="0"/>
                <a:ea typeface="Segoe UI" pitchFamily="34" charset="-122"/>
                <a:cs typeface="Segoe UI" pitchFamily="34" charset="-120"/>
              </a:rPr>
              <a:t>Sybil flood of invented peers</a:t>
            </a:r>
            <a:endParaRPr lang="en-US" sz="950" dirty="0"/>
          </a:p>
        </p:txBody>
      </p:sp>
      <p:sp>
        <p:nvSpPr>
          <p:cNvPr id="38" name="proof#551"/>
          <p:cNvSpPr/>
          <p:nvPr/>
        </p:nvSpPr>
        <p:spPr>
          <a:xfrm>
            <a:off x="8887968" y="5084064"/>
            <a:ext cx="2425903" cy="292608"/>
          </a:xfrm>
          <a:prstGeom prst="rect">
            <a:avLst/>
          </a:prstGeom>
          <a:noFill/>
          <a:ln/>
        </p:spPr>
        <p:txBody>
          <a:bodyPr wrap="square" lIns="0" tIns="0" rIns="0" bIns="0" rtlCol="0" anchor="ctr"/>
          <a:lstStyle/>
          <a:p>
            <a:pPr algn="r" indent="0" marL="0">
              <a:buNone/>
            </a:pPr>
            <a:r>
              <a:rPr lang="en-US" sz="800" dirty="0">
                <a:solidFill>
                  <a:srgbClr val="60646C"/>
                </a:solidFill>
                <a:latin typeface="Consolas" pitchFamily="34" charset="0"/>
                <a:ea typeface="Consolas" pitchFamily="34" charset="-122"/>
                <a:cs typeface="Consolas" pitchFamily="34" charset="-120"/>
              </a:rPr>
              <a:t>Real neighbours never dropped</a:t>
            </a:r>
            <a:endParaRPr lang="en-US" sz="800" dirty="0"/>
          </a:p>
        </p:txBody>
      </p:sp>
      <p:sp>
        <p:nvSpPr>
          <p:cNvPr id="39" name="proof#552"/>
          <p:cNvSpPr/>
          <p:nvPr/>
        </p:nvSpPr>
        <p:spPr>
          <a:xfrm>
            <a:off x="4937760" y="5394960"/>
            <a:ext cx="6376111" cy="0"/>
          </a:xfrm>
          <a:prstGeom prst="line">
            <a:avLst/>
          </a:prstGeom>
          <a:noFill/>
          <a:ln w="9525">
            <a:solidFill>
              <a:srgbClr val="D9D9E0"/>
            </a:solidFill>
            <a:prstDash val="solid"/>
          </a:ln>
        </p:spPr>
      </p:sp>
      <p:sp>
        <p:nvSpPr>
          <p:cNvPr id="40" name="proof#553"/>
          <p:cNvSpPr/>
          <p:nvPr/>
        </p:nvSpPr>
        <p:spPr>
          <a:xfrm>
            <a:off x="4937760" y="5394960"/>
            <a:ext cx="3931920" cy="292608"/>
          </a:xfrm>
          <a:prstGeom prst="rect">
            <a:avLst/>
          </a:prstGeom>
          <a:noFill/>
          <a:ln/>
        </p:spPr>
        <p:txBody>
          <a:bodyPr wrap="square" lIns="0" tIns="0" rIns="0" bIns="0" rtlCol="0" anchor="ctr"/>
          <a:lstStyle/>
          <a:p>
            <a:pPr indent="0" marL="0">
              <a:buNone/>
            </a:pPr>
            <a:r>
              <a:rPr lang="en-US" sz="950" dirty="0">
                <a:solidFill>
                  <a:srgbClr val="1C2024"/>
                </a:solidFill>
                <a:latin typeface="Segoe UI" pitchFamily="34" charset="0"/>
                <a:ea typeface="Segoe UI" pitchFamily="34" charset="-122"/>
                <a:cs typeface="Segoe UI" pitchFamily="34" charset="-120"/>
              </a:rPr>
              <a:t>Same ecash token spent twice</a:t>
            </a:r>
            <a:endParaRPr lang="en-US" sz="950" dirty="0"/>
          </a:p>
        </p:txBody>
      </p:sp>
      <p:sp>
        <p:nvSpPr>
          <p:cNvPr id="41" name="proof#554"/>
          <p:cNvSpPr/>
          <p:nvPr/>
        </p:nvSpPr>
        <p:spPr>
          <a:xfrm>
            <a:off x="8887968" y="5394960"/>
            <a:ext cx="2425903" cy="292608"/>
          </a:xfrm>
          <a:prstGeom prst="rect">
            <a:avLst/>
          </a:prstGeom>
          <a:noFill/>
          <a:ln/>
        </p:spPr>
        <p:txBody>
          <a:bodyPr wrap="square" lIns="0" tIns="0" rIns="0" bIns="0" rtlCol="0" anchor="ctr"/>
          <a:lstStyle/>
          <a:p>
            <a:pPr algn="r" indent="0" marL="0">
              <a:buNone/>
            </a:pPr>
            <a:r>
              <a:rPr lang="en-US" sz="800" dirty="0">
                <a:solidFill>
                  <a:srgbClr val="60646C"/>
                </a:solidFill>
                <a:latin typeface="Consolas" pitchFamily="34" charset="0"/>
                <a:ea typeface="Consolas" pitchFamily="34" charset="-122"/>
                <a:cs typeface="Consolas" pitchFamily="34" charset="-120"/>
              </a:rPr>
              <a:t>Refused by a real mint</a:t>
            </a:r>
            <a:endParaRPr lang="en-US" sz="800" dirty="0"/>
          </a:p>
        </p:txBody>
      </p:sp>
      <p:sp>
        <p:nvSpPr>
          <p:cNvPr id="42" name="honest#555"/>
          <p:cNvSpPr/>
          <p:nvPr/>
        </p:nvSpPr>
        <p:spPr>
          <a:xfrm>
            <a:off x="566928" y="5870448"/>
            <a:ext cx="11057839" cy="274320"/>
          </a:xfrm>
          <a:prstGeom prst="rect">
            <a:avLst/>
          </a:prstGeom>
          <a:noFill/>
          <a:ln/>
        </p:spPr>
        <p:txBody>
          <a:bodyPr wrap="square" lIns="0" tIns="0" rIns="0" bIns="0" rtlCol="0" anchor="t"/>
          <a:lstStyle/>
          <a:p>
            <a:pPr indent="0" marL="0">
              <a:lnSpc>
                <a:spcPct val="134000"/>
              </a:lnSpc>
              <a:buNone/>
            </a:pPr>
            <a:r>
              <a:rPr lang="en-US" sz="950" dirty="0">
                <a:solidFill>
                  <a:srgbClr val="1C2024"/>
                </a:solidFill>
                <a:latin typeface="Segoe UI" pitchFamily="34" charset="0"/>
                <a:ea typeface="Segoe UI" pitchFamily="34" charset="-122"/>
                <a:cs typeface="Segoe UI" pitchFamily="34" charset="-120"/>
              </a:rPr>
              <a:t>No outside audit yet, and no simulation can prove how a real radio behaves on real silicon. Both are what the ask is for.</a:t>
            </a:r>
            <a:endParaRPr lang="en-US" sz="950" dirty="0"/>
          </a:p>
        </p:txBody>
      </p:sp>
      <p:sp>
        <p:nvSpPr>
          <p:cNvPr id="44" name="Shape 41"/>
          <p:cNvSpPr/>
          <p:nvPr/>
        </p:nvSpPr>
        <p:spPr>
          <a:xfrm>
            <a:off x="566928" y="6327648"/>
            <a:ext cx="11057839" cy="0"/>
          </a:xfrm>
          <a:prstGeom prst="line">
            <a:avLst/>
          </a:prstGeom>
          <a:noFill/>
          <a:ln w="9525">
            <a:solidFill>
              <a:srgbClr val="D9D9E0"/>
            </a:solidFill>
            <a:prstDash val="solid"/>
          </a:ln>
        </p:spPr>
      </p:sp>
      <p:sp>
        <p:nvSpPr>
          <p:cNvPr id="45" name="Shape 42"/>
          <p:cNvSpPr/>
          <p:nvPr/>
        </p:nvSpPr>
        <p:spPr>
          <a:xfrm>
            <a:off x="566928" y="6441948"/>
            <a:ext cx="24725" cy="24725"/>
          </a:xfrm>
          <a:prstGeom prst="rect">
            <a:avLst/>
          </a:prstGeom>
          <a:solidFill>
            <a:srgbClr val="1C2024"/>
          </a:solidFill>
          <a:ln w="12700">
            <a:solidFill>
              <a:srgbClr val="1C2024"/>
            </a:solidFill>
            <a:prstDash val="solid"/>
          </a:ln>
        </p:spPr>
      </p:sp>
      <p:sp>
        <p:nvSpPr>
          <p:cNvPr id="46" name="Shape 43"/>
          <p:cNvSpPr/>
          <p:nvPr/>
        </p:nvSpPr>
        <p:spPr>
          <a:xfrm>
            <a:off x="590702" y="6441948"/>
            <a:ext cx="24725" cy="24725"/>
          </a:xfrm>
          <a:prstGeom prst="rect">
            <a:avLst/>
          </a:prstGeom>
          <a:solidFill>
            <a:srgbClr val="1C2024"/>
          </a:solidFill>
          <a:ln w="12700">
            <a:solidFill>
              <a:srgbClr val="1C2024"/>
            </a:solidFill>
            <a:prstDash val="solid"/>
          </a:ln>
        </p:spPr>
      </p:sp>
      <p:sp>
        <p:nvSpPr>
          <p:cNvPr id="47" name="Shape 44"/>
          <p:cNvSpPr/>
          <p:nvPr/>
        </p:nvSpPr>
        <p:spPr>
          <a:xfrm>
            <a:off x="780898" y="6441948"/>
            <a:ext cx="24725" cy="24725"/>
          </a:xfrm>
          <a:prstGeom prst="rect">
            <a:avLst/>
          </a:prstGeom>
          <a:solidFill>
            <a:srgbClr val="1C2024"/>
          </a:solidFill>
          <a:ln w="12700">
            <a:solidFill>
              <a:srgbClr val="1C2024"/>
            </a:solidFill>
            <a:prstDash val="solid"/>
          </a:ln>
        </p:spPr>
      </p:sp>
      <p:sp>
        <p:nvSpPr>
          <p:cNvPr id="48" name="Shape 45"/>
          <p:cNvSpPr/>
          <p:nvPr/>
        </p:nvSpPr>
        <p:spPr>
          <a:xfrm>
            <a:off x="804672" y="6441948"/>
            <a:ext cx="24725" cy="24725"/>
          </a:xfrm>
          <a:prstGeom prst="rect">
            <a:avLst/>
          </a:prstGeom>
          <a:solidFill>
            <a:srgbClr val="1C2024"/>
          </a:solidFill>
          <a:ln w="12700">
            <a:solidFill>
              <a:srgbClr val="1C2024"/>
            </a:solidFill>
            <a:prstDash val="solid"/>
          </a:ln>
        </p:spPr>
      </p:sp>
      <p:sp>
        <p:nvSpPr>
          <p:cNvPr id="49" name="Shape 46"/>
          <p:cNvSpPr/>
          <p:nvPr/>
        </p:nvSpPr>
        <p:spPr>
          <a:xfrm>
            <a:off x="590702" y="6465722"/>
            <a:ext cx="24725" cy="24725"/>
          </a:xfrm>
          <a:prstGeom prst="rect">
            <a:avLst/>
          </a:prstGeom>
          <a:solidFill>
            <a:srgbClr val="1C2024"/>
          </a:solidFill>
          <a:ln w="12700">
            <a:solidFill>
              <a:srgbClr val="1C2024"/>
            </a:solidFill>
            <a:prstDash val="solid"/>
          </a:ln>
        </p:spPr>
      </p:sp>
      <p:sp>
        <p:nvSpPr>
          <p:cNvPr id="50" name="Shape 47"/>
          <p:cNvSpPr/>
          <p:nvPr/>
        </p:nvSpPr>
        <p:spPr>
          <a:xfrm>
            <a:off x="614477" y="6465722"/>
            <a:ext cx="24725" cy="24725"/>
          </a:xfrm>
          <a:prstGeom prst="rect">
            <a:avLst/>
          </a:prstGeom>
          <a:solidFill>
            <a:srgbClr val="1C2024"/>
          </a:solidFill>
          <a:ln w="12700">
            <a:solidFill>
              <a:srgbClr val="1C2024"/>
            </a:solidFill>
            <a:prstDash val="solid"/>
          </a:ln>
        </p:spPr>
      </p:sp>
      <p:sp>
        <p:nvSpPr>
          <p:cNvPr id="51" name="Shape 48"/>
          <p:cNvSpPr/>
          <p:nvPr/>
        </p:nvSpPr>
        <p:spPr>
          <a:xfrm>
            <a:off x="757123" y="6465722"/>
            <a:ext cx="24725" cy="24725"/>
          </a:xfrm>
          <a:prstGeom prst="rect">
            <a:avLst/>
          </a:prstGeom>
          <a:solidFill>
            <a:srgbClr val="1C2024"/>
          </a:solidFill>
          <a:ln w="12700">
            <a:solidFill>
              <a:srgbClr val="1C2024"/>
            </a:solidFill>
            <a:prstDash val="solid"/>
          </a:ln>
        </p:spPr>
      </p:sp>
      <p:sp>
        <p:nvSpPr>
          <p:cNvPr id="52" name="Shape 49"/>
          <p:cNvSpPr/>
          <p:nvPr/>
        </p:nvSpPr>
        <p:spPr>
          <a:xfrm>
            <a:off x="780898" y="6465722"/>
            <a:ext cx="24725" cy="24725"/>
          </a:xfrm>
          <a:prstGeom prst="rect">
            <a:avLst/>
          </a:prstGeom>
          <a:solidFill>
            <a:srgbClr val="1C2024"/>
          </a:solidFill>
          <a:ln w="12700">
            <a:solidFill>
              <a:srgbClr val="1C2024"/>
            </a:solidFill>
            <a:prstDash val="solid"/>
          </a:ln>
        </p:spPr>
      </p:sp>
      <p:sp>
        <p:nvSpPr>
          <p:cNvPr id="53" name="Shape 50"/>
          <p:cNvSpPr/>
          <p:nvPr/>
        </p:nvSpPr>
        <p:spPr>
          <a:xfrm>
            <a:off x="614477" y="6489497"/>
            <a:ext cx="24725" cy="24725"/>
          </a:xfrm>
          <a:prstGeom prst="rect">
            <a:avLst/>
          </a:prstGeom>
          <a:solidFill>
            <a:srgbClr val="1C2024"/>
          </a:solidFill>
          <a:ln w="12700">
            <a:solidFill>
              <a:srgbClr val="1C2024"/>
            </a:solidFill>
            <a:prstDash val="solid"/>
          </a:ln>
        </p:spPr>
      </p:sp>
      <p:sp>
        <p:nvSpPr>
          <p:cNvPr id="54" name="Shape 51"/>
          <p:cNvSpPr/>
          <p:nvPr/>
        </p:nvSpPr>
        <p:spPr>
          <a:xfrm>
            <a:off x="638251" y="6489497"/>
            <a:ext cx="24725" cy="24725"/>
          </a:xfrm>
          <a:prstGeom prst="rect">
            <a:avLst/>
          </a:prstGeom>
          <a:solidFill>
            <a:srgbClr val="1C2024"/>
          </a:solidFill>
          <a:ln w="12700">
            <a:solidFill>
              <a:srgbClr val="1C2024"/>
            </a:solidFill>
            <a:prstDash val="solid"/>
          </a:ln>
        </p:spPr>
      </p:sp>
      <p:sp>
        <p:nvSpPr>
          <p:cNvPr id="55" name="Shape 52"/>
          <p:cNvSpPr/>
          <p:nvPr/>
        </p:nvSpPr>
        <p:spPr>
          <a:xfrm>
            <a:off x="685800" y="6489497"/>
            <a:ext cx="24725" cy="24725"/>
          </a:xfrm>
          <a:prstGeom prst="rect">
            <a:avLst/>
          </a:prstGeom>
          <a:solidFill>
            <a:srgbClr val="1C2024"/>
          </a:solidFill>
          <a:ln w="12700">
            <a:solidFill>
              <a:srgbClr val="1C2024"/>
            </a:solidFill>
            <a:prstDash val="solid"/>
          </a:ln>
        </p:spPr>
      </p:sp>
      <p:sp>
        <p:nvSpPr>
          <p:cNvPr id="56" name="Shape 53"/>
          <p:cNvSpPr/>
          <p:nvPr/>
        </p:nvSpPr>
        <p:spPr>
          <a:xfrm>
            <a:off x="733349" y="6489497"/>
            <a:ext cx="24725" cy="24725"/>
          </a:xfrm>
          <a:prstGeom prst="rect">
            <a:avLst/>
          </a:prstGeom>
          <a:solidFill>
            <a:srgbClr val="1C2024"/>
          </a:solidFill>
          <a:ln w="12700">
            <a:solidFill>
              <a:srgbClr val="1C2024"/>
            </a:solidFill>
            <a:prstDash val="solid"/>
          </a:ln>
        </p:spPr>
      </p:sp>
      <p:sp>
        <p:nvSpPr>
          <p:cNvPr id="57" name="Shape 54"/>
          <p:cNvSpPr/>
          <p:nvPr/>
        </p:nvSpPr>
        <p:spPr>
          <a:xfrm>
            <a:off x="757123" y="6489497"/>
            <a:ext cx="24725" cy="24725"/>
          </a:xfrm>
          <a:prstGeom prst="rect">
            <a:avLst/>
          </a:prstGeom>
          <a:solidFill>
            <a:srgbClr val="1C2024"/>
          </a:solidFill>
          <a:ln w="12700">
            <a:solidFill>
              <a:srgbClr val="1C2024"/>
            </a:solidFill>
            <a:prstDash val="solid"/>
          </a:ln>
        </p:spPr>
      </p:sp>
      <p:sp>
        <p:nvSpPr>
          <p:cNvPr id="58" name="Shape 55"/>
          <p:cNvSpPr/>
          <p:nvPr/>
        </p:nvSpPr>
        <p:spPr>
          <a:xfrm>
            <a:off x="638251" y="6513271"/>
            <a:ext cx="24725" cy="24725"/>
          </a:xfrm>
          <a:prstGeom prst="rect">
            <a:avLst/>
          </a:prstGeom>
          <a:solidFill>
            <a:srgbClr val="1C2024"/>
          </a:solidFill>
          <a:ln w="12700">
            <a:solidFill>
              <a:srgbClr val="1C2024"/>
            </a:solidFill>
            <a:prstDash val="solid"/>
          </a:ln>
        </p:spPr>
      </p:sp>
      <p:sp>
        <p:nvSpPr>
          <p:cNvPr id="59" name="Shape 56"/>
          <p:cNvSpPr/>
          <p:nvPr/>
        </p:nvSpPr>
        <p:spPr>
          <a:xfrm>
            <a:off x="662026" y="6513271"/>
            <a:ext cx="24725" cy="24725"/>
          </a:xfrm>
          <a:prstGeom prst="rect">
            <a:avLst/>
          </a:prstGeom>
          <a:solidFill>
            <a:srgbClr val="1C2024"/>
          </a:solidFill>
          <a:ln w="12700">
            <a:solidFill>
              <a:srgbClr val="1C2024"/>
            </a:solidFill>
            <a:prstDash val="solid"/>
          </a:ln>
        </p:spPr>
      </p:sp>
      <p:sp>
        <p:nvSpPr>
          <p:cNvPr id="60" name="Shape 57"/>
          <p:cNvSpPr/>
          <p:nvPr/>
        </p:nvSpPr>
        <p:spPr>
          <a:xfrm>
            <a:off x="685800" y="6513271"/>
            <a:ext cx="24725" cy="24725"/>
          </a:xfrm>
          <a:prstGeom prst="rect">
            <a:avLst/>
          </a:prstGeom>
          <a:solidFill>
            <a:srgbClr val="1C2024"/>
          </a:solidFill>
          <a:ln w="12700">
            <a:solidFill>
              <a:srgbClr val="1C2024"/>
            </a:solidFill>
            <a:prstDash val="solid"/>
          </a:ln>
        </p:spPr>
      </p:sp>
      <p:sp>
        <p:nvSpPr>
          <p:cNvPr id="61" name="Shape 58"/>
          <p:cNvSpPr/>
          <p:nvPr/>
        </p:nvSpPr>
        <p:spPr>
          <a:xfrm>
            <a:off x="709574" y="6513271"/>
            <a:ext cx="24725" cy="24725"/>
          </a:xfrm>
          <a:prstGeom prst="rect">
            <a:avLst/>
          </a:prstGeom>
          <a:solidFill>
            <a:srgbClr val="1C2024"/>
          </a:solidFill>
          <a:ln w="12700">
            <a:solidFill>
              <a:srgbClr val="1C2024"/>
            </a:solidFill>
            <a:prstDash val="solid"/>
          </a:ln>
        </p:spPr>
      </p:sp>
      <p:sp>
        <p:nvSpPr>
          <p:cNvPr id="62" name="Shape 59"/>
          <p:cNvSpPr/>
          <p:nvPr/>
        </p:nvSpPr>
        <p:spPr>
          <a:xfrm>
            <a:off x="733349" y="6513271"/>
            <a:ext cx="24725" cy="24725"/>
          </a:xfrm>
          <a:prstGeom prst="rect">
            <a:avLst/>
          </a:prstGeom>
          <a:solidFill>
            <a:srgbClr val="1C2024"/>
          </a:solidFill>
          <a:ln w="12700">
            <a:solidFill>
              <a:srgbClr val="1C2024"/>
            </a:solidFill>
            <a:prstDash val="solid"/>
          </a:ln>
        </p:spPr>
      </p:sp>
      <p:sp>
        <p:nvSpPr>
          <p:cNvPr id="63" name="Shape 60"/>
          <p:cNvSpPr/>
          <p:nvPr/>
        </p:nvSpPr>
        <p:spPr>
          <a:xfrm>
            <a:off x="662026" y="6537046"/>
            <a:ext cx="24725" cy="24725"/>
          </a:xfrm>
          <a:prstGeom prst="rect">
            <a:avLst/>
          </a:prstGeom>
          <a:solidFill>
            <a:srgbClr val="1C2024"/>
          </a:solidFill>
          <a:ln w="12700">
            <a:solidFill>
              <a:srgbClr val="1C2024"/>
            </a:solidFill>
            <a:prstDash val="solid"/>
          </a:ln>
        </p:spPr>
      </p:sp>
      <p:sp>
        <p:nvSpPr>
          <p:cNvPr id="64" name="Shape 61"/>
          <p:cNvSpPr/>
          <p:nvPr/>
        </p:nvSpPr>
        <p:spPr>
          <a:xfrm>
            <a:off x="685800" y="6537046"/>
            <a:ext cx="24725" cy="24725"/>
          </a:xfrm>
          <a:prstGeom prst="rect">
            <a:avLst/>
          </a:prstGeom>
          <a:solidFill>
            <a:srgbClr val="1C2024"/>
          </a:solidFill>
          <a:ln w="12700">
            <a:solidFill>
              <a:srgbClr val="1C2024"/>
            </a:solidFill>
            <a:prstDash val="solid"/>
          </a:ln>
        </p:spPr>
      </p:sp>
      <p:sp>
        <p:nvSpPr>
          <p:cNvPr id="65" name="Shape 62"/>
          <p:cNvSpPr/>
          <p:nvPr/>
        </p:nvSpPr>
        <p:spPr>
          <a:xfrm>
            <a:off x="709574" y="6537046"/>
            <a:ext cx="24725" cy="24725"/>
          </a:xfrm>
          <a:prstGeom prst="rect">
            <a:avLst/>
          </a:prstGeom>
          <a:solidFill>
            <a:srgbClr val="1C2024"/>
          </a:solidFill>
          <a:ln w="12700">
            <a:solidFill>
              <a:srgbClr val="1C2024"/>
            </a:solidFill>
            <a:prstDash val="solid"/>
          </a:ln>
        </p:spPr>
      </p:sp>
      <p:sp>
        <p:nvSpPr>
          <p:cNvPr id="66" name="Shape 63"/>
          <p:cNvSpPr/>
          <p:nvPr/>
        </p:nvSpPr>
        <p:spPr>
          <a:xfrm>
            <a:off x="685800" y="6560820"/>
            <a:ext cx="24725" cy="24725"/>
          </a:xfrm>
          <a:prstGeom prst="rect">
            <a:avLst/>
          </a:prstGeom>
          <a:solidFill>
            <a:srgbClr val="1C2024"/>
          </a:solidFill>
          <a:ln w="12700">
            <a:solidFill>
              <a:srgbClr val="1C2024"/>
            </a:solidFill>
            <a:prstDash val="solid"/>
          </a:ln>
        </p:spPr>
      </p:sp>
      <p:sp>
        <p:nvSpPr>
          <p:cNvPr id="67" name="Text 64"/>
          <p:cNvSpPr/>
          <p:nvPr/>
        </p:nvSpPr>
        <p:spPr>
          <a:xfrm>
            <a:off x="914400" y="6391656"/>
            <a:ext cx="1828800" cy="219456"/>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AIRHOP</a:t>
            </a:r>
            <a:endParaRPr lang="en-US" sz="800" dirty="0"/>
          </a:p>
        </p:txBody>
      </p:sp>
      <p:sp>
        <p:nvSpPr>
          <p:cNvPr id="68" name="Text 65"/>
          <p:cNvSpPr/>
          <p:nvPr/>
        </p:nvSpPr>
        <p:spPr>
          <a:xfrm>
            <a:off x="9795967" y="6391656"/>
            <a:ext cx="1828800" cy="219456"/>
          </a:xfrm>
          <a:prstGeom prst="rect">
            <a:avLst/>
          </a:prstGeom>
          <a:noFill/>
          <a:ln/>
        </p:spPr>
        <p:txBody>
          <a:bodyPr wrap="square" lIns="0" tIns="0" rIns="0" bIns="0" rtlCol="0" anchor="ctr"/>
          <a:lstStyle/>
          <a:p>
            <a:pPr algn="r" indent="0" marL="0">
              <a:buNone/>
            </a:pPr>
            <a:r>
              <a:rPr lang="en-US" sz="800" dirty="0">
                <a:solidFill>
                  <a:srgbClr val="6E7178"/>
                </a:solidFill>
                <a:latin typeface="Consolas" pitchFamily="34" charset="0"/>
                <a:ea typeface="Consolas" pitchFamily="34" charset="-122"/>
                <a:cs typeface="Consolas" pitchFamily="34" charset="-120"/>
              </a:rPr>
              <a:t>07 /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head#556"/>
          <p:cNvSpPr/>
          <p:nvPr/>
        </p:nvSpPr>
        <p:spPr>
          <a:xfrm>
            <a:off x="566928" y="402336"/>
            <a:ext cx="11057839" cy="182880"/>
          </a:xfrm>
          <a:prstGeom prst="rect">
            <a:avLst/>
          </a:prstGeom>
          <a:noFill/>
          <a:ln/>
        </p:spPr>
        <p:txBody>
          <a:bodyPr wrap="square" lIns="0" tIns="0" rIns="0" bIns="0" rtlCol="0" anchor="ctr"/>
          <a:lstStyle/>
          <a:p>
            <a:pPr indent="0" marL="0">
              <a:buNone/>
            </a:pPr>
            <a:r>
              <a:rPr lang="en-US" sz="900" b="1" spc="160" kern="0" dirty="0">
                <a:solidFill>
                  <a:srgbClr val="60646C"/>
                </a:solidFill>
                <a:latin typeface="Consolas" pitchFamily="34" charset="0"/>
                <a:ea typeface="Consolas" pitchFamily="34" charset="-122"/>
                <a:cs typeface="Consolas" pitchFamily="34" charset="-120"/>
              </a:rPr>
              <a:t>DISTRIBUTION</a:t>
            </a:r>
            <a:endParaRPr lang="en-US" sz="900" dirty="0"/>
          </a:p>
        </p:txBody>
      </p:sp>
      <p:sp>
        <p:nvSpPr>
          <p:cNvPr id="3" name="head#557"/>
          <p:cNvSpPr/>
          <p:nvPr/>
        </p:nvSpPr>
        <p:spPr>
          <a:xfrm>
            <a:off x="566928" y="658368"/>
            <a:ext cx="11057839" cy="872338"/>
          </a:xfrm>
          <a:prstGeom prst="rect">
            <a:avLst/>
          </a:prstGeom>
          <a:noFill/>
          <a:ln/>
        </p:spPr>
        <p:txBody>
          <a:bodyPr wrap="square" lIns="0" tIns="0" rIns="0" bIns="0" rtlCol="0" anchor="t"/>
          <a:lstStyle/>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The hard part of a mesh is the</a:t>
            </a:r>
            <a:endParaRPr lang="en-US" sz="2700" dirty="0"/>
          </a:p>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first user. We skip it.</a:t>
            </a:r>
            <a:endParaRPr lang="en-US" sz="2700" dirty="0"/>
          </a:p>
        </p:txBody>
      </p:sp>
      <p:sp>
        <p:nvSpPr>
          <p:cNvPr id="4" name="head#558"/>
          <p:cNvSpPr/>
          <p:nvPr/>
        </p:nvSpPr>
        <p:spPr>
          <a:xfrm>
            <a:off x="566928" y="1677010"/>
            <a:ext cx="9052560" cy="515112"/>
          </a:xfrm>
          <a:prstGeom prst="rect">
            <a:avLst/>
          </a:prstGeom>
          <a:noFill/>
          <a:ln/>
        </p:spPr>
        <p:txBody>
          <a:bodyPr wrap="square" lIns="0" tIns="0" rIns="0" bIns="0" rtlCol="0" anchor="t"/>
          <a:lstStyle/>
          <a:p>
            <a:pPr indent="0" marL="0">
              <a:lnSpc>
                <a:spcPct val="130000"/>
              </a:lnSpc>
              <a:buNone/>
            </a:pPr>
            <a:r>
              <a:rPr lang="en-US" sz="1300" dirty="0">
                <a:solidFill>
                  <a:srgbClr val="60646C"/>
                </a:solidFill>
                <a:latin typeface="Segoe UI" pitchFamily="34" charset="0"/>
                <a:ea typeface="Segoe UI" pitchFamily="34" charset="-122"/>
                <a:cs typeface="Segoe UI" pitchFamily="34" charset="-120"/>
              </a:rPr>
              <a:t>Airhop speaks bitchat's wire protocol in both directions: the same Bluetooth service UUID, the same packet frame, the same peer ID, the same handshake.</a:t>
            </a:r>
            <a:endParaRPr lang="en-US" sz="1300" dirty="0"/>
          </a:p>
        </p:txBody>
      </p:sp>
      <p:sp>
        <p:nvSpPr>
          <p:cNvPr id="5" name="compat#559"/>
          <p:cNvSpPr/>
          <p:nvPr/>
        </p:nvSpPr>
        <p:spPr>
          <a:xfrm>
            <a:off x="566928" y="2286000"/>
            <a:ext cx="11057839" cy="731520"/>
          </a:xfrm>
          <a:prstGeom prst="roundRect">
            <a:avLst>
              <a:gd name="adj" fmla="val 13750"/>
            </a:avLst>
          </a:prstGeom>
          <a:solidFill>
            <a:srgbClr val="F9F9FB"/>
          </a:solidFill>
          <a:ln w="9525">
            <a:solidFill>
              <a:srgbClr val="D9D9E0"/>
            </a:solidFill>
            <a:prstDash val="solid"/>
          </a:ln>
        </p:spPr>
      </p:sp>
      <p:sp>
        <p:nvSpPr>
          <p:cNvPr id="6" name="compat#560"/>
          <p:cNvSpPr/>
          <p:nvPr/>
        </p:nvSpPr>
        <p:spPr>
          <a:xfrm>
            <a:off x="1737360" y="2532888"/>
            <a:ext cx="1097280" cy="237744"/>
          </a:xfrm>
          <a:prstGeom prst="roundRect">
            <a:avLst>
              <a:gd name="adj" fmla="val 50000"/>
            </a:avLst>
          </a:prstGeom>
          <a:solidFill>
            <a:srgbClr val="1C2024"/>
          </a:solidFill>
          <a:ln w="9525">
            <a:solidFill>
              <a:srgbClr val="1C2024"/>
            </a:solidFill>
            <a:prstDash val="solid"/>
          </a:ln>
        </p:spPr>
      </p:sp>
      <p:sp>
        <p:nvSpPr>
          <p:cNvPr id="7" name="compat#561"/>
          <p:cNvSpPr/>
          <p:nvPr/>
        </p:nvSpPr>
        <p:spPr>
          <a:xfrm>
            <a:off x="1737360" y="2532888"/>
            <a:ext cx="1097280" cy="237744"/>
          </a:xfrm>
          <a:prstGeom prst="rect">
            <a:avLst/>
          </a:prstGeom>
          <a:noFill/>
          <a:ln/>
        </p:spPr>
        <p:txBody>
          <a:bodyPr wrap="square" lIns="0" tIns="0" rIns="0" bIns="0" rtlCol="0" anchor="ctr"/>
          <a:lstStyle/>
          <a:p>
            <a:pPr algn="ctr" indent="0" marL="0">
              <a:buNone/>
            </a:pPr>
            <a:r>
              <a:rPr lang="en-US" sz="800" b="1" u="sng" spc="80" kern="0" dirty="0">
                <a:solidFill>
                  <a:srgbClr val="FFFFFF"/>
                </a:solidFill>
                <a:latin typeface="Consolas" pitchFamily="34" charset="0"/>
                <a:ea typeface="Consolas" pitchFamily="34" charset="-122"/>
                <a:cs typeface="Consolas" pitchFamily="34" charset="-120"/>
                <a:hlinkClick r:id="rId1" invalidUrl="" action="" tgtFrame="" tooltip="Airhop" history="1" highlightClick="0" endSnd="0">
                  <a:extLst>
                    <a:ext uri="{A12FA001-AC4F-418D-AE19-62706E023703}">
                      <ahyp:hlinkClr xmlns:ahyp="http://schemas.microsoft.com/office/drawing/2018/hyperlinkcolor" val="tx"/>
                    </a:ext>
                  </a:extLst>
                </a:hlinkClick>
              </a:rPr>
              <a:t>AIRHOP</a:t>
            </a:r>
            <a:endParaRPr lang="en-US" sz="800" dirty="0"/>
          </a:p>
        </p:txBody>
      </p:sp>
      <p:sp>
        <p:nvSpPr>
          <p:cNvPr id="8" name="compat#562"/>
          <p:cNvSpPr/>
          <p:nvPr/>
        </p:nvSpPr>
        <p:spPr>
          <a:xfrm>
            <a:off x="9326880" y="2532888"/>
            <a:ext cx="1097280" cy="237744"/>
          </a:xfrm>
          <a:prstGeom prst="roundRect">
            <a:avLst>
              <a:gd name="adj" fmla="val 50000"/>
            </a:avLst>
          </a:prstGeom>
          <a:solidFill>
            <a:srgbClr val="FFFFFF"/>
          </a:solidFill>
          <a:ln w="9525">
            <a:solidFill>
              <a:srgbClr val="FFFFFF"/>
            </a:solidFill>
            <a:prstDash val="solid"/>
          </a:ln>
        </p:spPr>
      </p:sp>
      <p:sp>
        <p:nvSpPr>
          <p:cNvPr id="9" name="compat#563"/>
          <p:cNvSpPr/>
          <p:nvPr/>
        </p:nvSpPr>
        <p:spPr>
          <a:xfrm>
            <a:off x="9326880" y="2532888"/>
            <a:ext cx="1097280" cy="237744"/>
          </a:xfrm>
          <a:prstGeom prst="rect">
            <a:avLst/>
          </a:prstGeom>
          <a:noFill/>
          <a:ln/>
        </p:spPr>
        <p:txBody>
          <a:bodyPr wrap="square" lIns="0" tIns="0" rIns="0" bIns="0" rtlCol="0" anchor="ctr"/>
          <a:lstStyle/>
          <a:p>
            <a:pPr algn="ctr" indent="0" marL="0">
              <a:buNone/>
            </a:pPr>
            <a:r>
              <a:rPr lang="en-US" sz="800" b="1" u="sng" spc="80" kern="0" dirty="0">
                <a:solidFill>
                  <a:srgbClr val="1C2024"/>
                </a:solidFill>
                <a:latin typeface="Consolas" pitchFamily="34" charset="0"/>
                <a:ea typeface="Consolas" pitchFamily="34" charset="-122"/>
                <a:cs typeface="Consolas" pitchFamily="34" charset="-120"/>
                <a:hlinkClick r:id="rId2" invalidUrl="" action="" tgtFrame="" tooltip="bitchat" history="1" highlightClick="0" endSnd="0">
                  <a:extLst>
                    <a:ext uri="{A12FA001-AC4F-418D-AE19-62706E023703}">
                      <ahyp:hlinkClr xmlns:ahyp="http://schemas.microsoft.com/office/drawing/2018/hyperlinkcolor" val="tx"/>
                    </a:ext>
                  </a:extLst>
                </a:hlinkClick>
              </a:rPr>
              <a:t>BITCHAT</a:t>
            </a:r>
            <a:endParaRPr lang="en-US" sz="800" dirty="0"/>
          </a:p>
        </p:txBody>
      </p:sp>
      <p:sp>
        <p:nvSpPr>
          <p:cNvPr id="10" name="compat#564"/>
          <p:cNvSpPr/>
          <p:nvPr/>
        </p:nvSpPr>
        <p:spPr>
          <a:xfrm>
            <a:off x="2999232" y="2651760"/>
            <a:ext cx="841248" cy="0"/>
          </a:xfrm>
          <a:prstGeom prst="line">
            <a:avLst/>
          </a:prstGeom>
          <a:noFill/>
          <a:ln w="9525">
            <a:solidFill>
              <a:srgbClr val="D9D9E0"/>
            </a:solidFill>
            <a:prstDash val="solid"/>
          </a:ln>
        </p:spPr>
      </p:sp>
      <p:sp>
        <p:nvSpPr>
          <p:cNvPr id="11" name="compat#565"/>
          <p:cNvSpPr/>
          <p:nvPr/>
        </p:nvSpPr>
        <p:spPr>
          <a:xfrm>
            <a:off x="8412480" y="2651760"/>
            <a:ext cx="841248" cy="0"/>
          </a:xfrm>
          <a:prstGeom prst="line">
            <a:avLst/>
          </a:prstGeom>
          <a:noFill/>
          <a:ln w="9525">
            <a:solidFill>
              <a:srgbClr val="D9D9E0"/>
            </a:solidFill>
            <a:prstDash val="solid"/>
          </a:ln>
        </p:spPr>
      </p:sp>
      <p:sp>
        <p:nvSpPr>
          <p:cNvPr id="12" name="compat#566"/>
          <p:cNvSpPr/>
          <p:nvPr/>
        </p:nvSpPr>
        <p:spPr>
          <a:xfrm>
            <a:off x="3931920" y="2514600"/>
            <a:ext cx="4389120" cy="274320"/>
          </a:xfrm>
          <a:prstGeom prst="rect">
            <a:avLst/>
          </a:prstGeom>
          <a:noFill/>
          <a:ln/>
        </p:spPr>
        <p:txBody>
          <a:bodyPr wrap="square" lIns="0" tIns="0" rIns="0" bIns="0" rtlCol="0" anchor="ctr"/>
          <a:lstStyle/>
          <a:p>
            <a:pPr algn="ctr" indent="0" marL="0">
              <a:buNone/>
            </a:pPr>
            <a:r>
              <a:rPr lang="en-US" sz="800" b="1" u="sng" dirty="0">
                <a:solidFill>
                  <a:srgbClr val="60646C"/>
                </a:solidFill>
                <a:latin typeface="Consolas" pitchFamily="34" charset="0"/>
                <a:ea typeface="Consolas" pitchFamily="34" charset="-122"/>
                <a:cs typeface="Consolas" pitchFamily="34" charset="-120"/>
                <a:hlinkClick r:id="rId3" invalidUrl="" action="" tgtFrame="" tooltip="SAME SERVICE UUID  ·  SAME PACKET FRAME  ·  SAME PEER ID" history="1" highlightClick="0" endSnd="0">
                  <a:extLst>
                    <a:ext uri="{A12FA001-AC4F-418D-AE19-62706E023703}">
                      <ahyp:hlinkClr xmlns:ahyp="http://schemas.microsoft.com/office/drawing/2018/hyperlinkcolor" val="tx"/>
                    </a:ext>
                  </a:extLst>
                </a:hlinkClick>
              </a:rPr>
              <a:t>SAME SERVICE UUID  ·  SAME PACKET FRAME  ·  SAME PEER ID</a:t>
            </a:r>
            <a:endParaRPr lang="en-US" sz="800" dirty="0"/>
          </a:p>
        </p:txBody>
      </p:sp>
      <p:sp>
        <p:nvSpPr>
          <p:cNvPr id="13" name="inherits#567"/>
          <p:cNvSpPr/>
          <p:nvPr/>
        </p:nvSpPr>
        <p:spPr>
          <a:xfrm>
            <a:off x="566928" y="3200400"/>
            <a:ext cx="5419192" cy="2596896"/>
          </a:xfrm>
          <a:prstGeom prst="roundRect">
            <a:avLst>
              <a:gd name="adj" fmla="val 3873"/>
            </a:avLst>
          </a:prstGeom>
          <a:solidFill>
            <a:srgbClr val="FCFCFD"/>
          </a:solidFill>
          <a:ln w="9525">
            <a:solidFill>
              <a:srgbClr val="D9D9E0"/>
            </a:solidFill>
            <a:prstDash val="solid"/>
          </a:ln>
        </p:spPr>
      </p:sp>
      <p:sp>
        <p:nvSpPr>
          <p:cNvPr id="14" name="inherits#568"/>
          <p:cNvSpPr/>
          <p:nvPr/>
        </p:nvSpPr>
        <p:spPr>
          <a:xfrm>
            <a:off x="804672" y="3291840"/>
            <a:ext cx="4943704" cy="256032"/>
          </a:xfrm>
          <a:prstGeom prst="rect">
            <a:avLst/>
          </a:prstGeom>
          <a:noFill/>
          <a:ln/>
        </p:spPr>
        <p:txBody>
          <a:bodyPr wrap="square" lIns="0" tIns="0" rIns="0" bIns="0" rtlCol="0" anchor="ctr"/>
          <a:lstStyle/>
          <a:p>
            <a:pPr indent="0" marL="0">
              <a:buNone/>
            </a:pPr>
            <a:r>
              <a:rPr lang="en-US" sz="800" b="1" spc="130" kern="0" dirty="0">
                <a:solidFill>
                  <a:srgbClr val="60646C"/>
                </a:solidFill>
                <a:latin typeface="Consolas" pitchFamily="34" charset="0"/>
                <a:ea typeface="Consolas" pitchFamily="34" charset="-122"/>
                <a:cs typeface="Consolas" pitchFamily="34" charset="-120"/>
              </a:rPr>
              <a:t>●  WHAT WE INHERIT</a:t>
            </a:r>
            <a:endParaRPr lang="en-US" sz="800" dirty="0"/>
          </a:p>
        </p:txBody>
      </p:sp>
      <p:sp>
        <p:nvSpPr>
          <p:cNvPr id="15" name="inherits#569"/>
          <p:cNvSpPr/>
          <p:nvPr/>
        </p:nvSpPr>
        <p:spPr>
          <a:xfrm>
            <a:off x="713232" y="3621024"/>
            <a:ext cx="5126584" cy="0"/>
          </a:xfrm>
          <a:prstGeom prst="line">
            <a:avLst/>
          </a:prstGeom>
          <a:noFill/>
          <a:ln w="9525">
            <a:solidFill>
              <a:srgbClr val="D9D9E0"/>
            </a:solidFill>
            <a:prstDash val="solid"/>
          </a:ln>
        </p:spPr>
      </p:sp>
      <p:sp>
        <p:nvSpPr>
          <p:cNvPr id="16" name="inherits#570"/>
          <p:cNvSpPr/>
          <p:nvPr/>
        </p:nvSpPr>
        <p:spPr>
          <a:xfrm>
            <a:off x="877824" y="3803904"/>
            <a:ext cx="4797400" cy="530352"/>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The first Airhop install lands in a mesh that already has bitchat phones in it. It relays for them, they relay for it, and neither side is configured.</a:t>
            </a:r>
            <a:endParaRPr lang="en-US" sz="950" dirty="0"/>
          </a:p>
        </p:txBody>
      </p:sp>
      <p:sp>
        <p:nvSpPr>
          <p:cNvPr id="17" name="inherits#571"/>
          <p:cNvSpPr/>
          <p:nvPr/>
        </p:nvSpPr>
        <p:spPr>
          <a:xfrm>
            <a:off x="877824" y="4352544"/>
            <a:ext cx="4797400" cy="0"/>
          </a:xfrm>
          <a:prstGeom prst="line">
            <a:avLst/>
          </a:prstGeom>
          <a:noFill/>
          <a:ln w="9525">
            <a:solidFill>
              <a:srgbClr val="D9D9E0"/>
            </a:solidFill>
            <a:prstDash val="solid"/>
          </a:ln>
        </p:spPr>
      </p:sp>
      <p:sp>
        <p:nvSpPr>
          <p:cNvPr id="18" name="inherits#572"/>
          <p:cNvSpPr/>
          <p:nvPr/>
        </p:nvSpPr>
        <p:spPr>
          <a:xfrm>
            <a:off x="877824" y="4462272"/>
            <a:ext cx="4797400" cy="530352"/>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Airhop's own packet types are ones bitchat forwards without reading, so a new feature never splits the network in two.</a:t>
            </a:r>
            <a:endParaRPr lang="en-US" sz="950" dirty="0"/>
          </a:p>
        </p:txBody>
      </p:sp>
      <p:sp>
        <p:nvSpPr>
          <p:cNvPr id="19" name="inherits#573"/>
          <p:cNvSpPr/>
          <p:nvPr/>
        </p:nvSpPr>
        <p:spPr>
          <a:xfrm>
            <a:off x="877824" y="5010912"/>
            <a:ext cx="4797400" cy="0"/>
          </a:xfrm>
          <a:prstGeom prst="line">
            <a:avLst/>
          </a:prstGeom>
          <a:noFill/>
          <a:ln w="9525">
            <a:solidFill>
              <a:srgbClr val="D9D9E0"/>
            </a:solidFill>
            <a:prstDash val="solid"/>
          </a:ln>
        </p:spPr>
      </p:sp>
      <p:sp>
        <p:nvSpPr>
          <p:cNvPr id="20" name="inherits#574"/>
          <p:cNvSpPr/>
          <p:nvPr/>
        </p:nvSpPr>
        <p:spPr>
          <a:xfrm>
            <a:off x="877824" y="5120640"/>
            <a:ext cx="4797400" cy="530352"/>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Fixes found here have gone back upstream. A bigger shared mesh beats a larger slice of a small one.</a:t>
            </a:r>
            <a:endParaRPr lang="en-US" sz="950" dirty="0"/>
          </a:p>
        </p:txBody>
      </p:sp>
      <p:sp>
        <p:nvSpPr>
          <p:cNvPr id="21" name="adds#575"/>
          <p:cNvSpPr/>
          <p:nvPr/>
        </p:nvSpPr>
        <p:spPr>
          <a:xfrm>
            <a:off x="6205576" y="3200400"/>
            <a:ext cx="5419192" cy="2596896"/>
          </a:xfrm>
          <a:prstGeom prst="roundRect">
            <a:avLst>
              <a:gd name="adj" fmla="val 3873"/>
            </a:avLst>
          </a:prstGeom>
          <a:solidFill>
            <a:srgbClr val="FCFCFD"/>
          </a:solidFill>
          <a:ln w="9525">
            <a:solidFill>
              <a:srgbClr val="D9D9E0"/>
            </a:solidFill>
            <a:prstDash val="solid"/>
          </a:ln>
        </p:spPr>
      </p:sp>
      <p:sp>
        <p:nvSpPr>
          <p:cNvPr id="22" name="adds#576"/>
          <p:cNvSpPr/>
          <p:nvPr/>
        </p:nvSpPr>
        <p:spPr>
          <a:xfrm>
            <a:off x="6443320" y="3291840"/>
            <a:ext cx="4943704" cy="256032"/>
          </a:xfrm>
          <a:prstGeom prst="rect">
            <a:avLst/>
          </a:prstGeom>
          <a:noFill/>
          <a:ln/>
        </p:spPr>
        <p:txBody>
          <a:bodyPr wrap="square" lIns="0" tIns="0" rIns="0" bIns="0" rtlCol="0" anchor="ctr"/>
          <a:lstStyle/>
          <a:p>
            <a:pPr indent="0" marL="0">
              <a:buNone/>
            </a:pPr>
            <a:r>
              <a:rPr lang="en-US" sz="800" b="1" spc="130" kern="0" dirty="0">
                <a:solidFill>
                  <a:srgbClr val="60646C"/>
                </a:solidFill>
                <a:latin typeface="Consolas" pitchFamily="34" charset="0"/>
                <a:ea typeface="Consolas" pitchFamily="34" charset="-122"/>
                <a:cs typeface="Consolas" pitchFamily="34" charset="-120"/>
              </a:rPr>
              <a:t>●  WHAT WE ADD</a:t>
            </a:r>
            <a:endParaRPr lang="en-US" sz="800" dirty="0"/>
          </a:p>
        </p:txBody>
      </p:sp>
      <p:sp>
        <p:nvSpPr>
          <p:cNvPr id="23" name="adds#577"/>
          <p:cNvSpPr/>
          <p:nvPr/>
        </p:nvSpPr>
        <p:spPr>
          <a:xfrm>
            <a:off x="6351880" y="3621024"/>
            <a:ext cx="5126584" cy="0"/>
          </a:xfrm>
          <a:prstGeom prst="line">
            <a:avLst/>
          </a:prstGeom>
          <a:noFill/>
          <a:ln w="9525">
            <a:solidFill>
              <a:srgbClr val="D9D9E0"/>
            </a:solidFill>
            <a:prstDash val="solid"/>
          </a:ln>
        </p:spPr>
      </p:sp>
      <p:sp>
        <p:nvSpPr>
          <p:cNvPr id="24" name="adds#578"/>
          <p:cNvSpPr/>
          <p:nvPr/>
        </p:nvSpPr>
        <p:spPr>
          <a:xfrm>
            <a:off x="6516472" y="3803904"/>
            <a:ext cx="4047592" cy="219456"/>
          </a:xfrm>
          <a:prstGeom prst="rect">
            <a:avLst/>
          </a:prstGeom>
          <a:noFill/>
          <a:ln/>
        </p:spPr>
        <p:txBody>
          <a:bodyPr wrap="square" lIns="0" tIns="0" rIns="0" bIns="0" rtlCol="0" anchor="ctr"/>
          <a:lstStyle/>
          <a:p>
            <a:pPr indent="0" marL="0">
              <a:buNone/>
            </a:pPr>
            <a:r>
              <a:rPr lang="en-US" sz="950" b="1" dirty="0">
                <a:solidFill>
                  <a:srgbClr val="1C2024"/>
                </a:solidFill>
                <a:latin typeface="Segoe UI" pitchFamily="34" charset="0"/>
                <a:ea typeface="Segoe UI" pitchFamily="34" charset="-122"/>
                <a:cs typeface="Segoe UI" pitchFamily="34" charset="-120"/>
              </a:rPr>
              <a:t>User experience</a:t>
            </a:r>
            <a:endParaRPr lang="en-US" sz="950" dirty="0"/>
          </a:p>
        </p:txBody>
      </p:sp>
      <p:sp>
        <p:nvSpPr>
          <p:cNvPr id="25" name="adds#579"/>
          <p:cNvSpPr/>
          <p:nvPr/>
        </p:nvSpPr>
        <p:spPr>
          <a:xfrm>
            <a:off x="10655503" y="3803904"/>
            <a:ext cx="658368" cy="237744"/>
          </a:xfrm>
          <a:prstGeom prst="roundRect">
            <a:avLst>
              <a:gd name="adj" fmla="val 50000"/>
            </a:avLst>
          </a:prstGeom>
          <a:solidFill>
            <a:srgbClr val="F0F0F3"/>
          </a:solidFill>
          <a:ln w="9525">
            <a:solidFill>
              <a:srgbClr val="D9D9E0"/>
            </a:solidFill>
            <a:prstDash val="solid"/>
          </a:ln>
        </p:spPr>
      </p:sp>
      <p:sp>
        <p:nvSpPr>
          <p:cNvPr id="26" name="adds#580"/>
          <p:cNvSpPr/>
          <p:nvPr/>
        </p:nvSpPr>
        <p:spPr>
          <a:xfrm>
            <a:off x="10655503" y="3803904"/>
            <a:ext cx="658368"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SHIPPED</a:t>
            </a:r>
            <a:endParaRPr lang="en-US" sz="800" dirty="0"/>
          </a:p>
        </p:txBody>
      </p:sp>
      <p:sp>
        <p:nvSpPr>
          <p:cNvPr id="27" name="adds#581"/>
          <p:cNvSpPr/>
          <p:nvPr/>
        </p:nvSpPr>
        <p:spPr>
          <a:xfrm>
            <a:off x="6516472" y="4023360"/>
            <a:ext cx="4797400" cy="21945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Nielsen's heuristics, Fitts, Hick and Jakob, on Apple HIG and Material</a:t>
            </a:r>
            <a:endParaRPr lang="en-US" sz="950" dirty="0"/>
          </a:p>
        </p:txBody>
      </p:sp>
      <p:sp>
        <p:nvSpPr>
          <p:cNvPr id="28" name="adds#582"/>
          <p:cNvSpPr/>
          <p:nvPr/>
        </p:nvSpPr>
        <p:spPr>
          <a:xfrm>
            <a:off x="6516472" y="4261104"/>
            <a:ext cx="4797400" cy="0"/>
          </a:xfrm>
          <a:prstGeom prst="line">
            <a:avLst/>
          </a:prstGeom>
          <a:noFill/>
          <a:ln w="9525">
            <a:solidFill>
              <a:srgbClr val="D9D9E0"/>
            </a:solidFill>
            <a:prstDash val="solid"/>
          </a:ln>
        </p:spPr>
      </p:sp>
      <p:sp>
        <p:nvSpPr>
          <p:cNvPr id="29" name="adds#583"/>
          <p:cNvSpPr/>
          <p:nvPr/>
        </p:nvSpPr>
        <p:spPr>
          <a:xfrm>
            <a:off x="6516472" y="4297680"/>
            <a:ext cx="4047592" cy="219456"/>
          </a:xfrm>
          <a:prstGeom prst="rect">
            <a:avLst/>
          </a:prstGeom>
          <a:noFill/>
          <a:ln/>
        </p:spPr>
        <p:txBody>
          <a:bodyPr wrap="square" lIns="0" tIns="0" rIns="0" bIns="0" rtlCol="0" anchor="ctr"/>
          <a:lstStyle/>
          <a:p>
            <a:pPr indent="0" marL="0">
              <a:buNone/>
            </a:pPr>
            <a:r>
              <a:rPr lang="en-US" sz="950" b="1" dirty="0">
                <a:solidFill>
                  <a:srgbClr val="1C2024"/>
                </a:solidFill>
                <a:latin typeface="Segoe UI" pitchFamily="34" charset="0"/>
                <a:ea typeface="Segoe UI" pitchFamily="34" charset="-122"/>
                <a:cs typeface="Segoe UI" pitchFamily="34" charset="-120"/>
              </a:rPr>
              <a:t>Offline money</a:t>
            </a:r>
            <a:endParaRPr lang="en-US" sz="950" dirty="0"/>
          </a:p>
        </p:txBody>
      </p:sp>
      <p:sp>
        <p:nvSpPr>
          <p:cNvPr id="30" name="adds#584"/>
          <p:cNvSpPr/>
          <p:nvPr/>
        </p:nvSpPr>
        <p:spPr>
          <a:xfrm>
            <a:off x="10655503" y="4297680"/>
            <a:ext cx="658368" cy="237744"/>
          </a:xfrm>
          <a:prstGeom prst="roundRect">
            <a:avLst>
              <a:gd name="adj" fmla="val 50000"/>
            </a:avLst>
          </a:prstGeom>
          <a:solidFill>
            <a:srgbClr val="F0F0F3"/>
          </a:solidFill>
          <a:ln w="9525">
            <a:solidFill>
              <a:srgbClr val="D9D9E0"/>
            </a:solidFill>
            <a:prstDash val="solid"/>
          </a:ln>
        </p:spPr>
      </p:sp>
      <p:sp>
        <p:nvSpPr>
          <p:cNvPr id="31" name="adds#585"/>
          <p:cNvSpPr/>
          <p:nvPr/>
        </p:nvSpPr>
        <p:spPr>
          <a:xfrm>
            <a:off x="10655503" y="4297680"/>
            <a:ext cx="658368"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SHIPPED</a:t>
            </a:r>
            <a:endParaRPr lang="en-US" sz="800" dirty="0"/>
          </a:p>
        </p:txBody>
      </p:sp>
      <p:sp>
        <p:nvSpPr>
          <p:cNvPr id="32" name="adds#586"/>
          <p:cNvSpPr/>
          <p:nvPr/>
        </p:nvSpPr>
        <p:spPr>
          <a:xfrm>
            <a:off x="6516472" y="4517136"/>
            <a:ext cx="4797400" cy="21945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Cashu ecash phone to phone, with neither one online</a:t>
            </a:r>
            <a:endParaRPr lang="en-US" sz="950" dirty="0"/>
          </a:p>
        </p:txBody>
      </p:sp>
      <p:sp>
        <p:nvSpPr>
          <p:cNvPr id="33" name="adds#587"/>
          <p:cNvSpPr/>
          <p:nvPr/>
        </p:nvSpPr>
        <p:spPr>
          <a:xfrm>
            <a:off x="6516472" y="4754880"/>
            <a:ext cx="4797400" cy="0"/>
          </a:xfrm>
          <a:prstGeom prst="line">
            <a:avLst/>
          </a:prstGeom>
          <a:noFill/>
          <a:ln w="9525">
            <a:solidFill>
              <a:srgbClr val="D9D9E0"/>
            </a:solidFill>
            <a:prstDash val="solid"/>
          </a:ln>
        </p:spPr>
      </p:sp>
      <p:sp>
        <p:nvSpPr>
          <p:cNvPr id="34" name="adds#588"/>
          <p:cNvSpPr/>
          <p:nvPr/>
        </p:nvSpPr>
        <p:spPr>
          <a:xfrm>
            <a:off x="6516472" y="4791456"/>
            <a:ext cx="4047592" cy="219456"/>
          </a:xfrm>
          <a:prstGeom prst="rect">
            <a:avLst/>
          </a:prstGeom>
          <a:noFill/>
          <a:ln/>
        </p:spPr>
        <p:txBody>
          <a:bodyPr wrap="square" lIns="0" tIns="0" rIns="0" bIns="0" rtlCol="0" anchor="ctr"/>
          <a:lstStyle/>
          <a:p>
            <a:pPr indent="0" marL="0">
              <a:buNone/>
            </a:pPr>
            <a:r>
              <a:rPr lang="en-US" sz="950" b="1" dirty="0">
                <a:solidFill>
                  <a:srgbClr val="1C2024"/>
                </a:solidFill>
                <a:latin typeface="Segoe UI" pitchFamily="34" charset="0"/>
                <a:ea typeface="Segoe UI" pitchFamily="34" charset="-122"/>
                <a:cs typeface="Segoe UI" pitchFamily="34" charset="-120"/>
              </a:rPr>
              <a:t>Offline AI</a:t>
            </a:r>
            <a:endParaRPr lang="en-US" sz="950" dirty="0"/>
          </a:p>
        </p:txBody>
      </p:sp>
      <p:sp>
        <p:nvSpPr>
          <p:cNvPr id="35" name="adds#589"/>
          <p:cNvSpPr/>
          <p:nvPr/>
        </p:nvSpPr>
        <p:spPr>
          <a:xfrm>
            <a:off x="10655503" y="4791456"/>
            <a:ext cx="658368" cy="237744"/>
          </a:xfrm>
          <a:prstGeom prst="roundRect">
            <a:avLst>
              <a:gd name="adj" fmla="val 50000"/>
            </a:avLst>
          </a:prstGeom>
          <a:solidFill>
            <a:srgbClr val="F0F0F3"/>
          </a:solidFill>
          <a:ln w="9525">
            <a:solidFill>
              <a:srgbClr val="D9D9E0"/>
            </a:solidFill>
            <a:prstDash val="solid"/>
          </a:ln>
        </p:spPr>
      </p:sp>
      <p:sp>
        <p:nvSpPr>
          <p:cNvPr id="36" name="adds#590"/>
          <p:cNvSpPr/>
          <p:nvPr/>
        </p:nvSpPr>
        <p:spPr>
          <a:xfrm>
            <a:off x="10655503" y="4791456"/>
            <a:ext cx="658368"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V1.1.0</a:t>
            </a:r>
            <a:endParaRPr lang="en-US" sz="800" dirty="0"/>
          </a:p>
        </p:txBody>
      </p:sp>
      <p:sp>
        <p:nvSpPr>
          <p:cNvPr id="37" name="adds#591"/>
          <p:cNvSpPr/>
          <p:nvPr/>
        </p:nvSpPr>
        <p:spPr>
          <a:xfrm>
            <a:off x="6516472" y="5010912"/>
            <a:ext cx="4797400" cy="21945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A small model on the device, no network call of any kind</a:t>
            </a:r>
            <a:endParaRPr lang="en-US" sz="950" dirty="0"/>
          </a:p>
        </p:txBody>
      </p:sp>
      <p:sp>
        <p:nvSpPr>
          <p:cNvPr id="38" name="adds#592"/>
          <p:cNvSpPr/>
          <p:nvPr/>
        </p:nvSpPr>
        <p:spPr>
          <a:xfrm>
            <a:off x="6516472" y="5248656"/>
            <a:ext cx="4797400" cy="0"/>
          </a:xfrm>
          <a:prstGeom prst="line">
            <a:avLst/>
          </a:prstGeom>
          <a:noFill/>
          <a:ln w="9525">
            <a:solidFill>
              <a:srgbClr val="D9D9E0"/>
            </a:solidFill>
            <a:prstDash val="solid"/>
          </a:ln>
        </p:spPr>
      </p:sp>
      <p:sp>
        <p:nvSpPr>
          <p:cNvPr id="39" name="adds#593"/>
          <p:cNvSpPr/>
          <p:nvPr/>
        </p:nvSpPr>
        <p:spPr>
          <a:xfrm>
            <a:off x="6516472" y="5285232"/>
            <a:ext cx="4047592" cy="219456"/>
          </a:xfrm>
          <a:prstGeom prst="rect">
            <a:avLst/>
          </a:prstGeom>
          <a:noFill/>
          <a:ln/>
        </p:spPr>
        <p:txBody>
          <a:bodyPr wrap="square" lIns="0" tIns="0" rIns="0" bIns="0" rtlCol="0" anchor="ctr"/>
          <a:lstStyle/>
          <a:p>
            <a:pPr indent="0" marL="0">
              <a:buNone/>
            </a:pPr>
            <a:r>
              <a:rPr lang="en-US" sz="950" b="1" dirty="0">
                <a:solidFill>
                  <a:srgbClr val="1C2024"/>
                </a:solidFill>
                <a:latin typeface="Segoe UI" pitchFamily="34" charset="0"/>
                <a:ea typeface="Segoe UI" pitchFamily="34" charset="-122"/>
                <a:cs typeface="Segoe UI" pitchFamily="34" charset="-120"/>
              </a:rPr>
              <a:t>Feature parity</a:t>
            </a:r>
            <a:endParaRPr lang="en-US" sz="950" dirty="0"/>
          </a:p>
        </p:txBody>
      </p:sp>
      <p:sp>
        <p:nvSpPr>
          <p:cNvPr id="40" name="adds#594"/>
          <p:cNvSpPr/>
          <p:nvPr/>
        </p:nvSpPr>
        <p:spPr>
          <a:xfrm>
            <a:off x="10655503" y="5285232"/>
            <a:ext cx="658368" cy="237744"/>
          </a:xfrm>
          <a:prstGeom prst="roundRect">
            <a:avLst>
              <a:gd name="adj" fmla="val 50000"/>
            </a:avLst>
          </a:prstGeom>
          <a:solidFill>
            <a:srgbClr val="F0F0F3"/>
          </a:solidFill>
          <a:ln w="9525">
            <a:solidFill>
              <a:srgbClr val="D9D9E0"/>
            </a:solidFill>
            <a:prstDash val="solid"/>
          </a:ln>
        </p:spPr>
      </p:sp>
      <p:sp>
        <p:nvSpPr>
          <p:cNvPr id="41" name="adds#595"/>
          <p:cNvSpPr/>
          <p:nvPr/>
        </p:nvSpPr>
        <p:spPr>
          <a:xfrm>
            <a:off x="10655503" y="5285232"/>
            <a:ext cx="658368"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SHIPPED</a:t>
            </a:r>
            <a:endParaRPr lang="en-US" sz="800" dirty="0"/>
          </a:p>
        </p:txBody>
      </p:sp>
      <p:sp>
        <p:nvSpPr>
          <p:cNvPr id="42" name="adds#596"/>
          <p:cNvSpPr/>
          <p:nvPr/>
        </p:nvSpPr>
        <p:spPr>
          <a:xfrm>
            <a:off x="6516472" y="5504688"/>
            <a:ext cx="4797400" cy="219456"/>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One core, so both platforms ship the same thing on the same day</a:t>
            </a:r>
            <a:endParaRPr lang="en-US" sz="950" dirty="0"/>
          </a:p>
        </p:txBody>
      </p:sp>
      <p:sp>
        <p:nvSpPr>
          <p:cNvPr id="43" name="kicker#597"/>
          <p:cNvSpPr/>
          <p:nvPr/>
        </p:nvSpPr>
        <p:spPr>
          <a:xfrm>
            <a:off x="566928" y="5925312"/>
            <a:ext cx="11057839" cy="274320"/>
          </a:xfrm>
          <a:prstGeom prst="rect">
            <a:avLst/>
          </a:prstGeom>
          <a:noFill/>
          <a:ln/>
        </p:spPr>
        <p:txBody>
          <a:bodyPr wrap="square" lIns="0" tIns="0" rIns="0" bIns="0" rtlCol="0" anchor="t"/>
          <a:lstStyle/>
          <a:p>
            <a:pPr indent="0" marL="0">
              <a:lnSpc>
                <a:spcPct val="134000"/>
              </a:lnSpc>
              <a:buNone/>
            </a:pPr>
            <a:r>
              <a:rPr lang="en-US" sz="950" dirty="0">
                <a:solidFill>
                  <a:srgbClr val="1C2024"/>
                </a:solidFill>
                <a:latin typeface="Segoe UI" pitchFamily="34" charset="0"/>
                <a:ea typeface="Segoe UI" pitchFamily="34" charset="-122"/>
                <a:cs typeface="Segoe UI" pitchFamily="34" charset="-120"/>
              </a:rPr>
              <a:t>Every other mesh messenger opens to an empty room. This one opens a door into a mesh that is already running.</a:t>
            </a:r>
            <a:endParaRPr lang="en-US" sz="950" dirty="0"/>
          </a:p>
        </p:txBody>
      </p:sp>
      <p:sp>
        <p:nvSpPr>
          <p:cNvPr id="45" name="Shape 42"/>
          <p:cNvSpPr/>
          <p:nvPr/>
        </p:nvSpPr>
        <p:spPr>
          <a:xfrm>
            <a:off x="566928" y="6327648"/>
            <a:ext cx="11057839" cy="0"/>
          </a:xfrm>
          <a:prstGeom prst="line">
            <a:avLst/>
          </a:prstGeom>
          <a:noFill/>
          <a:ln w="9525">
            <a:solidFill>
              <a:srgbClr val="D9D9E0"/>
            </a:solidFill>
            <a:prstDash val="solid"/>
          </a:ln>
        </p:spPr>
      </p:sp>
      <p:sp>
        <p:nvSpPr>
          <p:cNvPr id="46" name="Shape 43"/>
          <p:cNvSpPr/>
          <p:nvPr/>
        </p:nvSpPr>
        <p:spPr>
          <a:xfrm>
            <a:off x="566928" y="6441948"/>
            <a:ext cx="24725" cy="24725"/>
          </a:xfrm>
          <a:prstGeom prst="rect">
            <a:avLst/>
          </a:prstGeom>
          <a:solidFill>
            <a:srgbClr val="1C2024"/>
          </a:solidFill>
          <a:ln w="12700">
            <a:solidFill>
              <a:srgbClr val="1C2024"/>
            </a:solidFill>
            <a:prstDash val="solid"/>
          </a:ln>
        </p:spPr>
      </p:sp>
      <p:sp>
        <p:nvSpPr>
          <p:cNvPr id="47" name="Shape 44"/>
          <p:cNvSpPr/>
          <p:nvPr/>
        </p:nvSpPr>
        <p:spPr>
          <a:xfrm>
            <a:off x="590702" y="6441948"/>
            <a:ext cx="24725" cy="24725"/>
          </a:xfrm>
          <a:prstGeom prst="rect">
            <a:avLst/>
          </a:prstGeom>
          <a:solidFill>
            <a:srgbClr val="1C2024"/>
          </a:solidFill>
          <a:ln w="12700">
            <a:solidFill>
              <a:srgbClr val="1C2024"/>
            </a:solidFill>
            <a:prstDash val="solid"/>
          </a:ln>
        </p:spPr>
      </p:sp>
      <p:sp>
        <p:nvSpPr>
          <p:cNvPr id="48" name="Shape 45"/>
          <p:cNvSpPr/>
          <p:nvPr/>
        </p:nvSpPr>
        <p:spPr>
          <a:xfrm>
            <a:off x="780898" y="6441948"/>
            <a:ext cx="24725" cy="24725"/>
          </a:xfrm>
          <a:prstGeom prst="rect">
            <a:avLst/>
          </a:prstGeom>
          <a:solidFill>
            <a:srgbClr val="1C2024"/>
          </a:solidFill>
          <a:ln w="12700">
            <a:solidFill>
              <a:srgbClr val="1C2024"/>
            </a:solidFill>
            <a:prstDash val="solid"/>
          </a:ln>
        </p:spPr>
      </p:sp>
      <p:sp>
        <p:nvSpPr>
          <p:cNvPr id="49" name="Shape 46"/>
          <p:cNvSpPr/>
          <p:nvPr/>
        </p:nvSpPr>
        <p:spPr>
          <a:xfrm>
            <a:off x="804672" y="6441948"/>
            <a:ext cx="24725" cy="24725"/>
          </a:xfrm>
          <a:prstGeom prst="rect">
            <a:avLst/>
          </a:prstGeom>
          <a:solidFill>
            <a:srgbClr val="1C2024"/>
          </a:solidFill>
          <a:ln w="12700">
            <a:solidFill>
              <a:srgbClr val="1C2024"/>
            </a:solidFill>
            <a:prstDash val="solid"/>
          </a:ln>
        </p:spPr>
      </p:sp>
      <p:sp>
        <p:nvSpPr>
          <p:cNvPr id="50" name="Shape 47"/>
          <p:cNvSpPr/>
          <p:nvPr/>
        </p:nvSpPr>
        <p:spPr>
          <a:xfrm>
            <a:off x="590702" y="6465722"/>
            <a:ext cx="24725" cy="24725"/>
          </a:xfrm>
          <a:prstGeom prst="rect">
            <a:avLst/>
          </a:prstGeom>
          <a:solidFill>
            <a:srgbClr val="1C2024"/>
          </a:solidFill>
          <a:ln w="12700">
            <a:solidFill>
              <a:srgbClr val="1C2024"/>
            </a:solidFill>
            <a:prstDash val="solid"/>
          </a:ln>
        </p:spPr>
      </p:sp>
      <p:sp>
        <p:nvSpPr>
          <p:cNvPr id="51" name="Shape 48"/>
          <p:cNvSpPr/>
          <p:nvPr/>
        </p:nvSpPr>
        <p:spPr>
          <a:xfrm>
            <a:off x="614477" y="6465722"/>
            <a:ext cx="24725" cy="24725"/>
          </a:xfrm>
          <a:prstGeom prst="rect">
            <a:avLst/>
          </a:prstGeom>
          <a:solidFill>
            <a:srgbClr val="1C2024"/>
          </a:solidFill>
          <a:ln w="12700">
            <a:solidFill>
              <a:srgbClr val="1C2024"/>
            </a:solidFill>
            <a:prstDash val="solid"/>
          </a:ln>
        </p:spPr>
      </p:sp>
      <p:sp>
        <p:nvSpPr>
          <p:cNvPr id="52" name="Shape 49"/>
          <p:cNvSpPr/>
          <p:nvPr/>
        </p:nvSpPr>
        <p:spPr>
          <a:xfrm>
            <a:off x="757123" y="6465722"/>
            <a:ext cx="24725" cy="24725"/>
          </a:xfrm>
          <a:prstGeom prst="rect">
            <a:avLst/>
          </a:prstGeom>
          <a:solidFill>
            <a:srgbClr val="1C2024"/>
          </a:solidFill>
          <a:ln w="12700">
            <a:solidFill>
              <a:srgbClr val="1C2024"/>
            </a:solidFill>
            <a:prstDash val="solid"/>
          </a:ln>
        </p:spPr>
      </p:sp>
      <p:sp>
        <p:nvSpPr>
          <p:cNvPr id="53" name="Shape 50"/>
          <p:cNvSpPr/>
          <p:nvPr/>
        </p:nvSpPr>
        <p:spPr>
          <a:xfrm>
            <a:off x="780898" y="6465722"/>
            <a:ext cx="24725" cy="24725"/>
          </a:xfrm>
          <a:prstGeom prst="rect">
            <a:avLst/>
          </a:prstGeom>
          <a:solidFill>
            <a:srgbClr val="1C2024"/>
          </a:solidFill>
          <a:ln w="12700">
            <a:solidFill>
              <a:srgbClr val="1C2024"/>
            </a:solidFill>
            <a:prstDash val="solid"/>
          </a:ln>
        </p:spPr>
      </p:sp>
      <p:sp>
        <p:nvSpPr>
          <p:cNvPr id="54" name="Shape 51"/>
          <p:cNvSpPr/>
          <p:nvPr/>
        </p:nvSpPr>
        <p:spPr>
          <a:xfrm>
            <a:off x="614477" y="6489497"/>
            <a:ext cx="24725" cy="24725"/>
          </a:xfrm>
          <a:prstGeom prst="rect">
            <a:avLst/>
          </a:prstGeom>
          <a:solidFill>
            <a:srgbClr val="1C2024"/>
          </a:solidFill>
          <a:ln w="12700">
            <a:solidFill>
              <a:srgbClr val="1C2024"/>
            </a:solidFill>
            <a:prstDash val="solid"/>
          </a:ln>
        </p:spPr>
      </p:sp>
      <p:sp>
        <p:nvSpPr>
          <p:cNvPr id="55" name="Shape 52"/>
          <p:cNvSpPr/>
          <p:nvPr/>
        </p:nvSpPr>
        <p:spPr>
          <a:xfrm>
            <a:off x="638251" y="6489497"/>
            <a:ext cx="24725" cy="24725"/>
          </a:xfrm>
          <a:prstGeom prst="rect">
            <a:avLst/>
          </a:prstGeom>
          <a:solidFill>
            <a:srgbClr val="1C2024"/>
          </a:solidFill>
          <a:ln w="12700">
            <a:solidFill>
              <a:srgbClr val="1C2024"/>
            </a:solidFill>
            <a:prstDash val="solid"/>
          </a:ln>
        </p:spPr>
      </p:sp>
      <p:sp>
        <p:nvSpPr>
          <p:cNvPr id="56" name="Shape 53"/>
          <p:cNvSpPr/>
          <p:nvPr/>
        </p:nvSpPr>
        <p:spPr>
          <a:xfrm>
            <a:off x="685800" y="6489497"/>
            <a:ext cx="24725" cy="24725"/>
          </a:xfrm>
          <a:prstGeom prst="rect">
            <a:avLst/>
          </a:prstGeom>
          <a:solidFill>
            <a:srgbClr val="1C2024"/>
          </a:solidFill>
          <a:ln w="12700">
            <a:solidFill>
              <a:srgbClr val="1C2024"/>
            </a:solidFill>
            <a:prstDash val="solid"/>
          </a:ln>
        </p:spPr>
      </p:sp>
      <p:sp>
        <p:nvSpPr>
          <p:cNvPr id="57" name="Shape 54"/>
          <p:cNvSpPr/>
          <p:nvPr/>
        </p:nvSpPr>
        <p:spPr>
          <a:xfrm>
            <a:off x="733349" y="6489497"/>
            <a:ext cx="24725" cy="24725"/>
          </a:xfrm>
          <a:prstGeom prst="rect">
            <a:avLst/>
          </a:prstGeom>
          <a:solidFill>
            <a:srgbClr val="1C2024"/>
          </a:solidFill>
          <a:ln w="12700">
            <a:solidFill>
              <a:srgbClr val="1C2024"/>
            </a:solidFill>
            <a:prstDash val="solid"/>
          </a:ln>
        </p:spPr>
      </p:sp>
      <p:sp>
        <p:nvSpPr>
          <p:cNvPr id="58" name="Shape 55"/>
          <p:cNvSpPr/>
          <p:nvPr/>
        </p:nvSpPr>
        <p:spPr>
          <a:xfrm>
            <a:off x="757123" y="6489497"/>
            <a:ext cx="24725" cy="24725"/>
          </a:xfrm>
          <a:prstGeom prst="rect">
            <a:avLst/>
          </a:prstGeom>
          <a:solidFill>
            <a:srgbClr val="1C2024"/>
          </a:solidFill>
          <a:ln w="12700">
            <a:solidFill>
              <a:srgbClr val="1C2024"/>
            </a:solidFill>
            <a:prstDash val="solid"/>
          </a:ln>
        </p:spPr>
      </p:sp>
      <p:sp>
        <p:nvSpPr>
          <p:cNvPr id="59" name="Shape 56"/>
          <p:cNvSpPr/>
          <p:nvPr/>
        </p:nvSpPr>
        <p:spPr>
          <a:xfrm>
            <a:off x="638251" y="6513271"/>
            <a:ext cx="24725" cy="24725"/>
          </a:xfrm>
          <a:prstGeom prst="rect">
            <a:avLst/>
          </a:prstGeom>
          <a:solidFill>
            <a:srgbClr val="1C2024"/>
          </a:solidFill>
          <a:ln w="12700">
            <a:solidFill>
              <a:srgbClr val="1C2024"/>
            </a:solidFill>
            <a:prstDash val="solid"/>
          </a:ln>
        </p:spPr>
      </p:sp>
      <p:sp>
        <p:nvSpPr>
          <p:cNvPr id="60" name="Shape 57"/>
          <p:cNvSpPr/>
          <p:nvPr/>
        </p:nvSpPr>
        <p:spPr>
          <a:xfrm>
            <a:off x="662026" y="6513271"/>
            <a:ext cx="24725" cy="24725"/>
          </a:xfrm>
          <a:prstGeom prst="rect">
            <a:avLst/>
          </a:prstGeom>
          <a:solidFill>
            <a:srgbClr val="1C2024"/>
          </a:solidFill>
          <a:ln w="12700">
            <a:solidFill>
              <a:srgbClr val="1C2024"/>
            </a:solidFill>
            <a:prstDash val="solid"/>
          </a:ln>
        </p:spPr>
      </p:sp>
      <p:sp>
        <p:nvSpPr>
          <p:cNvPr id="61" name="Shape 58"/>
          <p:cNvSpPr/>
          <p:nvPr/>
        </p:nvSpPr>
        <p:spPr>
          <a:xfrm>
            <a:off x="685800" y="6513271"/>
            <a:ext cx="24725" cy="24725"/>
          </a:xfrm>
          <a:prstGeom prst="rect">
            <a:avLst/>
          </a:prstGeom>
          <a:solidFill>
            <a:srgbClr val="1C2024"/>
          </a:solidFill>
          <a:ln w="12700">
            <a:solidFill>
              <a:srgbClr val="1C2024"/>
            </a:solidFill>
            <a:prstDash val="solid"/>
          </a:ln>
        </p:spPr>
      </p:sp>
      <p:sp>
        <p:nvSpPr>
          <p:cNvPr id="62" name="Shape 59"/>
          <p:cNvSpPr/>
          <p:nvPr/>
        </p:nvSpPr>
        <p:spPr>
          <a:xfrm>
            <a:off x="709574" y="6513271"/>
            <a:ext cx="24725" cy="24725"/>
          </a:xfrm>
          <a:prstGeom prst="rect">
            <a:avLst/>
          </a:prstGeom>
          <a:solidFill>
            <a:srgbClr val="1C2024"/>
          </a:solidFill>
          <a:ln w="12700">
            <a:solidFill>
              <a:srgbClr val="1C2024"/>
            </a:solidFill>
            <a:prstDash val="solid"/>
          </a:ln>
        </p:spPr>
      </p:sp>
      <p:sp>
        <p:nvSpPr>
          <p:cNvPr id="63" name="Shape 60"/>
          <p:cNvSpPr/>
          <p:nvPr/>
        </p:nvSpPr>
        <p:spPr>
          <a:xfrm>
            <a:off x="733349" y="6513271"/>
            <a:ext cx="24725" cy="24725"/>
          </a:xfrm>
          <a:prstGeom prst="rect">
            <a:avLst/>
          </a:prstGeom>
          <a:solidFill>
            <a:srgbClr val="1C2024"/>
          </a:solidFill>
          <a:ln w="12700">
            <a:solidFill>
              <a:srgbClr val="1C2024"/>
            </a:solidFill>
            <a:prstDash val="solid"/>
          </a:ln>
        </p:spPr>
      </p:sp>
      <p:sp>
        <p:nvSpPr>
          <p:cNvPr id="64" name="Shape 61"/>
          <p:cNvSpPr/>
          <p:nvPr/>
        </p:nvSpPr>
        <p:spPr>
          <a:xfrm>
            <a:off x="662026" y="6537046"/>
            <a:ext cx="24725" cy="24725"/>
          </a:xfrm>
          <a:prstGeom prst="rect">
            <a:avLst/>
          </a:prstGeom>
          <a:solidFill>
            <a:srgbClr val="1C2024"/>
          </a:solidFill>
          <a:ln w="12700">
            <a:solidFill>
              <a:srgbClr val="1C2024"/>
            </a:solidFill>
            <a:prstDash val="solid"/>
          </a:ln>
        </p:spPr>
      </p:sp>
      <p:sp>
        <p:nvSpPr>
          <p:cNvPr id="65" name="Shape 62"/>
          <p:cNvSpPr/>
          <p:nvPr/>
        </p:nvSpPr>
        <p:spPr>
          <a:xfrm>
            <a:off x="685800" y="6537046"/>
            <a:ext cx="24725" cy="24725"/>
          </a:xfrm>
          <a:prstGeom prst="rect">
            <a:avLst/>
          </a:prstGeom>
          <a:solidFill>
            <a:srgbClr val="1C2024"/>
          </a:solidFill>
          <a:ln w="12700">
            <a:solidFill>
              <a:srgbClr val="1C2024"/>
            </a:solidFill>
            <a:prstDash val="solid"/>
          </a:ln>
        </p:spPr>
      </p:sp>
      <p:sp>
        <p:nvSpPr>
          <p:cNvPr id="66" name="Shape 63"/>
          <p:cNvSpPr/>
          <p:nvPr/>
        </p:nvSpPr>
        <p:spPr>
          <a:xfrm>
            <a:off x="709574" y="6537046"/>
            <a:ext cx="24725" cy="24725"/>
          </a:xfrm>
          <a:prstGeom prst="rect">
            <a:avLst/>
          </a:prstGeom>
          <a:solidFill>
            <a:srgbClr val="1C2024"/>
          </a:solidFill>
          <a:ln w="12700">
            <a:solidFill>
              <a:srgbClr val="1C2024"/>
            </a:solidFill>
            <a:prstDash val="solid"/>
          </a:ln>
        </p:spPr>
      </p:sp>
      <p:sp>
        <p:nvSpPr>
          <p:cNvPr id="67" name="Shape 64"/>
          <p:cNvSpPr/>
          <p:nvPr/>
        </p:nvSpPr>
        <p:spPr>
          <a:xfrm>
            <a:off x="685800" y="6560820"/>
            <a:ext cx="24725" cy="24725"/>
          </a:xfrm>
          <a:prstGeom prst="rect">
            <a:avLst/>
          </a:prstGeom>
          <a:solidFill>
            <a:srgbClr val="1C2024"/>
          </a:solidFill>
          <a:ln w="12700">
            <a:solidFill>
              <a:srgbClr val="1C2024"/>
            </a:solidFill>
            <a:prstDash val="solid"/>
          </a:ln>
        </p:spPr>
      </p:sp>
      <p:sp>
        <p:nvSpPr>
          <p:cNvPr id="68" name="Text 65"/>
          <p:cNvSpPr/>
          <p:nvPr/>
        </p:nvSpPr>
        <p:spPr>
          <a:xfrm>
            <a:off x="914400" y="6391656"/>
            <a:ext cx="1828800" cy="219456"/>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AIRHOP</a:t>
            </a:r>
            <a:endParaRPr lang="en-US" sz="800" dirty="0"/>
          </a:p>
        </p:txBody>
      </p:sp>
      <p:sp>
        <p:nvSpPr>
          <p:cNvPr id="69" name="Text 66"/>
          <p:cNvSpPr/>
          <p:nvPr/>
        </p:nvSpPr>
        <p:spPr>
          <a:xfrm>
            <a:off x="9795967" y="6391656"/>
            <a:ext cx="1828800" cy="219456"/>
          </a:xfrm>
          <a:prstGeom prst="rect">
            <a:avLst/>
          </a:prstGeom>
          <a:noFill/>
          <a:ln/>
        </p:spPr>
        <p:txBody>
          <a:bodyPr wrap="square" lIns="0" tIns="0" rIns="0" bIns="0" rtlCol="0" anchor="ctr"/>
          <a:lstStyle/>
          <a:p>
            <a:pPr algn="r" indent="0" marL="0">
              <a:buNone/>
            </a:pPr>
            <a:r>
              <a:rPr lang="en-US" sz="800" dirty="0">
                <a:solidFill>
                  <a:srgbClr val="6E7178"/>
                </a:solidFill>
                <a:latin typeface="Consolas" pitchFamily="34" charset="0"/>
                <a:ea typeface="Consolas" pitchFamily="34" charset="-122"/>
                <a:cs typeface="Consolas" pitchFamily="34" charset="-120"/>
              </a:rPr>
              <a:t>08 /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head#598"/>
          <p:cNvSpPr/>
          <p:nvPr/>
        </p:nvSpPr>
        <p:spPr>
          <a:xfrm>
            <a:off x="566928" y="402336"/>
            <a:ext cx="11057839" cy="182880"/>
          </a:xfrm>
          <a:prstGeom prst="rect">
            <a:avLst/>
          </a:prstGeom>
          <a:noFill/>
          <a:ln/>
        </p:spPr>
        <p:txBody>
          <a:bodyPr wrap="square" lIns="0" tIns="0" rIns="0" bIns="0" rtlCol="0" anchor="ctr"/>
          <a:lstStyle/>
          <a:p>
            <a:pPr indent="0" marL="0">
              <a:buNone/>
            </a:pPr>
            <a:r>
              <a:rPr lang="en-US" sz="900" b="1" spc="160" kern="0" dirty="0">
                <a:solidFill>
                  <a:srgbClr val="60646C"/>
                </a:solidFill>
                <a:latin typeface="Consolas" pitchFamily="34" charset="0"/>
                <a:ea typeface="Consolas" pitchFamily="34" charset="-122"/>
                <a:cs typeface="Consolas" pitchFamily="34" charset="-120"/>
              </a:rPr>
              <a:t>MARKET AND MODEL</a:t>
            </a:r>
            <a:endParaRPr lang="en-US" sz="900" dirty="0"/>
          </a:p>
        </p:txBody>
      </p:sp>
      <p:sp>
        <p:nvSpPr>
          <p:cNvPr id="3" name="head#599"/>
          <p:cNvSpPr/>
          <p:nvPr/>
        </p:nvSpPr>
        <p:spPr>
          <a:xfrm>
            <a:off x="566928" y="658368"/>
            <a:ext cx="11057839" cy="872338"/>
          </a:xfrm>
          <a:prstGeom prst="rect">
            <a:avLst/>
          </a:prstGeom>
          <a:noFill/>
          <a:ln/>
        </p:spPr>
        <p:txBody>
          <a:bodyPr wrap="square" lIns="0" tIns="0" rIns="0" bIns="0" rtlCol="0" anchor="t"/>
          <a:lstStyle/>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Sized from events,</a:t>
            </a:r>
            <a:endParaRPr lang="en-US" sz="2700" dirty="0"/>
          </a:p>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not from a percentage.</a:t>
            </a:r>
            <a:endParaRPr lang="en-US" sz="2700" dirty="0"/>
          </a:p>
        </p:txBody>
      </p:sp>
      <p:sp>
        <p:nvSpPr>
          <p:cNvPr id="4" name="head#600"/>
          <p:cNvSpPr/>
          <p:nvPr/>
        </p:nvSpPr>
        <p:spPr>
          <a:xfrm>
            <a:off x="566928" y="1677010"/>
            <a:ext cx="9052560" cy="515112"/>
          </a:xfrm>
          <a:prstGeom prst="rect">
            <a:avLst/>
          </a:prstGeom>
          <a:noFill/>
          <a:ln/>
        </p:spPr>
        <p:txBody>
          <a:bodyPr wrap="square" lIns="0" tIns="0" rIns="0" bIns="0" rtlCol="0" anchor="t"/>
          <a:lstStyle/>
          <a:p>
            <a:pPr indent="0" marL="0">
              <a:lnSpc>
                <a:spcPct val="130000"/>
              </a:lnSpc>
              <a:buNone/>
            </a:pPr>
            <a:r>
              <a:rPr lang="en-US" sz="1300" dirty="0">
                <a:solidFill>
                  <a:srgbClr val="60646C"/>
                </a:solidFill>
                <a:latin typeface="Segoe UI" pitchFamily="34" charset="0"/>
                <a:ea typeface="Segoe UI" pitchFamily="34" charset="-122"/>
                <a:cs typeface="Segoe UI" pitchFamily="34" charset="-120"/>
              </a:rPr>
              <a:t>There is no incumbent revenue here to take a slice of. What there is: a trigger that keeps recurring, a hardware market next door that is already funded, and almost nothing it costs to serve a user.</a:t>
            </a:r>
            <a:endParaRPr lang="en-US" sz="1300" dirty="0"/>
          </a:p>
        </p:txBody>
      </p:sp>
      <p:sp>
        <p:nvSpPr>
          <p:cNvPr id="5" name="tier0#601"/>
          <p:cNvSpPr/>
          <p:nvPr/>
        </p:nvSpPr>
        <p:spPr>
          <a:xfrm>
            <a:off x="566928" y="2286000"/>
            <a:ext cx="6492240" cy="987552"/>
          </a:xfrm>
          <a:prstGeom prst="roundRect">
            <a:avLst>
              <a:gd name="adj" fmla="val 10185"/>
            </a:avLst>
          </a:prstGeom>
          <a:solidFill>
            <a:srgbClr val="FCFCFD"/>
          </a:solidFill>
          <a:ln w="9525">
            <a:solidFill>
              <a:srgbClr val="D9D9E0"/>
            </a:solidFill>
            <a:prstDash val="solid"/>
          </a:ln>
        </p:spPr>
      </p:sp>
      <p:sp>
        <p:nvSpPr>
          <p:cNvPr id="6" name="tier0#602"/>
          <p:cNvSpPr/>
          <p:nvPr/>
        </p:nvSpPr>
        <p:spPr>
          <a:xfrm>
            <a:off x="859536" y="2487168"/>
            <a:ext cx="2194560" cy="219456"/>
          </a:xfrm>
          <a:prstGeom prst="rect">
            <a:avLst/>
          </a:prstGeom>
          <a:noFill/>
          <a:ln/>
        </p:spPr>
        <p:txBody>
          <a:bodyPr wrap="square" lIns="0" tIns="0" rIns="0" bIns="0" rtlCol="0" anchor="ctr"/>
          <a:lstStyle/>
          <a:p>
            <a:pPr indent="0" marL="0">
              <a:buNone/>
            </a:pPr>
            <a:r>
              <a:rPr lang="en-US" sz="800" b="1" spc="130" kern="0" dirty="0">
                <a:solidFill>
                  <a:srgbClr val="6E7178"/>
                </a:solidFill>
                <a:latin typeface="Consolas" pitchFamily="34" charset="0"/>
                <a:ea typeface="Consolas" pitchFamily="34" charset="-122"/>
                <a:cs typeface="Consolas" pitchFamily="34" charset="-120"/>
              </a:rPr>
              <a:t>NEXT DOOR, FUNDED</a:t>
            </a:r>
            <a:endParaRPr lang="en-US" sz="800" dirty="0"/>
          </a:p>
        </p:txBody>
      </p:sp>
      <p:sp>
        <p:nvSpPr>
          <p:cNvPr id="7" name="tier0#603"/>
          <p:cNvSpPr/>
          <p:nvPr/>
        </p:nvSpPr>
        <p:spPr>
          <a:xfrm>
            <a:off x="859536" y="2743200"/>
            <a:ext cx="2194560" cy="384048"/>
          </a:xfrm>
          <a:prstGeom prst="rect">
            <a:avLst/>
          </a:prstGeom>
          <a:noFill/>
          <a:ln/>
        </p:spPr>
        <p:txBody>
          <a:bodyPr wrap="square" lIns="0" tIns="0" rIns="0" bIns="0" rtlCol="0" anchor="ctr"/>
          <a:lstStyle/>
          <a:p>
            <a:pPr indent="0" marL="0">
              <a:buNone/>
            </a:pPr>
            <a:r>
              <a:rPr lang="en-US" sz="2500" b="1" dirty="0">
                <a:solidFill>
                  <a:srgbClr val="1C2024"/>
                </a:solidFill>
                <a:latin typeface="Segoe UI" pitchFamily="34" charset="0"/>
                <a:ea typeface="Segoe UI" pitchFamily="34" charset="-122"/>
                <a:cs typeface="Segoe UI" pitchFamily="34" charset="-120"/>
              </a:rPr>
              <a:t>$11.1B</a:t>
            </a:r>
            <a:endParaRPr lang="en-US" sz="2500" dirty="0"/>
          </a:p>
        </p:txBody>
      </p:sp>
      <p:sp>
        <p:nvSpPr>
          <p:cNvPr id="8" name="tier0#604"/>
          <p:cNvSpPr/>
          <p:nvPr/>
        </p:nvSpPr>
        <p:spPr>
          <a:xfrm>
            <a:off x="3218688" y="2468880"/>
            <a:ext cx="0" cy="621792"/>
          </a:xfrm>
          <a:prstGeom prst="line">
            <a:avLst/>
          </a:prstGeom>
          <a:noFill/>
          <a:ln w="9525">
            <a:solidFill>
              <a:srgbClr val="D9D9E0"/>
            </a:solidFill>
            <a:prstDash val="solid"/>
          </a:ln>
        </p:spPr>
      </p:sp>
      <p:sp>
        <p:nvSpPr>
          <p:cNvPr id="9" name="tier0#605"/>
          <p:cNvSpPr/>
          <p:nvPr/>
        </p:nvSpPr>
        <p:spPr>
          <a:xfrm>
            <a:off x="3456432" y="2505456"/>
            <a:ext cx="3291840" cy="621792"/>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wireless mesh networking in 2026, reaching $27.0B by 2035 at 10.4% a year. Nearly all of it hardware. Airhop is the software half of the same problem.</a:t>
            </a:r>
            <a:endParaRPr lang="en-US" sz="950" dirty="0"/>
          </a:p>
        </p:txBody>
      </p:sp>
      <p:sp>
        <p:nvSpPr>
          <p:cNvPr id="10" name="tier1#606"/>
          <p:cNvSpPr/>
          <p:nvPr/>
        </p:nvSpPr>
        <p:spPr>
          <a:xfrm>
            <a:off x="566928" y="3383280"/>
            <a:ext cx="6492240" cy="987552"/>
          </a:xfrm>
          <a:prstGeom prst="roundRect">
            <a:avLst>
              <a:gd name="adj" fmla="val 10185"/>
            </a:avLst>
          </a:prstGeom>
          <a:solidFill>
            <a:srgbClr val="FCFCFD"/>
          </a:solidFill>
          <a:ln w="9525">
            <a:solidFill>
              <a:srgbClr val="D9D9E0"/>
            </a:solidFill>
            <a:prstDash val="solid"/>
          </a:ln>
        </p:spPr>
      </p:sp>
      <p:sp>
        <p:nvSpPr>
          <p:cNvPr id="11" name="tier1#607"/>
          <p:cNvSpPr/>
          <p:nvPr/>
        </p:nvSpPr>
        <p:spPr>
          <a:xfrm>
            <a:off x="859536" y="3584448"/>
            <a:ext cx="2194560" cy="219456"/>
          </a:xfrm>
          <a:prstGeom prst="rect">
            <a:avLst/>
          </a:prstGeom>
          <a:noFill/>
          <a:ln/>
        </p:spPr>
        <p:txBody>
          <a:bodyPr wrap="square" lIns="0" tIns="0" rIns="0" bIns="0" rtlCol="0" anchor="ctr"/>
          <a:lstStyle/>
          <a:p>
            <a:pPr indent="0" marL="0">
              <a:buNone/>
            </a:pPr>
            <a:r>
              <a:rPr lang="en-US" sz="800" b="1" spc="130" kern="0" dirty="0">
                <a:solidFill>
                  <a:srgbClr val="6E7178"/>
                </a:solidFill>
                <a:latin typeface="Consolas" pitchFamily="34" charset="0"/>
                <a:ea typeface="Consolas" pitchFamily="34" charset="-122"/>
                <a:cs typeface="Consolas" pitchFamily="34" charset="-120"/>
              </a:rPr>
              <a:t>REACHABLE BY AN APP</a:t>
            </a:r>
            <a:endParaRPr lang="en-US" sz="800" dirty="0"/>
          </a:p>
        </p:txBody>
      </p:sp>
      <p:sp>
        <p:nvSpPr>
          <p:cNvPr id="12" name="tier1#608"/>
          <p:cNvSpPr/>
          <p:nvPr/>
        </p:nvSpPr>
        <p:spPr>
          <a:xfrm>
            <a:off x="859536" y="3840480"/>
            <a:ext cx="2194560" cy="384048"/>
          </a:xfrm>
          <a:prstGeom prst="rect">
            <a:avLst/>
          </a:prstGeom>
          <a:noFill/>
          <a:ln/>
        </p:spPr>
        <p:txBody>
          <a:bodyPr wrap="square" lIns="0" tIns="0" rIns="0" bIns="0" rtlCol="0" anchor="ctr"/>
          <a:lstStyle/>
          <a:p>
            <a:pPr indent="0" marL="0">
              <a:buNone/>
            </a:pPr>
            <a:r>
              <a:rPr lang="en-US" sz="2500" b="1" dirty="0">
                <a:solidFill>
                  <a:srgbClr val="1C2024"/>
                </a:solidFill>
                <a:latin typeface="Segoe UI" pitchFamily="34" charset="0"/>
                <a:ea typeface="Segoe UI" pitchFamily="34" charset="-122"/>
                <a:cs typeface="Segoe UI" pitchFamily="34" charset="-120"/>
              </a:rPr>
              <a:t>6.0B</a:t>
            </a:r>
            <a:endParaRPr lang="en-US" sz="2500" dirty="0"/>
          </a:p>
        </p:txBody>
      </p:sp>
      <p:sp>
        <p:nvSpPr>
          <p:cNvPr id="13" name="tier1#609"/>
          <p:cNvSpPr/>
          <p:nvPr/>
        </p:nvSpPr>
        <p:spPr>
          <a:xfrm>
            <a:off x="3218688" y="3566160"/>
            <a:ext cx="0" cy="621792"/>
          </a:xfrm>
          <a:prstGeom prst="line">
            <a:avLst/>
          </a:prstGeom>
          <a:noFill/>
          <a:ln w="9525">
            <a:solidFill>
              <a:srgbClr val="D9D9E0"/>
            </a:solidFill>
            <a:prstDash val="solid"/>
          </a:ln>
        </p:spPr>
      </p:sp>
      <p:sp>
        <p:nvSpPr>
          <p:cNvPr id="14" name="tier1#610"/>
          <p:cNvSpPr/>
          <p:nvPr/>
        </p:nvSpPr>
        <p:spPr>
          <a:xfrm>
            <a:off x="3456432" y="3602736"/>
            <a:ext cx="3291840" cy="621792"/>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people online, each already carrying the radio this needs. Nothing to buy, no plan to change, one install.</a:t>
            </a:r>
            <a:endParaRPr lang="en-US" sz="950" dirty="0"/>
          </a:p>
        </p:txBody>
      </p:sp>
      <p:sp>
        <p:nvSpPr>
          <p:cNvPr id="15" name="tier2#611"/>
          <p:cNvSpPr/>
          <p:nvPr/>
        </p:nvSpPr>
        <p:spPr>
          <a:xfrm>
            <a:off x="566928" y="4480560"/>
            <a:ext cx="6492240" cy="987552"/>
          </a:xfrm>
          <a:prstGeom prst="roundRect">
            <a:avLst>
              <a:gd name="adj" fmla="val 10185"/>
            </a:avLst>
          </a:prstGeom>
          <a:solidFill>
            <a:srgbClr val="FCFCFD"/>
          </a:solidFill>
          <a:ln w="9525">
            <a:solidFill>
              <a:srgbClr val="D9D9E0"/>
            </a:solidFill>
            <a:prstDash val="solid"/>
          </a:ln>
        </p:spPr>
      </p:sp>
      <p:sp>
        <p:nvSpPr>
          <p:cNvPr id="16" name="tier2#612"/>
          <p:cNvSpPr/>
          <p:nvPr/>
        </p:nvSpPr>
        <p:spPr>
          <a:xfrm>
            <a:off x="859536" y="4681728"/>
            <a:ext cx="2194560" cy="219456"/>
          </a:xfrm>
          <a:prstGeom prst="rect">
            <a:avLst/>
          </a:prstGeom>
          <a:noFill/>
          <a:ln/>
        </p:spPr>
        <p:txBody>
          <a:bodyPr wrap="square" lIns="0" tIns="0" rIns="0" bIns="0" rtlCol="0" anchor="ctr"/>
          <a:lstStyle/>
          <a:p>
            <a:pPr indent="0" marL="0">
              <a:buNone/>
            </a:pPr>
            <a:r>
              <a:rPr lang="en-US" sz="800" b="1" spc="130" kern="0" dirty="0">
                <a:solidFill>
                  <a:srgbClr val="6E7178"/>
                </a:solidFill>
                <a:latin typeface="Consolas" pitchFamily="34" charset="0"/>
                <a:ea typeface="Consolas" pitchFamily="34" charset="-122"/>
                <a:cs typeface="Consolas" pitchFamily="34" charset="-120"/>
              </a:rPr>
              <a:t>TRIGGER, MEASURED</a:t>
            </a:r>
            <a:endParaRPr lang="en-US" sz="800" dirty="0"/>
          </a:p>
        </p:txBody>
      </p:sp>
      <p:sp>
        <p:nvSpPr>
          <p:cNvPr id="17" name="tier2#613"/>
          <p:cNvSpPr/>
          <p:nvPr/>
        </p:nvSpPr>
        <p:spPr>
          <a:xfrm>
            <a:off x="859536" y="4937760"/>
            <a:ext cx="2194560" cy="384048"/>
          </a:xfrm>
          <a:prstGeom prst="rect">
            <a:avLst/>
          </a:prstGeom>
          <a:noFill/>
          <a:ln/>
        </p:spPr>
        <p:txBody>
          <a:bodyPr wrap="square" lIns="0" tIns="0" rIns="0" bIns="0" rtlCol="0" anchor="ctr"/>
          <a:lstStyle/>
          <a:p>
            <a:pPr indent="0" marL="0">
              <a:buNone/>
            </a:pPr>
            <a:r>
              <a:rPr lang="en-US" sz="2500" b="1" dirty="0">
                <a:solidFill>
                  <a:srgbClr val="1C2024"/>
                </a:solidFill>
                <a:latin typeface="Segoe UI" pitchFamily="34" charset="0"/>
                <a:ea typeface="Segoe UI" pitchFamily="34" charset="-122"/>
                <a:cs typeface="Segoe UI" pitchFamily="34" charset="-120"/>
              </a:rPr>
              <a:t>313</a:t>
            </a:r>
            <a:endParaRPr lang="en-US" sz="2500" dirty="0"/>
          </a:p>
        </p:txBody>
      </p:sp>
      <p:sp>
        <p:nvSpPr>
          <p:cNvPr id="18" name="tier2#614"/>
          <p:cNvSpPr/>
          <p:nvPr/>
        </p:nvSpPr>
        <p:spPr>
          <a:xfrm>
            <a:off x="3218688" y="4663440"/>
            <a:ext cx="0" cy="621792"/>
          </a:xfrm>
          <a:prstGeom prst="line">
            <a:avLst/>
          </a:prstGeom>
          <a:noFill/>
          <a:ln w="9525">
            <a:solidFill>
              <a:srgbClr val="D9D9E0"/>
            </a:solidFill>
            <a:prstDash val="solid"/>
          </a:ln>
        </p:spPr>
      </p:sp>
      <p:sp>
        <p:nvSpPr>
          <p:cNvPr id="19" name="tier2#615"/>
          <p:cNvSpPr/>
          <p:nvPr/>
        </p:nvSpPr>
        <p:spPr>
          <a:xfrm>
            <a:off x="3456432" y="4700016"/>
            <a:ext cx="3291840" cy="621792"/>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shutdowns across 52 countries in 2025, before counting disasters, crowds and dead zones where the same thing happens with nobody ordering it.</a:t>
            </a:r>
            <a:endParaRPr lang="en-US" sz="950" dirty="0"/>
          </a:p>
        </p:txBody>
      </p:sp>
      <p:sp>
        <p:nvSpPr>
          <p:cNvPr id="20" name="model#616"/>
          <p:cNvSpPr/>
          <p:nvPr/>
        </p:nvSpPr>
        <p:spPr>
          <a:xfrm>
            <a:off x="7278624" y="2286000"/>
            <a:ext cx="4346143" cy="3182112"/>
          </a:xfrm>
          <a:prstGeom prst="roundRect">
            <a:avLst>
              <a:gd name="adj" fmla="val 3161"/>
            </a:avLst>
          </a:prstGeom>
          <a:solidFill>
            <a:srgbClr val="FCFCFD"/>
          </a:solidFill>
          <a:ln w="9525">
            <a:solidFill>
              <a:srgbClr val="D9D9E0"/>
            </a:solidFill>
            <a:prstDash val="solid"/>
          </a:ln>
        </p:spPr>
      </p:sp>
      <p:sp>
        <p:nvSpPr>
          <p:cNvPr id="21" name="model#617"/>
          <p:cNvSpPr/>
          <p:nvPr/>
        </p:nvSpPr>
        <p:spPr>
          <a:xfrm>
            <a:off x="7516368" y="2377440"/>
            <a:ext cx="3870655" cy="256032"/>
          </a:xfrm>
          <a:prstGeom prst="rect">
            <a:avLst/>
          </a:prstGeom>
          <a:noFill/>
          <a:ln/>
        </p:spPr>
        <p:txBody>
          <a:bodyPr wrap="square" lIns="0" tIns="0" rIns="0" bIns="0" rtlCol="0" anchor="ctr"/>
          <a:lstStyle/>
          <a:p>
            <a:pPr indent="0" marL="0">
              <a:buNone/>
            </a:pPr>
            <a:r>
              <a:rPr lang="en-US" sz="800" b="1" spc="130" kern="0" dirty="0">
                <a:solidFill>
                  <a:srgbClr val="60646C"/>
                </a:solidFill>
                <a:latin typeface="Consolas" pitchFamily="34" charset="0"/>
                <a:ea typeface="Consolas" pitchFamily="34" charset="-122"/>
                <a:cs typeface="Consolas" pitchFamily="34" charset="-120"/>
              </a:rPr>
              <a:t>●  HOW IT PAYS FOR ITSELF</a:t>
            </a:r>
            <a:endParaRPr lang="en-US" sz="800" dirty="0"/>
          </a:p>
        </p:txBody>
      </p:sp>
      <p:sp>
        <p:nvSpPr>
          <p:cNvPr id="22" name="model#618"/>
          <p:cNvSpPr/>
          <p:nvPr/>
        </p:nvSpPr>
        <p:spPr>
          <a:xfrm>
            <a:off x="7424928" y="2706624"/>
            <a:ext cx="4053535" cy="0"/>
          </a:xfrm>
          <a:prstGeom prst="line">
            <a:avLst/>
          </a:prstGeom>
          <a:noFill/>
          <a:ln w="9525">
            <a:solidFill>
              <a:srgbClr val="D9D9E0"/>
            </a:solidFill>
            <a:prstDash val="solid"/>
          </a:ln>
        </p:spPr>
      </p:sp>
      <p:sp>
        <p:nvSpPr>
          <p:cNvPr id="23" name="model#619"/>
          <p:cNvSpPr/>
          <p:nvPr/>
        </p:nvSpPr>
        <p:spPr>
          <a:xfrm>
            <a:off x="7571232" y="2852928"/>
            <a:ext cx="2974543" cy="237744"/>
          </a:xfrm>
          <a:prstGeom prst="rect">
            <a:avLst/>
          </a:prstGeom>
          <a:noFill/>
          <a:ln/>
        </p:spPr>
        <p:txBody>
          <a:bodyPr wrap="square" lIns="0" tIns="0" rIns="0" bIns="0" rtlCol="0" anchor="ctr"/>
          <a:lstStyle/>
          <a:p>
            <a:pPr indent="0" marL="0">
              <a:buNone/>
            </a:pPr>
            <a:r>
              <a:rPr lang="en-US" sz="950" b="1" dirty="0">
                <a:solidFill>
                  <a:srgbClr val="1C2024"/>
                </a:solidFill>
                <a:latin typeface="Segoe UI" pitchFamily="34" charset="0"/>
                <a:ea typeface="Segoe UI" pitchFamily="34" charset="-122"/>
                <a:cs typeface="Segoe UI" pitchFamily="34" charset="-120"/>
              </a:rPr>
              <a:t>SDK and custom builds</a:t>
            </a:r>
            <a:endParaRPr lang="en-US" sz="950" dirty="0"/>
          </a:p>
        </p:txBody>
      </p:sp>
      <p:sp>
        <p:nvSpPr>
          <p:cNvPr id="24" name="model#620"/>
          <p:cNvSpPr/>
          <p:nvPr/>
        </p:nvSpPr>
        <p:spPr>
          <a:xfrm>
            <a:off x="10655503" y="2862072"/>
            <a:ext cx="676656" cy="237744"/>
          </a:xfrm>
          <a:prstGeom prst="roundRect">
            <a:avLst>
              <a:gd name="adj" fmla="val 50000"/>
            </a:avLst>
          </a:prstGeom>
          <a:solidFill>
            <a:srgbClr val="F0F0F3"/>
          </a:solidFill>
          <a:ln w="9525">
            <a:solidFill>
              <a:srgbClr val="D9D9E0"/>
            </a:solidFill>
            <a:prstDash val="solid"/>
          </a:ln>
        </p:spPr>
      </p:sp>
      <p:sp>
        <p:nvSpPr>
          <p:cNvPr id="25" name="model#621"/>
          <p:cNvSpPr/>
          <p:nvPr/>
        </p:nvSpPr>
        <p:spPr>
          <a:xfrm>
            <a:off x="10655503" y="2862072"/>
            <a:ext cx="676656"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V1.8.0</a:t>
            </a:r>
            <a:endParaRPr lang="en-US" sz="800" dirty="0"/>
          </a:p>
        </p:txBody>
      </p:sp>
      <p:sp>
        <p:nvSpPr>
          <p:cNvPr id="26" name="model#622"/>
          <p:cNvSpPr/>
          <p:nvPr/>
        </p:nvSpPr>
        <p:spPr>
          <a:xfrm>
            <a:off x="7571232" y="3108960"/>
            <a:ext cx="3760927" cy="384048"/>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@airhop/core on npm, PyPI and crates.io, plus paid builds for groups that need their own profile</a:t>
            </a:r>
            <a:endParaRPr lang="en-US" sz="950" dirty="0"/>
          </a:p>
        </p:txBody>
      </p:sp>
      <p:sp>
        <p:nvSpPr>
          <p:cNvPr id="27" name="model#623"/>
          <p:cNvSpPr/>
          <p:nvPr/>
        </p:nvSpPr>
        <p:spPr>
          <a:xfrm>
            <a:off x="7571232" y="3474720"/>
            <a:ext cx="3760927" cy="0"/>
          </a:xfrm>
          <a:prstGeom prst="line">
            <a:avLst/>
          </a:prstGeom>
          <a:noFill/>
          <a:ln w="9525">
            <a:solidFill>
              <a:srgbClr val="D9D9E0"/>
            </a:solidFill>
            <a:prstDash val="solid"/>
          </a:ln>
        </p:spPr>
      </p:sp>
      <p:sp>
        <p:nvSpPr>
          <p:cNvPr id="28" name="model#624"/>
          <p:cNvSpPr/>
          <p:nvPr/>
        </p:nvSpPr>
        <p:spPr>
          <a:xfrm>
            <a:off x="7571232" y="3566160"/>
            <a:ext cx="2974543" cy="237744"/>
          </a:xfrm>
          <a:prstGeom prst="rect">
            <a:avLst/>
          </a:prstGeom>
          <a:noFill/>
          <a:ln/>
        </p:spPr>
        <p:txBody>
          <a:bodyPr wrap="square" lIns="0" tIns="0" rIns="0" bIns="0" rtlCol="0" anchor="ctr"/>
          <a:lstStyle/>
          <a:p>
            <a:pPr indent="0" marL="0">
              <a:buNone/>
            </a:pPr>
            <a:r>
              <a:rPr lang="en-US" sz="950" b="1" dirty="0">
                <a:solidFill>
                  <a:srgbClr val="1C2024"/>
                </a:solidFill>
                <a:latin typeface="Segoe UI" pitchFamily="34" charset="0"/>
                <a:ea typeface="Segoe UI" pitchFamily="34" charset="-122"/>
                <a:cs typeface="Segoe UI" pitchFamily="34" charset="-120"/>
              </a:rPr>
              <a:t>Resilience deployments</a:t>
            </a:r>
            <a:endParaRPr lang="en-US" sz="950" dirty="0"/>
          </a:p>
        </p:txBody>
      </p:sp>
      <p:sp>
        <p:nvSpPr>
          <p:cNvPr id="29" name="model#625"/>
          <p:cNvSpPr/>
          <p:nvPr/>
        </p:nvSpPr>
        <p:spPr>
          <a:xfrm>
            <a:off x="10655503" y="3575304"/>
            <a:ext cx="676656" cy="237744"/>
          </a:xfrm>
          <a:prstGeom prst="roundRect">
            <a:avLst>
              <a:gd name="adj" fmla="val 50000"/>
            </a:avLst>
          </a:prstGeom>
          <a:solidFill>
            <a:srgbClr val="F0F0F3"/>
          </a:solidFill>
          <a:ln w="9525">
            <a:solidFill>
              <a:srgbClr val="D9D9E0"/>
            </a:solidFill>
            <a:prstDash val="solid"/>
          </a:ln>
        </p:spPr>
      </p:sp>
      <p:sp>
        <p:nvSpPr>
          <p:cNvPr id="30" name="model#626"/>
          <p:cNvSpPr/>
          <p:nvPr/>
        </p:nvSpPr>
        <p:spPr>
          <a:xfrm>
            <a:off x="10655503" y="3575304"/>
            <a:ext cx="676656"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PILOT</a:t>
            </a:r>
            <a:endParaRPr lang="en-US" sz="800" dirty="0"/>
          </a:p>
        </p:txBody>
      </p:sp>
      <p:sp>
        <p:nvSpPr>
          <p:cNvPr id="31" name="model#627"/>
          <p:cNvSpPr/>
          <p:nvPr/>
        </p:nvSpPr>
        <p:spPr>
          <a:xfrm>
            <a:off x="7571232" y="3822192"/>
            <a:ext cx="3760927" cy="384048"/>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Response teams and municipalities, supported and configured rather than sold a licence</a:t>
            </a:r>
            <a:endParaRPr lang="en-US" sz="950" dirty="0"/>
          </a:p>
        </p:txBody>
      </p:sp>
      <p:sp>
        <p:nvSpPr>
          <p:cNvPr id="32" name="model#628"/>
          <p:cNvSpPr/>
          <p:nvPr/>
        </p:nvSpPr>
        <p:spPr>
          <a:xfrm>
            <a:off x="7571232" y="4187952"/>
            <a:ext cx="3760927" cy="0"/>
          </a:xfrm>
          <a:prstGeom prst="line">
            <a:avLst/>
          </a:prstGeom>
          <a:noFill/>
          <a:ln w="9525">
            <a:solidFill>
              <a:srgbClr val="D9D9E0"/>
            </a:solidFill>
            <a:prstDash val="solid"/>
          </a:ln>
        </p:spPr>
      </p:sp>
      <p:sp>
        <p:nvSpPr>
          <p:cNvPr id="33" name="model#629"/>
          <p:cNvSpPr/>
          <p:nvPr/>
        </p:nvSpPr>
        <p:spPr>
          <a:xfrm>
            <a:off x="7571232" y="4279392"/>
            <a:ext cx="2974543" cy="237744"/>
          </a:xfrm>
          <a:prstGeom prst="rect">
            <a:avLst/>
          </a:prstGeom>
          <a:noFill/>
          <a:ln/>
        </p:spPr>
        <p:txBody>
          <a:bodyPr wrap="square" lIns="0" tIns="0" rIns="0" bIns="0" rtlCol="0" anchor="ctr"/>
          <a:lstStyle/>
          <a:p>
            <a:pPr indent="0" marL="0">
              <a:buNone/>
            </a:pPr>
            <a:r>
              <a:rPr lang="en-US" sz="950" b="1" dirty="0">
                <a:solidFill>
                  <a:srgbClr val="1C2024"/>
                </a:solidFill>
                <a:latin typeface="Segoe UI" pitchFamily="34" charset="0"/>
                <a:ea typeface="Segoe UI" pitchFamily="34" charset="-122"/>
                <a:cs typeface="Segoe UI" pitchFamily="34" charset="-120"/>
              </a:rPr>
              <a:t>Sponsorship and grants</a:t>
            </a:r>
            <a:endParaRPr lang="en-US" sz="950" dirty="0"/>
          </a:p>
        </p:txBody>
      </p:sp>
      <p:sp>
        <p:nvSpPr>
          <p:cNvPr id="34" name="model#630"/>
          <p:cNvSpPr/>
          <p:nvPr/>
        </p:nvSpPr>
        <p:spPr>
          <a:xfrm>
            <a:off x="10655503" y="4288536"/>
            <a:ext cx="676656" cy="237744"/>
          </a:xfrm>
          <a:prstGeom prst="roundRect">
            <a:avLst>
              <a:gd name="adj" fmla="val 50000"/>
            </a:avLst>
          </a:prstGeom>
          <a:solidFill>
            <a:srgbClr val="F0F0F3"/>
          </a:solidFill>
          <a:ln w="9525">
            <a:solidFill>
              <a:srgbClr val="D9D9E0"/>
            </a:solidFill>
            <a:prstDash val="solid"/>
          </a:ln>
        </p:spPr>
      </p:sp>
      <p:sp>
        <p:nvSpPr>
          <p:cNvPr id="35" name="model#631"/>
          <p:cNvSpPr/>
          <p:nvPr/>
        </p:nvSpPr>
        <p:spPr>
          <a:xfrm>
            <a:off x="10655503" y="4288536"/>
            <a:ext cx="676656"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NOW</a:t>
            </a:r>
            <a:endParaRPr lang="en-US" sz="800" dirty="0"/>
          </a:p>
        </p:txBody>
      </p:sp>
      <p:sp>
        <p:nvSpPr>
          <p:cNvPr id="36" name="model#632"/>
          <p:cNvSpPr/>
          <p:nvPr/>
        </p:nvSpPr>
        <p:spPr>
          <a:xfrm>
            <a:off x="7571232" y="4535424"/>
            <a:ext cx="3760927" cy="384048"/>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Digital rights and press freedom funders already pay for work in this space</a:t>
            </a:r>
            <a:endParaRPr lang="en-US" sz="950" dirty="0"/>
          </a:p>
        </p:txBody>
      </p:sp>
      <p:sp>
        <p:nvSpPr>
          <p:cNvPr id="37" name="model#633"/>
          <p:cNvSpPr/>
          <p:nvPr/>
        </p:nvSpPr>
        <p:spPr>
          <a:xfrm>
            <a:off x="7571232" y="4901184"/>
            <a:ext cx="3760927" cy="0"/>
          </a:xfrm>
          <a:prstGeom prst="line">
            <a:avLst/>
          </a:prstGeom>
          <a:noFill/>
          <a:ln w="9525">
            <a:solidFill>
              <a:srgbClr val="D9D9E0"/>
            </a:solidFill>
            <a:prstDash val="solid"/>
          </a:ln>
        </p:spPr>
      </p:sp>
      <p:sp>
        <p:nvSpPr>
          <p:cNvPr id="38" name="model#634"/>
          <p:cNvSpPr/>
          <p:nvPr/>
        </p:nvSpPr>
        <p:spPr>
          <a:xfrm>
            <a:off x="7571232" y="4992624"/>
            <a:ext cx="3760927" cy="402336"/>
          </a:xfrm>
          <a:prstGeom prst="rect">
            <a:avLst/>
          </a:prstGeom>
          <a:noFill/>
          <a:ln/>
        </p:spPr>
        <p:txBody>
          <a:bodyPr wrap="square" lIns="0" tIns="0" rIns="0" bIns="0" rtlCol="0" anchor="t"/>
          <a:lstStyle/>
          <a:p>
            <a:pPr indent="0" marL="0">
              <a:lnSpc>
                <a:spcPct val="134000"/>
              </a:lnSpc>
              <a:buNone/>
            </a:pPr>
            <a:r>
              <a:rPr lang="en-US" sz="950" dirty="0">
                <a:solidFill>
                  <a:srgbClr val="1C2024"/>
                </a:solidFill>
                <a:latin typeface="Segoe UI" pitchFamily="34" charset="0"/>
                <a:ea typeface="Segoe UI" pitchFamily="34" charset="-122"/>
                <a:cs typeface="Segoe UI" pitchFamily="34" charset="-120"/>
              </a:rPr>
              <a:t>No ads, no data to sell, no KYC, no telemetry. There is no infrastructure bill either, so one user and a million cost the same to serve.</a:t>
            </a:r>
            <a:endParaRPr lang="en-US" sz="950" dirty="0"/>
          </a:p>
        </p:txBody>
      </p:sp>
      <p:sp>
        <p:nvSpPr>
          <p:cNvPr id="39" name="kicker#635"/>
          <p:cNvSpPr/>
          <p:nvPr/>
        </p:nvSpPr>
        <p:spPr>
          <a:xfrm>
            <a:off x="566928" y="5650992"/>
            <a:ext cx="11057839" cy="274320"/>
          </a:xfrm>
          <a:prstGeom prst="rect">
            <a:avLst/>
          </a:prstGeom>
          <a:noFill/>
          <a:ln/>
        </p:spPr>
        <p:txBody>
          <a:bodyPr wrap="square" lIns="0" tIns="0" rIns="0" bIns="0" rtlCol="0" anchor="t"/>
          <a:lstStyle/>
          <a:p>
            <a:pPr indent="0" marL="0">
              <a:lnSpc>
                <a:spcPct val="134000"/>
              </a:lnSpc>
              <a:buNone/>
            </a:pPr>
            <a:r>
              <a:rPr lang="en-US" sz="950" dirty="0">
                <a:solidFill>
                  <a:srgbClr val="1C2024"/>
                </a:solidFill>
                <a:latin typeface="Segoe UI" pitchFamily="34" charset="0"/>
                <a:ea typeface="Segoe UI" pitchFamily="34" charset="-122"/>
                <a:cs typeface="Segoe UI" pitchFamily="34" charset="-120"/>
              </a:rPr>
              <a:t>The straight answer: nobody is paying $50 a year for this. The value sits in the protocol layer, and in being the app already on the phone when the network drops.</a:t>
            </a:r>
            <a:endParaRPr lang="en-US" sz="950" dirty="0"/>
          </a:p>
        </p:txBody>
      </p:sp>
      <p:sp>
        <p:nvSpPr>
          <p:cNvPr id="40" name="src#636"/>
          <p:cNvSpPr/>
          <p:nvPr/>
        </p:nvSpPr>
        <p:spPr>
          <a:xfrm>
            <a:off x="566928" y="5961888"/>
            <a:ext cx="11057839" cy="182880"/>
          </a:xfrm>
          <a:prstGeom prst="rect">
            <a:avLst/>
          </a:prstGeom>
          <a:noFill/>
          <a:ln/>
        </p:spPr>
        <p:txBody>
          <a:bodyPr wrap="square" lIns="0" tIns="0" rIns="0" bIns="0" rtlCol="0" anchor="ctr"/>
          <a:lstStyle/>
          <a:p>
            <a:pPr indent="0" marL="0">
              <a:buNone/>
            </a:pPr>
            <a:r>
              <a:rPr lang="en-US" sz="800" dirty="0">
                <a:solidFill>
                  <a:srgbClr val="6E7178"/>
                </a:solidFill>
                <a:latin typeface="Consolas" pitchFamily="34" charset="0"/>
                <a:ea typeface="Consolas" pitchFamily="34" charset="-122"/>
                <a:cs typeface="Consolas" pitchFamily="34" charset="-120"/>
              </a:rPr>
              <a:t>Source:  </a:t>
            </a:r>
            <a:pPr indent="0" marL="0">
              <a:buNone/>
            </a:pPr>
            <a:r>
              <a:rPr lang="en-US" sz="800" u="sng" dirty="0">
                <a:solidFill>
                  <a:srgbClr val="6E7178"/>
                </a:solidFill>
                <a:latin typeface="Consolas" pitchFamily="34" charset="0"/>
                <a:ea typeface="Consolas" pitchFamily="34" charset="-122"/>
                <a:cs typeface="Consolas" pitchFamily="34" charset="-120"/>
                <a:hlinkClick r:id="rId1" invalidUrl="" action="" tgtFrame="" tooltip="Research Nester, wireless mesh market" history="1" highlightClick="0" endSnd="0">
                  <a:extLst>
                    <a:ext uri="{A12FA001-AC4F-418D-AE19-62706E023703}">
                      <ahyp:hlinkClr xmlns:ahyp="http://schemas.microsoft.com/office/drawing/2018/hyperlinkcolor" val="tx"/>
                    </a:ext>
                  </a:extLst>
                </a:hlinkClick>
              </a:rPr>
              <a:t>Research Nester, wireless mesh market</a:t>
            </a:r>
            <a:pPr indent="0" marL="0">
              <a:buNone/>
            </a:pPr>
            <a:r>
              <a:rPr lang="en-US" sz="800" dirty="0">
                <a:solidFill>
                  <a:srgbClr val="D9D9E0"/>
                </a:solidFill>
                <a:latin typeface="Consolas" pitchFamily="34" charset="0"/>
                <a:ea typeface="Consolas" pitchFamily="34" charset="-122"/>
                <a:cs typeface="Consolas" pitchFamily="34" charset="-120"/>
              </a:rPr>
              <a:t>   ·   </a:t>
            </a:r>
            <a:pPr indent="0" marL="0">
              <a:buNone/>
            </a:pPr>
            <a:r>
              <a:rPr lang="en-US" sz="800" u="sng" dirty="0">
                <a:solidFill>
                  <a:srgbClr val="6E7178"/>
                </a:solidFill>
                <a:latin typeface="Consolas" pitchFamily="34" charset="0"/>
                <a:ea typeface="Consolas" pitchFamily="34" charset="-122"/>
                <a:cs typeface="Consolas" pitchFamily="34" charset="-120"/>
                <a:hlinkClick r:id="rId2" invalidUrl="" action="" tgtFrame="" tooltip="ITU, Facts and Figures 2025" history="1" highlightClick="0" endSnd="0">
                  <a:extLst>
                    <a:ext uri="{A12FA001-AC4F-418D-AE19-62706E023703}">
                      <ahyp:hlinkClr xmlns:ahyp="http://schemas.microsoft.com/office/drawing/2018/hyperlinkcolor" val="tx"/>
                    </a:ext>
                  </a:extLst>
                </a:hlinkClick>
              </a:rPr>
              <a:t>ITU, Facts and Figures 2025</a:t>
            </a:r>
            <a:pPr indent="0" marL="0">
              <a:buNone/>
            </a:pPr>
            <a:r>
              <a:rPr lang="en-US" sz="800" dirty="0">
                <a:solidFill>
                  <a:srgbClr val="D9D9E0"/>
                </a:solidFill>
                <a:latin typeface="Consolas" pitchFamily="34" charset="0"/>
                <a:ea typeface="Consolas" pitchFamily="34" charset="-122"/>
                <a:cs typeface="Consolas" pitchFamily="34" charset="-120"/>
              </a:rPr>
              <a:t>   ·   </a:t>
            </a:r>
            <a:pPr indent="0" marL="0">
              <a:buNone/>
            </a:pPr>
            <a:r>
              <a:rPr lang="en-US" sz="800" u="sng" dirty="0">
                <a:solidFill>
                  <a:srgbClr val="6E7178"/>
                </a:solidFill>
                <a:latin typeface="Consolas" pitchFamily="34" charset="0"/>
                <a:ea typeface="Consolas" pitchFamily="34" charset="-122"/>
                <a:cs typeface="Consolas" pitchFamily="34" charset="-120"/>
                <a:hlinkClick r:id="rId3" invalidUrl="" action="" tgtFrame="" tooltip="Access Now, Internet Shutdowns in 2025" history="1" highlightClick="0" endSnd="0">
                  <a:extLst>
                    <a:ext uri="{A12FA001-AC4F-418D-AE19-62706E023703}">
                      <ahyp:hlinkClr xmlns:ahyp="http://schemas.microsoft.com/office/drawing/2018/hyperlinkcolor" val="tx"/>
                    </a:ext>
                  </a:extLst>
                </a:hlinkClick>
              </a:rPr>
              <a:t>Access Now, Internet Shutdowns in 2025</a:t>
            </a:r>
            <a:endParaRPr lang="en-US" sz="800" dirty="0"/>
          </a:p>
        </p:txBody>
      </p:sp>
      <p:sp>
        <p:nvSpPr>
          <p:cNvPr id="42" name="Shape 39"/>
          <p:cNvSpPr/>
          <p:nvPr/>
        </p:nvSpPr>
        <p:spPr>
          <a:xfrm>
            <a:off x="566928" y="6327648"/>
            <a:ext cx="11057839" cy="0"/>
          </a:xfrm>
          <a:prstGeom prst="line">
            <a:avLst/>
          </a:prstGeom>
          <a:noFill/>
          <a:ln w="9525">
            <a:solidFill>
              <a:srgbClr val="D9D9E0"/>
            </a:solidFill>
            <a:prstDash val="solid"/>
          </a:ln>
        </p:spPr>
      </p:sp>
      <p:sp>
        <p:nvSpPr>
          <p:cNvPr id="43" name="Shape 40"/>
          <p:cNvSpPr/>
          <p:nvPr/>
        </p:nvSpPr>
        <p:spPr>
          <a:xfrm>
            <a:off x="566928" y="6441948"/>
            <a:ext cx="24725" cy="24725"/>
          </a:xfrm>
          <a:prstGeom prst="rect">
            <a:avLst/>
          </a:prstGeom>
          <a:solidFill>
            <a:srgbClr val="1C2024"/>
          </a:solidFill>
          <a:ln w="12700">
            <a:solidFill>
              <a:srgbClr val="1C2024"/>
            </a:solidFill>
            <a:prstDash val="solid"/>
          </a:ln>
        </p:spPr>
      </p:sp>
      <p:sp>
        <p:nvSpPr>
          <p:cNvPr id="44" name="Shape 41"/>
          <p:cNvSpPr/>
          <p:nvPr/>
        </p:nvSpPr>
        <p:spPr>
          <a:xfrm>
            <a:off x="590702" y="6441948"/>
            <a:ext cx="24725" cy="24725"/>
          </a:xfrm>
          <a:prstGeom prst="rect">
            <a:avLst/>
          </a:prstGeom>
          <a:solidFill>
            <a:srgbClr val="1C2024"/>
          </a:solidFill>
          <a:ln w="12700">
            <a:solidFill>
              <a:srgbClr val="1C2024"/>
            </a:solidFill>
            <a:prstDash val="solid"/>
          </a:ln>
        </p:spPr>
      </p:sp>
      <p:sp>
        <p:nvSpPr>
          <p:cNvPr id="45" name="Shape 42"/>
          <p:cNvSpPr/>
          <p:nvPr/>
        </p:nvSpPr>
        <p:spPr>
          <a:xfrm>
            <a:off x="780898" y="6441948"/>
            <a:ext cx="24725" cy="24725"/>
          </a:xfrm>
          <a:prstGeom prst="rect">
            <a:avLst/>
          </a:prstGeom>
          <a:solidFill>
            <a:srgbClr val="1C2024"/>
          </a:solidFill>
          <a:ln w="12700">
            <a:solidFill>
              <a:srgbClr val="1C2024"/>
            </a:solidFill>
            <a:prstDash val="solid"/>
          </a:ln>
        </p:spPr>
      </p:sp>
      <p:sp>
        <p:nvSpPr>
          <p:cNvPr id="46" name="Shape 43"/>
          <p:cNvSpPr/>
          <p:nvPr/>
        </p:nvSpPr>
        <p:spPr>
          <a:xfrm>
            <a:off x="804672" y="6441948"/>
            <a:ext cx="24725" cy="24725"/>
          </a:xfrm>
          <a:prstGeom prst="rect">
            <a:avLst/>
          </a:prstGeom>
          <a:solidFill>
            <a:srgbClr val="1C2024"/>
          </a:solidFill>
          <a:ln w="12700">
            <a:solidFill>
              <a:srgbClr val="1C2024"/>
            </a:solidFill>
            <a:prstDash val="solid"/>
          </a:ln>
        </p:spPr>
      </p:sp>
      <p:sp>
        <p:nvSpPr>
          <p:cNvPr id="47" name="Shape 44"/>
          <p:cNvSpPr/>
          <p:nvPr/>
        </p:nvSpPr>
        <p:spPr>
          <a:xfrm>
            <a:off x="590702" y="6465722"/>
            <a:ext cx="24725" cy="24725"/>
          </a:xfrm>
          <a:prstGeom prst="rect">
            <a:avLst/>
          </a:prstGeom>
          <a:solidFill>
            <a:srgbClr val="1C2024"/>
          </a:solidFill>
          <a:ln w="12700">
            <a:solidFill>
              <a:srgbClr val="1C2024"/>
            </a:solidFill>
            <a:prstDash val="solid"/>
          </a:ln>
        </p:spPr>
      </p:sp>
      <p:sp>
        <p:nvSpPr>
          <p:cNvPr id="48" name="Shape 45"/>
          <p:cNvSpPr/>
          <p:nvPr/>
        </p:nvSpPr>
        <p:spPr>
          <a:xfrm>
            <a:off x="614477" y="6465722"/>
            <a:ext cx="24725" cy="24725"/>
          </a:xfrm>
          <a:prstGeom prst="rect">
            <a:avLst/>
          </a:prstGeom>
          <a:solidFill>
            <a:srgbClr val="1C2024"/>
          </a:solidFill>
          <a:ln w="12700">
            <a:solidFill>
              <a:srgbClr val="1C2024"/>
            </a:solidFill>
            <a:prstDash val="solid"/>
          </a:ln>
        </p:spPr>
      </p:sp>
      <p:sp>
        <p:nvSpPr>
          <p:cNvPr id="49" name="Shape 46"/>
          <p:cNvSpPr/>
          <p:nvPr/>
        </p:nvSpPr>
        <p:spPr>
          <a:xfrm>
            <a:off x="757123" y="6465722"/>
            <a:ext cx="24725" cy="24725"/>
          </a:xfrm>
          <a:prstGeom prst="rect">
            <a:avLst/>
          </a:prstGeom>
          <a:solidFill>
            <a:srgbClr val="1C2024"/>
          </a:solidFill>
          <a:ln w="12700">
            <a:solidFill>
              <a:srgbClr val="1C2024"/>
            </a:solidFill>
            <a:prstDash val="solid"/>
          </a:ln>
        </p:spPr>
      </p:sp>
      <p:sp>
        <p:nvSpPr>
          <p:cNvPr id="50" name="Shape 47"/>
          <p:cNvSpPr/>
          <p:nvPr/>
        </p:nvSpPr>
        <p:spPr>
          <a:xfrm>
            <a:off x="780898" y="6465722"/>
            <a:ext cx="24725" cy="24725"/>
          </a:xfrm>
          <a:prstGeom prst="rect">
            <a:avLst/>
          </a:prstGeom>
          <a:solidFill>
            <a:srgbClr val="1C2024"/>
          </a:solidFill>
          <a:ln w="12700">
            <a:solidFill>
              <a:srgbClr val="1C2024"/>
            </a:solidFill>
            <a:prstDash val="solid"/>
          </a:ln>
        </p:spPr>
      </p:sp>
      <p:sp>
        <p:nvSpPr>
          <p:cNvPr id="51" name="Shape 48"/>
          <p:cNvSpPr/>
          <p:nvPr/>
        </p:nvSpPr>
        <p:spPr>
          <a:xfrm>
            <a:off x="614477" y="6489497"/>
            <a:ext cx="24725" cy="24725"/>
          </a:xfrm>
          <a:prstGeom prst="rect">
            <a:avLst/>
          </a:prstGeom>
          <a:solidFill>
            <a:srgbClr val="1C2024"/>
          </a:solidFill>
          <a:ln w="12700">
            <a:solidFill>
              <a:srgbClr val="1C2024"/>
            </a:solidFill>
            <a:prstDash val="solid"/>
          </a:ln>
        </p:spPr>
      </p:sp>
      <p:sp>
        <p:nvSpPr>
          <p:cNvPr id="52" name="Shape 49"/>
          <p:cNvSpPr/>
          <p:nvPr/>
        </p:nvSpPr>
        <p:spPr>
          <a:xfrm>
            <a:off x="638251" y="6489497"/>
            <a:ext cx="24725" cy="24725"/>
          </a:xfrm>
          <a:prstGeom prst="rect">
            <a:avLst/>
          </a:prstGeom>
          <a:solidFill>
            <a:srgbClr val="1C2024"/>
          </a:solidFill>
          <a:ln w="12700">
            <a:solidFill>
              <a:srgbClr val="1C2024"/>
            </a:solidFill>
            <a:prstDash val="solid"/>
          </a:ln>
        </p:spPr>
      </p:sp>
      <p:sp>
        <p:nvSpPr>
          <p:cNvPr id="53" name="Shape 50"/>
          <p:cNvSpPr/>
          <p:nvPr/>
        </p:nvSpPr>
        <p:spPr>
          <a:xfrm>
            <a:off x="685800" y="6489497"/>
            <a:ext cx="24725" cy="24725"/>
          </a:xfrm>
          <a:prstGeom prst="rect">
            <a:avLst/>
          </a:prstGeom>
          <a:solidFill>
            <a:srgbClr val="1C2024"/>
          </a:solidFill>
          <a:ln w="12700">
            <a:solidFill>
              <a:srgbClr val="1C2024"/>
            </a:solidFill>
            <a:prstDash val="solid"/>
          </a:ln>
        </p:spPr>
      </p:sp>
      <p:sp>
        <p:nvSpPr>
          <p:cNvPr id="54" name="Shape 51"/>
          <p:cNvSpPr/>
          <p:nvPr/>
        </p:nvSpPr>
        <p:spPr>
          <a:xfrm>
            <a:off x="733349" y="6489497"/>
            <a:ext cx="24725" cy="24725"/>
          </a:xfrm>
          <a:prstGeom prst="rect">
            <a:avLst/>
          </a:prstGeom>
          <a:solidFill>
            <a:srgbClr val="1C2024"/>
          </a:solidFill>
          <a:ln w="12700">
            <a:solidFill>
              <a:srgbClr val="1C2024"/>
            </a:solidFill>
            <a:prstDash val="solid"/>
          </a:ln>
        </p:spPr>
      </p:sp>
      <p:sp>
        <p:nvSpPr>
          <p:cNvPr id="55" name="Shape 52"/>
          <p:cNvSpPr/>
          <p:nvPr/>
        </p:nvSpPr>
        <p:spPr>
          <a:xfrm>
            <a:off x="757123" y="6489497"/>
            <a:ext cx="24725" cy="24725"/>
          </a:xfrm>
          <a:prstGeom prst="rect">
            <a:avLst/>
          </a:prstGeom>
          <a:solidFill>
            <a:srgbClr val="1C2024"/>
          </a:solidFill>
          <a:ln w="12700">
            <a:solidFill>
              <a:srgbClr val="1C2024"/>
            </a:solidFill>
            <a:prstDash val="solid"/>
          </a:ln>
        </p:spPr>
      </p:sp>
      <p:sp>
        <p:nvSpPr>
          <p:cNvPr id="56" name="Shape 53"/>
          <p:cNvSpPr/>
          <p:nvPr/>
        </p:nvSpPr>
        <p:spPr>
          <a:xfrm>
            <a:off x="638251" y="6513271"/>
            <a:ext cx="24725" cy="24725"/>
          </a:xfrm>
          <a:prstGeom prst="rect">
            <a:avLst/>
          </a:prstGeom>
          <a:solidFill>
            <a:srgbClr val="1C2024"/>
          </a:solidFill>
          <a:ln w="12700">
            <a:solidFill>
              <a:srgbClr val="1C2024"/>
            </a:solidFill>
            <a:prstDash val="solid"/>
          </a:ln>
        </p:spPr>
      </p:sp>
      <p:sp>
        <p:nvSpPr>
          <p:cNvPr id="57" name="Shape 54"/>
          <p:cNvSpPr/>
          <p:nvPr/>
        </p:nvSpPr>
        <p:spPr>
          <a:xfrm>
            <a:off x="662026" y="6513271"/>
            <a:ext cx="24725" cy="24725"/>
          </a:xfrm>
          <a:prstGeom prst="rect">
            <a:avLst/>
          </a:prstGeom>
          <a:solidFill>
            <a:srgbClr val="1C2024"/>
          </a:solidFill>
          <a:ln w="12700">
            <a:solidFill>
              <a:srgbClr val="1C2024"/>
            </a:solidFill>
            <a:prstDash val="solid"/>
          </a:ln>
        </p:spPr>
      </p:sp>
      <p:sp>
        <p:nvSpPr>
          <p:cNvPr id="58" name="Shape 55"/>
          <p:cNvSpPr/>
          <p:nvPr/>
        </p:nvSpPr>
        <p:spPr>
          <a:xfrm>
            <a:off x="685800" y="6513271"/>
            <a:ext cx="24725" cy="24725"/>
          </a:xfrm>
          <a:prstGeom prst="rect">
            <a:avLst/>
          </a:prstGeom>
          <a:solidFill>
            <a:srgbClr val="1C2024"/>
          </a:solidFill>
          <a:ln w="12700">
            <a:solidFill>
              <a:srgbClr val="1C2024"/>
            </a:solidFill>
            <a:prstDash val="solid"/>
          </a:ln>
        </p:spPr>
      </p:sp>
      <p:sp>
        <p:nvSpPr>
          <p:cNvPr id="59" name="Shape 56"/>
          <p:cNvSpPr/>
          <p:nvPr/>
        </p:nvSpPr>
        <p:spPr>
          <a:xfrm>
            <a:off x="709574" y="6513271"/>
            <a:ext cx="24725" cy="24725"/>
          </a:xfrm>
          <a:prstGeom prst="rect">
            <a:avLst/>
          </a:prstGeom>
          <a:solidFill>
            <a:srgbClr val="1C2024"/>
          </a:solidFill>
          <a:ln w="12700">
            <a:solidFill>
              <a:srgbClr val="1C2024"/>
            </a:solidFill>
            <a:prstDash val="solid"/>
          </a:ln>
        </p:spPr>
      </p:sp>
      <p:sp>
        <p:nvSpPr>
          <p:cNvPr id="60" name="Shape 57"/>
          <p:cNvSpPr/>
          <p:nvPr/>
        </p:nvSpPr>
        <p:spPr>
          <a:xfrm>
            <a:off x="733349" y="6513271"/>
            <a:ext cx="24725" cy="24725"/>
          </a:xfrm>
          <a:prstGeom prst="rect">
            <a:avLst/>
          </a:prstGeom>
          <a:solidFill>
            <a:srgbClr val="1C2024"/>
          </a:solidFill>
          <a:ln w="12700">
            <a:solidFill>
              <a:srgbClr val="1C2024"/>
            </a:solidFill>
            <a:prstDash val="solid"/>
          </a:ln>
        </p:spPr>
      </p:sp>
      <p:sp>
        <p:nvSpPr>
          <p:cNvPr id="61" name="Shape 58"/>
          <p:cNvSpPr/>
          <p:nvPr/>
        </p:nvSpPr>
        <p:spPr>
          <a:xfrm>
            <a:off x="662026" y="6537046"/>
            <a:ext cx="24725" cy="24725"/>
          </a:xfrm>
          <a:prstGeom prst="rect">
            <a:avLst/>
          </a:prstGeom>
          <a:solidFill>
            <a:srgbClr val="1C2024"/>
          </a:solidFill>
          <a:ln w="12700">
            <a:solidFill>
              <a:srgbClr val="1C2024"/>
            </a:solidFill>
            <a:prstDash val="solid"/>
          </a:ln>
        </p:spPr>
      </p:sp>
      <p:sp>
        <p:nvSpPr>
          <p:cNvPr id="62" name="Shape 59"/>
          <p:cNvSpPr/>
          <p:nvPr/>
        </p:nvSpPr>
        <p:spPr>
          <a:xfrm>
            <a:off x="685800" y="6537046"/>
            <a:ext cx="24725" cy="24725"/>
          </a:xfrm>
          <a:prstGeom prst="rect">
            <a:avLst/>
          </a:prstGeom>
          <a:solidFill>
            <a:srgbClr val="1C2024"/>
          </a:solidFill>
          <a:ln w="12700">
            <a:solidFill>
              <a:srgbClr val="1C2024"/>
            </a:solidFill>
            <a:prstDash val="solid"/>
          </a:ln>
        </p:spPr>
      </p:sp>
      <p:sp>
        <p:nvSpPr>
          <p:cNvPr id="63" name="Shape 60"/>
          <p:cNvSpPr/>
          <p:nvPr/>
        </p:nvSpPr>
        <p:spPr>
          <a:xfrm>
            <a:off x="709574" y="6537046"/>
            <a:ext cx="24725" cy="24725"/>
          </a:xfrm>
          <a:prstGeom prst="rect">
            <a:avLst/>
          </a:prstGeom>
          <a:solidFill>
            <a:srgbClr val="1C2024"/>
          </a:solidFill>
          <a:ln w="12700">
            <a:solidFill>
              <a:srgbClr val="1C2024"/>
            </a:solidFill>
            <a:prstDash val="solid"/>
          </a:ln>
        </p:spPr>
      </p:sp>
      <p:sp>
        <p:nvSpPr>
          <p:cNvPr id="64" name="Shape 61"/>
          <p:cNvSpPr/>
          <p:nvPr/>
        </p:nvSpPr>
        <p:spPr>
          <a:xfrm>
            <a:off x="685800" y="6560820"/>
            <a:ext cx="24725" cy="24725"/>
          </a:xfrm>
          <a:prstGeom prst="rect">
            <a:avLst/>
          </a:prstGeom>
          <a:solidFill>
            <a:srgbClr val="1C2024"/>
          </a:solidFill>
          <a:ln w="12700">
            <a:solidFill>
              <a:srgbClr val="1C2024"/>
            </a:solidFill>
            <a:prstDash val="solid"/>
          </a:ln>
        </p:spPr>
      </p:sp>
      <p:sp>
        <p:nvSpPr>
          <p:cNvPr id="65" name="Text 62"/>
          <p:cNvSpPr/>
          <p:nvPr/>
        </p:nvSpPr>
        <p:spPr>
          <a:xfrm>
            <a:off x="914400" y="6391656"/>
            <a:ext cx="1828800" cy="219456"/>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AIRHOP</a:t>
            </a:r>
            <a:endParaRPr lang="en-US" sz="800" dirty="0"/>
          </a:p>
        </p:txBody>
      </p:sp>
      <p:sp>
        <p:nvSpPr>
          <p:cNvPr id="66" name="Text 63"/>
          <p:cNvSpPr/>
          <p:nvPr/>
        </p:nvSpPr>
        <p:spPr>
          <a:xfrm>
            <a:off x="9795967" y="6391656"/>
            <a:ext cx="1828800" cy="219456"/>
          </a:xfrm>
          <a:prstGeom prst="rect">
            <a:avLst/>
          </a:prstGeom>
          <a:noFill/>
          <a:ln/>
        </p:spPr>
        <p:txBody>
          <a:bodyPr wrap="square" lIns="0" tIns="0" rIns="0" bIns="0" rtlCol="0" anchor="ctr"/>
          <a:lstStyle/>
          <a:p>
            <a:pPr algn="r" indent="0" marL="0">
              <a:buNone/>
            </a:pPr>
            <a:r>
              <a:rPr lang="en-US" sz="800" dirty="0">
                <a:solidFill>
                  <a:srgbClr val="6E7178"/>
                </a:solidFill>
                <a:latin typeface="Consolas" pitchFamily="34" charset="0"/>
                <a:ea typeface="Consolas" pitchFamily="34" charset="-122"/>
                <a:cs typeface="Consolas" pitchFamily="34" charset="-120"/>
              </a:rPr>
              <a:t>09 /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head#637"/>
          <p:cNvSpPr/>
          <p:nvPr/>
        </p:nvSpPr>
        <p:spPr>
          <a:xfrm>
            <a:off x="566928" y="402336"/>
            <a:ext cx="11057839" cy="182880"/>
          </a:xfrm>
          <a:prstGeom prst="rect">
            <a:avLst/>
          </a:prstGeom>
          <a:noFill/>
          <a:ln/>
        </p:spPr>
        <p:txBody>
          <a:bodyPr wrap="square" lIns="0" tIns="0" rIns="0" bIns="0" rtlCol="0" anchor="ctr"/>
          <a:lstStyle/>
          <a:p>
            <a:pPr indent="0" marL="0">
              <a:buNone/>
            </a:pPr>
            <a:r>
              <a:rPr lang="en-US" sz="900" b="1" spc="160" kern="0" dirty="0">
                <a:solidFill>
                  <a:srgbClr val="60646C"/>
                </a:solidFill>
                <a:latin typeface="Consolas" pitchFamily="34" charset="0"/>
                <a:ea typeface="Consolas" pitchFamily="34" charset="-122"/>
                <a:cs typeface="Consolas" pitchFamily="34" charset="-120"/>
              </a:rPr>
              <a:t>THE ASK</a:t>
            </a:r>
            <a:endParaRPr lang="en-US" sz="900" dirty="0"/>
          </a:p>
        </p:txBody>
      </p:sp>
      <p:sp>
        <p:nvSpPr>
          <p:cNvPr id="3" name="head#638"/>
          <p:cNvSpPr/>
          <p:nvPr/>
        </p:nvSpPr>
        <p:spPr>
          <a:xfrm>
            <a:off x="566928" y="658368"/>
            <a:ext cx="11057839" cy="872338"/>
          </a:xfrm>
          <a:prstGeom prst="rect">
            <a:avLst/>
          </a:prstGeom>
          <a:noFill/>
          <a:ln/>
        </p:spPr>
        <p:txBody>
          <a:bodyPr wrap="square" lIns="0" tIns="0" rIns="0" bIns="0" rtlCol="0" anchor="t"/>
          <a:lstStyle/>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Fund the audit.</a:t>
            </a:r>
            <a:endParaRPr lang="en-US" sz="2700" dirty="0"/>
          </a:p>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Open the distribution.</a:t>
            </a:r>
            <a:endParaRPr lang="en-US" sz="2700" dirty="0"/>
          </a:p>
        </p:txBody>
      </p:sp>
      <p:sp>
        <p:nvSpPr>
          <p:cNvPr id="4" name="head#639"/>
          <p:cNvSpPr/>
          <p:nvPr/>
        </p:nvSpPr>
        <p:spPr>
          <a:xfrm>
            <a:off x="566928" y="1677010"/>
            <a:ext cx="9052560" cy="515112"/>
          </a:xfrm>
          <a:prstGeom prst="rect">
            <a:avLst/>
          </a:prstGeom>
          <a:noFill/>
          <a:ln/>
        </p:spPr>
        <p:txBody>
          <a:bodyPr wrap="square" lIns="0" tIns="0" rIns="0" bIns="0" rtlCol="0" anchor="t"/>
          <a:lstStyle/>
          <a:p>
            <a:pPr indent="0" marL="0">
              <a:lnSpc>
                <a:spcPct val="130000"/>
              </a:lnSpc>
              <a:buNone/>
            </a:pPr>
            <a:r>
              <a:rPr lang="en-US" sz="1300" dirty="0">
                <a:solidFill>
                  <a:srgbClr val="60646C"/>
                </a:solidFill>
                <a:latin typeface="Segoe UI" pitchFamily="34" charset="0"/>
                <a:ea typeface="Segoe UI" pitchFamily="34" charset="-122"/>
                <a:cs typeface="Segoe UI" pitchFamily="34" charset="-120"/>
              </a:rPr>
              <a:t>The product is shipped. What it needs next is the verification it cannot give itself, and reach that one person cannot buy.</a:t>
            </a:r>
            <a:endParaRPr lang="en-US" sz="1300" dirty="0"/>
          </a:p>
        </p:txBody>
      </p:sp>
      <p:sp>
        <p:nvSpPr>
          <p:cNvPr id="5" name="ask0#640"/>
          <p:cNvSpPr/>
          <p:nvPr/>
        </p:nvSpPr>
        <p:spPr>
          <a:xfrm>
            <a:off x="566928" y="2286000"/>
            <a:ext cx="2599868" cy="2194560"/>
          </a:xfrm>
          <a:prstGeom prst="roundRect">
            <a:avLst>
              <a:gd name="adj" fmla="val 4583"/>
            </a:avLst>
          </a:prstGeom>
          <a:solidFill>
            <a:srgbClr val="FCFCFD"/>
          </a:solidFill>
          <a:ln w="9525">
            <a:solidFill>
              <a:srgbClr val="D9D9E0"/>
            </a:solidFill>
            <a:prstDash val="solid"/>
          </a:ln>
        </p:spPr>
      </p:sp>
      <p:sp>
        <p:nvSpPr>
          <p:cNvPr id="6" name="ask0#641"/>
          <p:cNvSpPr/>
          <p:nvPr/>
        </p:nvSpPr>
        <p:spPr>
          <a:xfrm>
            <a:off x="877824" y="2560320"/>
            <a:ext cx="256032" cy="237744"/>
          </a:xfrm>
          <a:prstGeom prst="rect">
            <a:avLst/>
          </a:prstGeom>
          <a:noFill/>
          <a:ln/>
        </p:spPr>
        <p:txBody>
          <a:bodyPr wrap="square" lIns="0" tIns="0" rIns="0" bIns="0" rtlCol="0" anchor="ctr"/>
          <a:lstStyle/>
          <a:p>
            <a:pPr indent="0" marL="0">
              <a:buNone/>
            </a:pPr>
            <a:r>
              <a:rPr lang="en-US" sz="950" spc="80" kern="0" dirty="0">
                <a:solidFill>
                  <a:srgbClr val="6E7178"/>
                </a:solidFill>
                <a:latin typeface="Consolas" pitchFamily="34" charset="0"/>
                <a:ea typeface="Consolas" pitchFamily="34" charset="-122"/>
                <a:cs typeface="Consolas" pitchFamily="34" charset="-120"/>
              </a:rPr>
              <a:t>01</a:t>
            </a:r>
            <a:endParaRPr lang="en-US" sz="950" dirty="0"/>
          </a:p>
        </p:txBody>
      </p:sp>
      <p:sp>
        <p:nvSpPr>
          <p:cNvPr id="7" name="ask0#642"/>
          <p:cNvSpPr/>
          <p:nvPr/>
        </p:nvSpPr>
        <p:spPr>
          <a:xfrm>
            <a:off x="1188720" y="2679192"/>
            <a:ext cx="597332" cy="0"/>
          </a:xfrm>
          <a:prstGeom prst="line">
            <a:avLst/>
          </a:prstGeom>
          <a:noFill/>
          <a:ln w="9525">
            <a:solidFill>
              <a:srgbClr val="D9D9E0"/>
            </a:solidFill>
            <a:prstDash val="solid"/>
          </a:ln>
        </p:spPr>
      </p:sp>
      <p:sp>
        <p:nvSpPr>
          <p:cNvPr id="8" name="ask0#643"/>
          <p:cNvSpPr/>
          <p:nvPr/>
        </p:nvSpPr>
        <p:spPr>
          <a:xfrm>
            <a:off x="1895780" y="2560320"/>
            <a:ext cx="960120" cy="237744"/>
          </a:xfrm>
          <a:prstGeom prst="rect">
            <a:avLst/>
          </a:prstGeom>
          <a:noFill/>
          <a:ln/>
        </p:spPr>
        <p:txBody>
          <a:bodyPr wrap="square" lIns="0" tIns="0" rIns="0" bIns="0" rtlCol="0" anchor="ctr"/>
          <a:lstStyle/>
          <a:p>
            <a:pPr algn="r" indent="0" marL="0">
              <a:buNone/>
            </a:pPr>
            <a:r>
              <a:rPr lang="en-US" sz="950" b="1" spc="90" kern="0" dirty="0">
                <a:solidFill>
                  <a:srgbClr val="1C2024"/>
                </a:solidFill>
                <a:latin typeface="Consolas" pitchFamily="34" charset="0"/>
                <a:ea typeface="Consolas" pitchFamily="34" charset="-122"/>
                <a:cs typeface="Consolas" pitchFamily="34" charset="-120"/>
              </a:rPr>
              <a:t>TWO AUDITS</a:t>
            </a:r>
            <a:endParaRPr lang="en-US" sz="950" dirty="0"/>
          </a:p>
        </p:txBody>
      </p:sp>
      <p:sp>
        <p:nvSpPr>
          <p:cNvPr id="9" name="ask0#644"/>
          <p:cNvSpPr/>
          <p:nvPr/>
        </p:nvSpPr>
        <p:spPr>
          <a:xfrm>
            <a:off x="877824" y="2999232"/>
            <a:ext cx="1978076" cy="1188720"/>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Cure53 or equivalent on the crypto and the key handling, a second firm on the radio and the Nostr bridge. Findings published whatever they say.</a:t>
            </a:r>
            <a:endParaRPr lang="en-US" sz="950" dirty="0"/>
          </a:p>
        </p:txBody>
      </p:sp>
      <p:sp>
        <p:nvSpPr>
          <p:cNvPr id="10" name="ask1#645"/>
          <p:cNvSpPr/>
          <p:nvPr/>
        </p:nvSpPr>
        <p:spPr>
          <a:xfrm>
            <a:off x="3386252" y="2286000"/>
            <a:ext cx="2599868" cy="2194560"/>
          </a:xfrm>
          <a:prstGeom prst="roundRect">
            <a:avLst>
              <a:gd name="adj" fmla="val 4583"/>
            </a:avLst>
          </a:prstGeom>
          <a:solidFill>
            <a:srgbClr val="FCFCFD"/>
          </a:solidFill>
          <a:ln w="9525">
            <a:solidFill>
              <a:srgbClr val="D9D9E0"/>
            </a:solidFill>
            <a:prstDash val="solid"/>
          </a:ln>
        </p:spPr>
      </p:sp>
      <p:sp>
        <p:nvSpPr>
          <p:cNvPr id="11" name="ask1#646"/>
          <p:cNvSpPr/>
          <p:nvPr/>
        </p:nvSpPr>
        <p:spPr>
          <a:xfrm>
            <a:off x="3697148" y="2560320"/>
            <a:ext cx="256032" cy="237744"/>
          </a:xfrm>
          <a:prstGeom prst="rect">
            <a:avLst/>
          </a:prstGeom>
          <a:noFill/>
          <a:ln/>
        </p:spPr>
        <p:txBody>
          <a:bodyPr wrap="square" lIns="0" tIns="0" rIns="0" bIns="0" rtlCol="0" anchor="ctr"/>
          <a:lstStyle/>
          <a:p>
            <a:pPr indent="0" marL="0">
              <a:buNone/>
            </a:pPr>
            <a:r>
              <a:rPr lang="en-US" sz="950" spc="80" kern="0" dirty="0">
                <a:solidFill>
                  <a:srgbClr val="6E7178"/>
                </a:solidFill>
                <a:latin typeface="Consolas" pitchFamily="34" charset="0"/>
                <a:ea typeface="Consolas" pitchFamily="34" charset="-122"/>
                <a:cs typeface="Consolas" pitchFamily="34" charset="-120"/>
              </a:rPr>
              <a:t>02</a:t>
            </a:r>
            <a:endParaRPr lang="en-US" sz="950" dirty="0"/>
          </a:p>
        </p:txBody>
      </p:sp>
      <p:sp>
        <p:nvSpPr>
          <p:cNvPr id="12" name="ask1#647"/>
          <p:cNvSpPr/>
          <p:nvPr/>
        </p:nvSpPr>
        <p:spPr>
          <a:xfrm>
            <a:off x="4008044" y="2679192"/>
            <a:ext cx="162992" cy="0"/>
          </a:xfrm>
          <a:prstGeom prst="line">
            <a:avLst/>
          </a:prstGeom>
          <a:noFill/>
          <a:ln w="9525">
            <a:solidFill>
              <a:srgbClr val="D9D9E0"/>
            </a:solidFill>
            <a:prstDash val="solid"/>
          </a:ln>
        </p:spPr>
      </p:sp>
      <p:sp>
        <p:nvSpPr>
          <p:cNvPr id="13" name="ask1#648"/>
          <p:cNvSpPr/>
          <p:nvPr/>
        </p:nvSpPr>
        <p:spPr>
          <a:xfrm>
            <a:off x="4280764" y="2560320"/>
            <a:ext cx="1394460" cy="237744"/>
          </a:xfrm>
          <a:prstGeom prst="rect">
            <a:avLst/>
          </a:prstGeom>
          <a:noFill/>
          <a:ln/>
        </p:spPr>
        <p:txBody>
          <a:bodyPr wrap="square" lIns="0" tIns="0" rIns="0" bIns="0" rtlCol="0" anchor="ctr"/>
          <a:lstStyle/>
          <a:p>
            <a:pPr algn="r" indent="0" marL="0">
              <a:buNone/>
            </a:pPr>
            <a:r>
              <a:rPr lang="en-US" sz="950" b="1" spc="90" kern="0" dirty="0">
                <a:solidFill>
                  <a:srgbClr val="1C2024"/>
                </a:solidFill>
                <a:latin typeface="Consolas" pitchFamily="34" charset="0"/>
                <a:ea typeface="Consolas" pitchFamily="34" charset="-122"/>
                <a:cs typeface="Consolas" pitchFamily="34" charset="-120"/>
              </a:rPr>
              <a:t>HARDWARE MATRIX</a:t>
            </a:r>
            <a:endParaRPr lang="en-US" sz="950" dirty="0"/>
          </a:p>
        </p:txBody>
      </p:sp>
      <p:sp>
        <p:nvSpPr>
          <p:cNvPr id="14" name="ask1#649"/>
          <p:cNvSpPr/>
          <p:nvPr/>
        </p:nvSpPr>
        <p:spPr>
          <a:xfrm>
            <a:off x="3697148" y="2999232"/>
            <a:ext cx="1978076" cy="1188720"/>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A device lab across Pixel, Samsung and Xiaomi classes, plus iPhones, to prove on silicon what the simulation only models.</a:t>
            </a:r>
            <a:endParaRPr lang="en-US" sz="950" dirty="0"/>
          </a:p>
        </p:txBody>
      </p:sp>
      <p:sp>
        <p:nvSpPr>
          <p:cNvPr id="15" name="ask2#650"/>
          <p:cNvSpPr/>
          <p:nvPr/>
        </p:nvSpPr>
        <p:spPr>
          <a:xfrm>
            <a:off x="6205576" y="2286000"/>
            <a:ext cx="2599868" cy="2194560"/>
          </a:xfrm>
          <a:prstGeom prst="roundRect">
            <a:avLst>
              <a:gd name="adj" fmla="val 4583"/>
            </a:avLst>
          </a:prstGeom>
          <a:solidFill>
            <a:srgbClr val="FCFCFD"/>
          </a:solidFill>
          <a:ln w="9525">
            <a:solidFill>
              <a:srgbClr val="D9D9E0"/>
            </a:solidFill>
            <a:prstDash val="solid"/>
          </a:ln>
        </p:spPr>
      </p:sp>
      <p:sp>
        <p:nvSpPr>
          <p:cNvPr id="16" name="ask2#651"/>
          <p:cNvSpPr/>
          <p:nvPr/>
        </p:nvSpPr>
        <p:spPr>
          <a:xfrm>
            <a:off x="6516472" y="2560320"/>
            <a:ext cx="256032" cy="237744"/>
          </a:xfrm>
          <a:prstGeom prst="rect">
            <a:avLst/>
          </a:prstGeom>
          <a:noFill/>
          <a:ln/>
        </p:spPr>
        <p:txBody>
          <a:bodyPr wrap="square" lIns="0" tIns="0" rIns="0" bIns="0" rtlCol="0" anchor="ctr"/>
          <a:lstStyle/>
          <a:p>
            <a:pPr indent="0" marL="0">
              <a:buNone/>
            </a:pPr>
            <a:r>
              <a:rPr lang="en-US" sz="950" spc="80" kern="0" dirty="0">
                <a:solidFill>
                  <a:srgbClr val="6E7178"/>
                </a:solidFill>
                <a:latin typeface="Consolas" pitchFamily="34" charset="0"/>
                <a:ea typeface="Consolas" pitchFamily="34" charset="-122"/>
                <a:cs typeface="Consolas" pitchFamily="34" charset="-120"/>
              </a:rPr>
              <a:t>03</a:t>
            </a:r>
            <a:endParaRPr lang="en-US" sz="950" dirty="0"/>
          </a:p>
        </p:txBody>
      </p:sp>
      <p:sp>
        <p:nvSpPr>
          <p:cNvPr id="17" name="ask2#652"/>
          <p:cNvSpPr/>
          <p:nvPr/>
        </p:nvSpPr>
        <p:spPr>
          <a:xfrm>
            <a:off x="6827368" y="2679192"/>
            <a:ext cx="423596" cy="0"/>
          </a:xfrm>
          <a:prstGeom prst="line">
            <a:avLst/>
          </a:prstGeom>
          <a:noFill/>
          <a:ln w="9525">
            <a:solidFill>
              <a:srgbClr val="D9D9E0"/>
            </a:solidFill>
            <a:prstDash val="solid"/>
          </a:ln>
        </p:spPr>
      </p:sp>
      <p:sp>
        <p:nvSpPr>
          <p:cNvPr id="18" name="ask2#653"/>
          <p:cNvSpPr/>
          <p:nvPr/>
        </p:nvSpPr>
        <p:spPr>
          <a:xfrm>
            <a:off x="7360691" y="2560320"/>
            <a:ext cx="1133856" cy="237744"/>
          </a:xfrm>
          <a:prstGeom prst="rect">
            <a:avLst/>
          </a:prstGeom>
          <a:noFill/>
          <a:ln/>
        </p:spPr>
        <p:txBody>
          <a:bodyPr wrap="square" lIns="0" tIns="0" rIns="0" bIns="0" rtlCol="0" anchor="ctr"/>
          <a:lstStyle/>
          <a:p>
            <a:pPr algn="r" indent="0" marL="0">
              <a:buNone/>
            </a:pPr>
            <a:r>
              <a:rPr lang="en-US" sz="950" b="1" spc="90" kern="0" dirty="0">
                <a:solidFill>
                  <a:srgbClr val="1C2024"/>
                </a:solidFill>
                <a:latin typeface="Consolas" pitchFamily="34" charset="0"/>
                <a:ea typeface="Consolas" pitchFamily="34" charset="-122"/>
                <a:cs typeface="Consolas" pitchFamily="34" charset="-120"/>
              </a:rPr>
              <a:t>DISTRIBUTION</a:t>
            </a:r>
            <a:endParaRPr lang="en-US" sz="950" dirty="0"/>
          </a:p>
        </p:txBody>
      </p:sp>
      <p:sp>
        <p:nvSpPr>
          <p:cNvPr id="19" name="ask2#654"/>
          <p:cNvSpPr/>
          <p:nvPr/>
        </p:nvSpPr>
        <p:spPr>
          <a:xfrm>
            <a:off x="6516472" y="2999232"/>
            <a:ext cx="1978076" cy="1188720"/>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Response organizations, digital rights groups and press freedom funders already working in the 52 countries that went dark.</a:t>
            </a:r>
            <a:endParaRPr lang="en-US" sz="950" dirty="0"/>
          </a:p>
        </p:txBody>
      </p:sp>
      <p:sp>
        <p:nvSpPr>
          <p:cNvPr id="20" name="ask3#655"/>
          <p:cNvSpPr/>
          <p:nvPr/>
        </p:nvSpPr>
        <p:spPr>
          <a:xfrm>
            <a:off x="9024899" y="2286000"/>
            <a:ext cx="2599868" cy="2194560"/>
          </a:xfrm>
          <a:prstGeom prst="roundRect">
            <a:avLst>
              <a:gd name="adj" fmla="val 4583"/>
            </a:avLst>
          </a:prstGeom>
          <a:solidFill>
            <a:srgbClr val="FCFCFD"/>
          </a:solidFill>
          <a:ln w="9525">
            <a:solidFill>
              <a:srgbClr val="D9D9E0"/>
            </a:solidFill>
            <a:prstDash val="solid"/>
          </a:ln>
        </p:spPr>
      </p:sp>
      <p:sp>
        <p:nvSpPr>
          <p:cNvPr id="21" name="ask3#656"/>
          <p:cNvSpPr/>
          <p:nvPr/>
        </p:nvSpPr>
        <p:spPr>
          <a:xfrm>
            <a:off x="9335795" y="2560320"/>
            <a:ext cx="256032" cy="237744"/>
          </a:xfrm>
          <a:prstGeom prst="rect">
            <a:avLst/>
          </a:prstGeom>
          <a:noFill/>
          <a:ln/>
        </p:spPr>
        <p:txBody>
          <a:bodyPr wrap="square" lIns="0" tIns="0" rIns="0" bIns="0" rtlCol="0" anchor="ctr"/>
          <a:lstStyle/>
          <a:p>
            <a:pPr indent="0" marL="0">
              <a:buNone/>
            </a:pPr>
            <a:r>
              <a:rPr lang="en-US" sz="950" spc="80" kern="0" dirty="0">
                <a:solidFill>
                  <a:srgbClr val="6E7178"/>
                </a:solidFill>
                <a:latin typeface="Consolas" pitchFamily="34" charset="0"/>
                <a:ea typeface="Consolas" pitchFamily="34" charset="-122"/>
                <a:cs typeface="Consolas" pitchFamily="34" charset="-120"/>
              </a:rPr>
              <a:t>04</a:t>
            </a:r>
            <a:endParaRPr lang="en-US" sz="950" dirty="0"/>
          </a:p>
        </p:txBody>
      </p:sp>
      <p:sp>
        <p:nvSpPr>
          <p:cNvPr id="22" name="ask3#657"/>
          <p:cNvSpPr/>
          <p:nvPr/>
        </p:nvSpPr>
        <p:spPr>
          <a:xfrm>
            <a:off x="9646691" y="2679192"/>
            <a:ext cx="423596" cy="0"/>
          </a:xfrm>
          <a:prstGeom prst="line">
            <a:avLst/>
          </a:prstGeom>
          <a:noFill/>
          <a:ln w="9525">
            <a:solidFill>
              <a:srgbClr val="D9D9E0"/>
            </a:solidFill>
            <a:prstDash val="solid"/>
          </a:ln>
        </p:spPr>
      </p:sp>
      <p:sp>
        <p:nvSpPr>
          <p:cNvPr id="23" name="ask3#658"/>
          <p:cNvSpPr/>
          <p:nvPr/>
        </p:nvSpPr>
        <p:spPr>
          <a:xfrm>
            <a:off x="10180015" y="2560320"/>
            <a:ext cx="1133856" cy="237744"/>
          </a:xfrm>
          <a:prstGeom prst="rect">
            <a:avLst/>
          </a:prstGeom>
          <a:noFill/>
          <a:ln/>
        </p:spPr>
        <p:txBody>
          <a:bodyPr wrap="square" lIns="0" tIns="0" rIns="0" bIns="0" rtlCol="0" anchor="ctr"/>
          <a:lstStyle/>
          <a:p>
            <a:pPr algn="r" indent="0" marL="0">
              <a:buNone/>
            </a:pPr>
            <a:r>
              <a:rPr lang="en-US" sz="950" b="1" spc="90" kern="0" dirty="0">
                <a:solidFill>
                  <a:srgbClr val="1C2024"/>
                </a:solidFill>
                <a:latin typeface="Consolas" pitchFamily="34" charset="0"/>
                <a:ea typeface="Consolas" pitchFamily="34" charset="-122"/>
                <a:cs typeface="Consolas" pitchFamily="34" charset="-120"/>
              </a:rPr>
              <a:t>CONTRIBUTORS</a:t>
            </a:r>
            <a:endParaRPr lang="en-US" sz="950" dirty="0"/>
          </a:p>
        </p:txBody>
      </p:sp>
      <p:sp>
        <p:nvSpPr>
          <p:cNvPr id="24" name="ask3#659"/>
          <p:cNvSpPr/>
          <p:nvPr/>
        </p:nvSpPr>
        <p:spPr>
          <a:xfrm>
            <a:off x="9335795" y="2999232"/>
            <a:ext cx="1978076" cy="1188720"/>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Ten language catalogs, the desktop and web targets, and the SDK. All of it scoped, none of it blocked.</a:t>
            </a:r>
            <a:endParaRPr lang="en-US" sz="950" dirty="0"/>
          </a:p>
        </p:txBody>
      </p:sp>
      <p:sp>
        <p:nvSpPr>
          <p:cNvPr id="25" name="close#660"/>
          <p:cNvSpPr/>
          <p:nvPr/>
        </p:nvSpPr>
        <p:spPr>
          <a:xfrm>
            <a:off x="566928" y="4718304"/>
            <a:ext cx="11057839" cy="1152144"/>
          </a:xfrm>
          <a:prstGeom prst="roundRect">
            <a:avLst>
              <a:gd name="adj" fmla="val 8730"/>
            </a:avLst>
          </a:prstGeom>
          <a:solidFill>
            <a:srgbClr val="1C2024"/>
          </a:solidFill>
          <a:ln w="12700">
            <a:solidFill>
              <a:srgbClr val="1C2024"/>
            </a:solidFill>
            <a:prstDash val="solid"/>
          </a:ln>
        </p:spPr>
      </p:sp>
      <p:sp>
        <p:nvSpPr>
          <p:cNvPr id="26" name="close#661"/>
          <p:cNvSpPr/>
          <p:nvPr/>
        </p:nvSpPr>
        <p:spPr>
          <a:xfrm>
            <a:off x="566928" y="4919472"/>
            <a:ext cx="11057839"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When the network goes down, the mesh is still up.</a:t>
            </a:r>
            <a:endParaRPr lang="en-US" sz="1500" dirty="0"/>
          </a:p>
        </p:txBody>
      </p:sp>
      <p:sp>
        <p:nvSpPr>
          <p:cNvPr id="27" name="close#662"/>
          <p:cNvSpPr/>
          <p:nvPr/>
        </p:nvSpPr>
        <p:spPr>
          <a:xfrm>
            <a:off x="566928" y="5340096"/>
            <a:ext cx="11057839" cy="274320"/>
          </a:xfrm>
          <a:prstGeom prst="rect">
            <a:avLst/>
          </a:prstGeom>
          <a:noFill/>
          <a:ln/>
        </p:spPr>
        <p:txBody>
          <a:bodyPr wrap="square" lIns="0" tIns="0" rIns="0" bIns="0" rtlCol="0" anchor="ctr"/>
          <a:lstStyle/>
          <a:p>
            <a:pPr algn="ctr" indent="0" marL="0">
              <a:buNone/>
            </a:pPr>
            <a:r>
              <a:rPr lang="en-US" sz="950" b="1" u="sng" dirty="0">
                <a:solidFill>
                  <a:srgbClr val="FFFFFF"/>
                </a:solidFill>
                <a:latin typeface="Consolas" pitchFamily="34" charset="0"/>
                <a:ea typeface="Consolas" pitchFamily="34" charset="-122"/>
                <a:cs typeface="Consolas" pitchFamily="34" charset="-120"/>
                <a:hlinkClick r:id="rId1" invalidUrl="" action="" tgtFrame="" tooltip="airhop.1mindlabs.org" history="1" highlightClick="0" endSnd="0">
                  <a:extLst>
                    <a:ext uri="{A12FA001-AC4F-418D-AE19-62706E023703}">
                      <ahyp:hlinkClr xmlns:ahyp="http://schemas.microsoft.com/office/drawing/2018/hyperlinkcolor" val="tx"/>
                    </a:ext>
                  </a:extLst>
                </a:hlinkClick>
              </a:rPr>
              <a:t>airhop.1mindlabs.org</a:t>
            </a:r>
            <a:pPr algn="ctr" indent="0" marL="0">
              <a:buNone/>
            </a:pPr>
            <a:r>
              <a:rPr lang="en-US" sz="950" dirty="0">
                <a:solidFill>
                  <a:srgbClr val="D9D9E0"/>
                </a:solidFill>
                <a:latin typeface="Consolas" pitchFamily="34" charset="0"/>
                <a:ea typeface="Consolas" pitchFamily="34" charset="-122"/>
                <a:cs typeface="Consolas" pitchFamily="34" charset="-120"/>
              </a:rPr>
              <a:t>   ·   </a:t>
            </a:r>
            <a:pPr algn="ctr" indent="0" marL="0">
              <a:buNone/>
            </a:pPr>
            <a:r>
              <a:rPr lang="en-US" sz="950" b="1" u="sng" dirty="0">
                <a:solidFill>
                  <a:srgbClr val="FFFFFF"/>
                </a:solidFill>
                <a:latin typeface="Consolas" pitchFamily="34" charset="0"/>
                <a:ea typeface="Consolas" pitchFamily="34" charset="-122"/>
                <a:cs typeface="Consolas" pitchFamily="34" charset="-120"/>
                <a:hlinkClick r:id="rId2" invalidUrl="" action="" tgtFrame="" tooltip="github.com/areebahmeddd/airhop" history="1" highlightClick="0" endSnd="0">
                  <a:extLst>
                    <a:ext uri="{A12FA001-AC4F-418D-AE19-62706E023703}">
                      <ahyp:hlinkClr xmlns:ahyp="http://schemas.microsoft.com/office/drawing/2018/hyperlinkcolor" val="tx"/>
                    </a:ext>
                  </a:extLst>
                </a:hlinkClick>
              </a:rPr>
              <a:t>github.com/areebahmeddd/airhop</a:t>
            </a:r>
            <a:endParaRPr lang="en-US" sz="950" dirty="0"/>
          </a:p>
        </p:txBody>
      </p:sp>
      <p:sp>
        <p:nvSpPr>
          <p:cNvPr id="29" name="Shape 26"/>
          <p:cNvSpPr/>
          <p:nvPr/>
        </p:nvSpPr>
        <p:spPr>
          <a:xfrm>
            <a:off x="566928" y="6327648"/>
            <a:ext cx="11057839" cy="0"/>
          </a:xfrm>
          <a:prstGeom prst="line">
            <a:avLst/>
          </a:prstGeom>
          <a:noFill/>
          <a:ln w="9525">
            <a:solidFill>
              <a:srgbClr val="D9D9E0"/>
            </a:solidFill>
            <a:prstDash val="solid"/>
          </a:ln>
        </p:spPr>
      </p:sp>
      <p:sp>
        <p:nvSpPr>
          <p:cNvPr id="30" name="Shape 27"/>
          <p:cNvSpPr/>
          <p:nvPr/>
        </p:nvSpPr>
        <p:spPr>
          <a:xfrm>
            <a:off x="566928" y="6441948"/>
            <a:ext cx="24725" cy="24725"/>
          </a:xfrm>
          <a:prstGeom prst="rect">
            <a:avLst/>
          </a:prstGeom>
          <a:solidFill>
            <a:srgbClr val="1C2024"/>
          </a:solidFill>
          <a:ln w="12700">
            <a:solidFill>
              <a:srgbClr val="1C2024"/>
            </a:solidFill>
            <a:prstDash val="solid"/>
          </a:ln>
        </p:spPr>
      </p:sp>
      <p:sp>
        <p:nvSpPr>
          <p:cNvPr id="31" name="Shape 28"/>
          <p:cNvSpPr/>
          <p:nvPr/>
        </p:nvSpPr>
        <p:spPr>
          <a:xfrm>
            <a:off x="590702" y="6441948"/>
            <a:ext cx="24725" cy="24725"/>
          </a:xfrm>
          <a:prstGeom prst="rect">
            <a:avLst/>
          </a:prstGeom>
          <a:solidFill>
            <a:srgbClr val="1C2024"/>
          </a:solidFill>
          <a:ln w="12700">
            <a:solidFill>
              <a:srgbClr val="1C2024"/>
            </a:solidFill>
            <a:prstDash val="solid"/>
          </a:ln>
        </p:spPr>
      </p:sp>
      <p:sp>
        <p:nvSpPr>
          <p:cNvPr id="32" name="Shape 29"/>
          <p:cNvSpPr/>
          <p:nvPr/>
        </p:nvSpPr>
        <p:spPr>
          <a:xfrm>
            <a:off x="780898" y="6441948"/>
            <a:ext cx="24725" cy="24725"/>
          </a:xfrm>
          <a:prstGeom prst="rect">
            <a:avLst/>
          </a:prstGeom>
          <a:solidFill>
            <a:srgbClr val="1C2024"/>
          </a:solidFill>
          <a:ln w="12700">
            <a:solidFill>
              <a:srgbClr val="1C2024"/>
            </a:solidFill>
            <a:prstDash val="solid"/>
          </a:ln>
        </p:spPr>
      </p:sp>
      <p:sp>
        <p:nvSpPr>
          <p:cNvPr id="33" name="Shape 30"/>
          <p:cNvSpPr/>
          <p:nvPr/>
        </p:nvSpPr>
        <p:spPr>
          <a:xfrm>
            <a:off x="804672" y="6441948"/>
            <a:ext cx="24725" cy="24725"/>
          </a:xfrm>
          <a:prstGeom prst="rect">
            <a:avLst/>
          </a:prstGeom>
          <a:solidFill>
            <a:srgbClr val="1C2024"/>
          </a:solidFill>
          <a:ln w="12700">
            <a:solidFill>
              <a:srgbClr val="1C2024"/>
            </a:solidFill>
            <a:prstDash val="solid"/>
          </a:ln>
        </p:spPr>
      </p:sp>
      <p:sp>
        <p:nvSpPr>
          <p:cNvPr id="34" name="Shape 31"/>
          <p:cNvSpPr/>
          <p:nvPr/>
        </p:nvSpPr>
        <p:spPr>
          <a:xfrm>
            <a:off x="590702" y="6465722"/>
            <a:ext cx="24725" cy="24725"/>
          </a:xfrm>
          <a:prstGeom prst="rect">
            <a:avLst/>
          </a:prstGeom>
          <a:solidFill>
            <a:srgbClr val="1C2024"/>
          </a:solidFill>
          <a:ln w="12700">
            <a:solidFill>
              <a:srgbClr val="1C2024"/>
            </a:solidFill>
            <a:prstDash val="solid"/>
          </a:ln>
        </p:spPr>
      </p:sp>
      <p:sp>
        <p:nvSpPr>
          <p:cNvPr id="35" name="Shape 32"/>
          <p:cNvSpPr/>
          <p:nvPr/>
        </p:nvSpPr>
        <p:spPr>
          <a:xfrm>
            <a:off x="614477" y="6465722"/>
            <a:ext cx="24725" cy="24725"/>
          </a:xfrm>
          <a:prstGeom prst="rect">
            <a:avLst/>
          </a:prstGeom>
          <a:solidFill>
            <a:srgbClr val="1C2024"/>
          </a:solidFill>
          <a:ln w="12700">
            <a:solidFill>
              <a:srgbClr val="1C2024"/>
            </a:solidFill>
            <a:prstDash val="solid"/>
          </a:ln>
        </p:spPr>
      </p:sp>
      <p:sp>
        <p:nvSpPr>
          <p:cNvPr id="36" name="Shape 33"/>
          <p:cNvSpPr/>
          <p:nvPr/>
        </p:nvSpPr>
        <p:spPr>
          <a:xfrm>
            <a:off x="757123" y="6465722"/>
            <a:ext cx="24725" cy="24725"/>
          </a:xfrm>
          <a:prstGeom prst="rect">
            <a:avLst/>
          </a:prstGeom>
          <a:solidFill>
            <a:srgbClr val="1C2024"/>
          </a:solidFill>
          <a:ln w="12700">
            <a:solidFill>
              <a:srgbClr val="1C2024"/>
            </a:solidFill>
            <a:prstDash val="solid"/>
          </a:ln>
        </p:spPr>
      </p:sp>
      <p:sp>
        <p:nvSpPr>
          <p:cNvPr id="37" name="Shape 34"/>
          <p:cNvSpPr/>
          <p:nvPr/>
        </p:nvSpPr>
        <p:spPr>
          <a:xfrm>
            <a:off x="780898" y="6465722"/>
            <a:ext cx="24725" cy="24725"/>
          </a:xfrm>
          <a:prstGeom prst="rect">
            <a:avLst/>
          </a:prstGeom>
          <a:solidFill>
            <a:srgbClr val="1C2024"/>
          </a:solidFill>
          <a:ln w="12700">
            <a:solidFill>
              <a:srgbClr val="1C2024"/>
            </a:solidFill>
            <a:prstDash val="solid"/>
          </a:ln>
        </p:spPr>
      </p:sp>
      <p:sp>
        <p:nvSpPr>
          <p:cNvPr id="38" name="Shape 35"/>
          <p:cNvSpPr/>
          <p:nvPr/>
        </p:nvSpPr>
        <p:spPr>
          <a:xfrm>
            <a:off x="614477" y="6489497"/>
            <a:ext cx="24725" cy="24725"/>
          </a:xfrm>
          <a:prstGeom prst="rect">
            <a:avLst/>
          </a:prstGeom>
          <a:solidFill>
            <a:srgbClr val="1C2024"/>
          </a:solidFill>
          <a:ln w="12700">
            <a:solidFill>
              <a:srgbClr val="1C2024"/>
            </a:solidFill>
            <a:prstDash val="solid"/>
          </a:ln>
        </p:spPr>
      </p:sp>
      <p:sp>
        <p:nvSpPr>
          <p:cNvPr id="39" name="Shape 36"/>
          <p:cNvSpPr/>
          <p:nvPr/>
        </p:nvSpPr>
        <p:spPr>
          <a:xfrm>
            <a:off x="638251" y="6489497"/>
            <a:ext cx="24725" cy="24725"/>
          </a:xfrm>
          <a:prstGeom prst="rect">
            <a:avLst/>
          </a:prstGeom>
          <a:solidFill>
            <a:srgbClr val="1C2024"/>
          </a:solidFill>
          <a:ln w="12700">
            <a:solidFill>
              <a:srgbClr val="1C2024"/>
            </a:solidFill>
            <a:prstDash val="solid"/>
          </a:ln>
        </p:spPr>
      </p:sp>
      <p:sp>
        <p:nvSpPr>
          <p:cNvPr id="40" name="Shape 37"/>
          <p:cNvSpPr/>
          <p:nvPr/>
        </p:nvSpPr>
        <p:spPr>
          <a:xfrm>
            <a:off x="685800" y="6489497"/>
            <a:ext cx="24725" cy="24725"/>
          </a:xfrm>
          <a:prstGeom prst="rect">
            <a:avLst/>
          </a:prstGeom>
          <a:solidFill>
            <a:srgbClr val="1C2024"/>
          </a:solidFill>
          <a:ln w="12700">
            <a:solidFill>
              <a:srgbClr val="1C2024"/>
            </a:solidFill>
            <a:prstDash val="solid"/>
          </a:ln>
        </p:spPr>
      </p:sp>
      <p:sp>
        <p:nvSpPr>
          <p:cNvPr id="41" name="Shape 38"/>
          <p:cNvSpPr/>
          <p:nvPr/>
        </p:nvSpPr>
        <p:spPr>
          <a:xfrm>
            <a:off x="733349" y="6489497"/>
            <a:ext cx="24725" cy="24725"/>
          </a:xfrm>
          <a:prstGeom prst="rect">
            <a:avLst/>
          </a:prstGeom>
          <a:solidFill>
            <a:srgbClr val="1C2024"/>
          </a:solidFill>
          <a:ln w="12700">
            <a:solidFill>
              <a:srgbClr val="1C2024"/>
            </a:solidFill>
            <a:prstDash val="solid"/>
          </a:ln>
        </p:spPr>
      </p:sp>
      <p:sp>
        <p:nvSpPr>
          <p:cNvPr id="42" name="Shape 39"/>
          <p:cNvSpPr/>
          <p:nvPr/>
        </p:nvSpPr>
        <p:spPr>
          <a:xfrm>
            <a:off x="757123" y="6489497"/>
            <a:ext cx="24725" cy="24725"/>
          </a:xfrm>
          <a:prstGeom prst="rect">
            <a:avLst/>
          </a:prstGeom>
          <a:solidFill>
            <a:srgbClr val="1C2024"/>
          </a:solidFill>
          <a:ln w="12700">
            <a:solidFill>
              <a:srgbClr val="1C2024"/>
            </a:solidFill>
            <a:prstDash val="solid"/>
          </a:ln>
        </p:spPr>
      </p:sp>
      <p:sp>
        <p:nvSpPr>
          <p:cNvPr id="43" name="Shape 40"/>
          <p:cNvSpPr/>
          <p:nvPr/>
        </p:nvSpPr>
        <p:spPr>
          <a:xfrm>
            <a:off x="638251" y="6513271"/>
            <a:ext cx="24725" cy="24725"/>
          </a:xfrm>
          <a:prstGeom prst="rect">
            <a:avLst/>
          </a:prstGeom>
          <a:solidFill>
            <a:srgbClr val="1C2024"/>
          </a:solidFill>
          <a:ln w="12700">
            <a:solidFill>
              <a:srgbClr val="1C2024"/>
            </a:solidFill>
            <a:prstDash val="solid"/>
          </a:ln>
        </p:spPr>
      </p:sp>
      <p:sp>
        <p:nvSpPr>
          <p:cNvPr id="44" name="Shape 41"/>
          <p:cNvSpPr/>
          <p:nvPr/>
        </p:nvSpPr>
        <p:spPr>
          <a:xfrm>
            <a:off x="662026" y="6513271"/>
            <a:ext cx="24725" cy="24725"/>
          </a:xfrm>
          <a:prstGeom prst="rect">
            <a:avLst/>
          </a:prstGeom>
          <a:solidFill>
            <a:srgbClr val="1C2024"/>
          </a:solidFill>
          <a:ln w="12700">
            <a:solidFill>
              <a:srgbClr val="1C2024"/>
            </a:solidFill>
            <a:prstDash val="solid"/>
          </a:ln>
        </p:spPr>
      </p:sp>
      <p:sp>
        <p:nvSpPr>
          <p:cNvPr id="45" name="Shape 42"/>
          <p:cNvSpPr/>
          <p:nvPr/>
        </p:nvSpPr>
        <p:spPr>
          <a:xfrm>
            <a:off x="685800" y="6513271"/>
            <a:ext cx="24725" cy="24725"/>
          </a:xfrm>
          <a:prstGeom prst="rect">
            <a:avLst/>
          </a:prstGeom>
          <a:solidFill>
            <a:srgbClr val="1C2024"/>
          </a:solidFill>
          <a:ln w="12700">
            <a:solidFill>
              <a:srgbClr val="1C2024"/>
            </a:solidFill>
            <a:prstDash val="solid"/>
          </a:ln>
        </p:spPr>
      </p:sp>
      <p:sp>
        <p:nvSpPr>
          <p:cNvPr id="46" name="Shape 43"/>
          <p:cNvSpPr/>
          <p:nvPr/>
        </p:nvSpPr>
        <p:spPr>
          <a:xfrm>
            <a:off x="709574" y="6513271"/>
            <a:ext cx="24725" cy="24725"/>
          </a:xfrm>
          <a:prstGeom prst="rect">
            <a:avLst/>
          </a:prstGeom>
          <a:solidFill>
            <a:srgbClr val="1C2024"/>
          </a:solidFill>
          <a:ln w="12700">
            <a:solidFill>
              <a:srgbClr val="1C2024"/>
            </a:solidFill>
            <a:prstDash val="solid"/>
          </a:ln>
        </p:spPr>
      </p:sp>
      <p:sp>
        <p:nvSpPr>
          <p:cNvPr id="47" name="Shape 44"/>
          <p:cNvSpPr/>
          <p:nvPr/>
        </p:nvSpPr>
        <p:spPr>
          <a:xfrm>
            <a:off x="733349" y="6513271"/>
            <a:ext cx="24725" cy="24725"/>
          </a:xfrm>
          <a:prstGeom prst="rect">
            <a:avLst/>
          </a:prstGeom>
          <a:solidFill>
            <a:srgbClr val="1C2024"/>
          </a:solidFill>
          <a:ln w="12700">
            <a:solidFill>
              <a:srgbClr val="1C2024"/>
            </a:solidFill>
            <a:prstDash val="solid"/>
          </a:ln>
        </p:spPr>
      </p:sp>
      <p:sp>
        <p:nvSpPr>
          <p:cNvPr id="48" name="Shape 45"/>
          <p:cNvSpPr/>
          <p:nvPr/>
        </p:nvSpPr>
        <p:spPr>
          <a:xfrm>
            <a:off x="662026" y="6537046"/>
            <a:ext cx="24725" cy="24725"/>
          </a:xfrm>
          <a:prstGeom prst="rect">
            <a:avLst/>
          </a:prstGeom>
          <a:solidFill>
            <a:srgbClr val="1C2024"/>
          </a:solidFill>
          <a:ln w="12700">
            <a:solidFill>
              <a:srgbClr val="1C2024"/>
            </a:solidFill>
            <a:prstDash val="solid"/>
          </a:ln>
        </p:spPr>
      </p:sp>
      <p:sp>
        <p:nvSpPr>
          <p:cNvPr id="49" name="Shape 46"/>
          <p:cNvSpPr/>
          <p:nvPr/>
        </p:nvSpPr>
        <p:spPr>
          <a:xfrm>
            <a:off x="685800" y="6537046"/>
            <a:ext cx="24725" cy="24725"/>
          </a:xfrm>
          <a:prstGeom prst="rect">
            <a:avLst/>
          </a:prstGeom>
          <a:solidFill>
            <a:srgbClr val="1C2024"/>
          </a:solidFill>
          <a:ln w="12700">
            <a:solidFill>
              <a:srgbClr val="1C2024"/>
            </a:solidFill>
            <a:prstDash val="solid"/>
          </a:ln>
        </p:spPr>
      </p:sp>
      <p:sp>
        <p:nvSpPr>
          <p:cNvPr id="50" name="Shape 47"/>
          <p:cNvSpPr/>
          <p:nvPr/>
        </p:nvSpPr>
        <p:spPr>
          <a:xfrm>
            <a:off x="709574" y="6537046"/>
            <a:ext cx="24725" cy="24725"/>
          </a:xfrm>
          <a:prstGeom prst="rect">
            <a:avLst/>
          </a:prstGeom>
          <a:solidFill>
            <a:srgbClr val="1C2024"/>
          </a:solidFill>
          <a:ln w="12700">
            <a:solidFill>
              <a:srgbClr val="1C2024"/>
            </a:solidFill>
            <a:prstDash val="solid"/>
          </a:ln>
        </p:spPr>
      </p:sp>
      <p:sp>
        <p:nvSpPr>
          <p:cNvPr id="51" name="Shape 48"/>
          <p:cNvSpPr/>
          <p:nvPr/>
        </p:nvSpPr>
        <p:spPr>
          <a:xfrm>
            <a:off x="685800" y="6560820"/>
            <a:ext cx="24725" cy="24725"/>
          </a:xfrm>
          <a:prstGeom prst="rect">
            <a:avLst/>
          </a:prstGeom>
          <a:solidFill>
            <a:srgbClr val="1C2024"/>
          </a:solidFill>
          <a:ln w="12700">
            <a:solidFill>
              <a:srgbClr val="1C2024"/>
            </a:solidFill>
            <a:prstDash val="solid"/>
          </a:ln>
        </p:spPr>
      </p:sp>
      <p:sp>
        <p:nvSpPr>
          <p:cNvPr id="52" name="Text 49"/>
          <p:cNvSpPr/>
          <p:nvPr/>
        </p:nvSpPr>
        <p:spPr>
          <a:xfrm>
            <a:off x="914400" y="6391656"/>
            <a:ext cx="1828800" cy="219456"/>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AIRHOP</a:t>
            </a:r>
            <a:endParaRPr lang="en-US" sz="800" dirty="0"/>
          </a:p>
        </p:txBody>
      </p:sp>
      <p:sp>
        <p:nvSpPr>
          <p:cNvPr id="53" name="Text 50"/>
          <p:cNvSpPr/>
          <p:nvPr/>
        </p:nvSpPr>
        <p:spPr>
          <a:xfrm>
            <a:off x="9795967" y="6391656"/>
            <a:ext cx="1828800" cy="219456"/>
          </a:xfrm>
          <a:prstGeom prst="rect">
            <a:avLst/>
          </a:prstGeom>
          <a:noFill/>
          <a:ln/>
        </p:spPr>
        <p:txBody>
          <a:bodyPr wrap="square" lIns="0" tIns="0" rIns="0" bIns="0" rtlCol="0" anchor="ctr"/>
          <a:lstStyle/>
          <a:p>
            <a:pPr algn="r" indent="0" marL="0">
              <a:buNone/>
            </a:pPr>
            <a:r>
              <a:rPr lang="en-US" sz="800" dirty="0">
                <a:solidFill>
                  <a:srgbClr val="6E7178"/>
                </a:solidFill>
                <a:latin typeface="Consolas" pitchFamily="34" charset="0"/>
                <a:ea typeface="Consolas" pitchFamily="34" charset="-122"/>
                <a:cs typeface="Consolas" pitchFamily="34" charset="-120"/>
              </a:rPr>
              <a:t>10 /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head#663"/>
          <p:cNvSpPr/>
          <p:nvPr/>
        </p:nvSpPr>
        <p:spPr>
          <a:xfrm>
            <a:off x="566928" y="402336"/>
            <a:ext cx="11057839" cy="182880"/>
          </a:xfrm>
          <a:prstGeom prst="rect">
            <a:avLst/>
          </a:prstGeom>
          <a:noFill/>
          <a:ln/>
        </p:spPr>
        <p:txBody>
          <a:bodyPr wrap="square" lIns="0" tIns="0" rIns="0" bIns="0" rtlCol="0" anchor="ctr"/>
          <a:lstStyle/>
          <a:p>
            <a:pPr indent="0" marL="0">
              <a:buNone/>
            </a:pPr>
            <a:r>
              <a:rPr lang="en-US" sz="900" b="1" spc="160" kern="0" dirty="0">
                <a:solidFill>
                  <a:srgbClr val="60646C"/>
                </a:solidFill>
                <a:latin typeface="Consolas" pitchFamily="34" charset="0"/>
                <a:ea typeface="Consolas" pitchFamily="34" charset="-122"/>
                <a:cs typeface="Consolas" pitchFamily="34" charset="-120"/>
              </a:rPr>
              <a:t>APPENDIX · ARCHITECTURE</a:t>
            </a:r>
            <a:endParaRPr lang="en-US" sz="900" dirty="0"/>
          </a:p>
        </p:txBody>
      </p:sp>
      <p:sp>
        <p:nvSpPr>
          <p:cNvPr id="3" name="head#664"/>
          <p:cNvSpPr/>
          <p:nvPr/>
        </p:nvSpPr>
        <p:spPr>
          <a:xfrm>
            <a:off x="566928" y="658368"/>
            <a:ext cx="11057839" cy="872338"/>
          </a:xfrm>
          <a:prstGeom prst="rect">
            <a:avLst/>
          </a:prstGeom>
          <a:noFill/>
          <a:ln/>
        </p:spPr>
        <p:txBody>
          <a:bodyPr wrap="square" lIns="0" tIns="0" rIns="0" bIns="0" rtlCol="0" anchor="t"/>
          <a:lstStyle/>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One protocol core.</a:t>
            </a:r>
            <a:endParaRPr lang="en-US" sz="2700" dirty="0"/>
          </a:p>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Two thin native radios.</a:t>
            </a:r>
            <a:endParaRPr lang="en-US" sz="2700" dirty="0"/>
          </a:p>
        </p:txBody>
      </p:sp>
      <p:sp>
        <p:nvSpPr>
          <p:cNvPr id="4" name="head#665"/>
          <p:cNvSpPr/>
          <p:nvPr/>
        </p:nvSpPr>
        <p:spPr>
          <a:xfrm>
            <a:off x="566928" y="1677010"/>
            <a:ext cx="7680960" cy="515112"/>
          </a:xfrm>
          <a:prstGeom prst="rect">
            <a:avLst/>
          </a:prstGeom>
          <a:noFill/>
          <a:ln/>
        </p:spPr>
        <p:txBody>
          <a:bodyPr wrap="square" lIns="0" tIns="0" rIns="0" bIns="0" rtlCol="0" anchor="t"/>
          <a:lstStyle/>
          <a:p>
            <a:pPr indent="0" marL="0">
              <a:lnSpc>
                <a:spcPct val="130000"/>
              </a:lnSpc>
              <a:buNone/>
            </a:pPr>
            <a:r>
              <a:rPr lang="en-US" sz="1300" dirty="0">
                <a:solidFill>
                  <a:srgbClr val="60646C"/>
                </a:solidFill>
                <a:latin typeface="Segoe UI" pitchFamily="34" charset="0"/>
                <a:ea typeface="Segoe UI" pitchFamily="34" charset="-122"/>
                <a:cs typeface="Segoe UI" pitchFamily="34" charset="-120"/>
              </a:rPr>
              <a:t>bitchat runs two native codebases that drift apart. Airhop keeps the whole protocol in TypeScript and lets the native side own nothing but the hardware.</a:t>
            </a:r>
            <a:endParaRPr lang="en-US" sz="1300" dirty="0"/>
          </a:p>
        </p:txBody>
      </p:sp>
      <p:sp>
        <p:nvSpPr>
          <p:cNvPr id="5" name="head#666"/>
          <p:cNvSpPr/>
          <p:nvPr/>
        </p:nvSpPr>
        <p:spPr>
          <a:xfrm>
            <a:off x="7967167" y="402336"/>
            <a:ext cx="3657600" cy="182880"/>
          </a:xfrm>
          <a:prstGeom prst="rect">
            <a:avLst/>
          </a:prstGeom>
          <a:noFill/>
          <a:ln/>
        </p:spPr>
        <p:txBody>
          <a:bodyPr wrap="square" lIns="0" tIns="0" rIns="0" bIns="0" rtlCol="0" anchor="ctr"/>
          <a:lstStyle/>
          <a:p>
            <a:pPr algn="r" indent="0" marL="0">
              <a:buNone/>
            </a:pPr>
            <a:r>
              <a:rPr lang="en-US" sz="800" b="1" u="sng" dirty="0">
                <a:solidFill>
                  <a:srgbClr val="6E7178"/>
                </a:solidFill>
                <a:latin typeface="Consolas" pitchFamily="34" charset="0"/>
                <a:ea typeface="Consolas" pitchFamily="34" charset="-122"/>
                <a:cs typeface="Consolas" pitchFamily="34" charset="-120"/>
                <a:hlinkClick r:id="rId1" invalidUrl="" action="" tgtFrame="" tooltip="docs/spec/ARCHITECTURE.md" history="1" highlightClick="0" endSnd="0">
                  <a:extLst>
                    <a:ext uri="{A12FA001-AC4F-418D-AE19-62706E023703}">
                      <ahyp:hlinkClr xmlns:ahyp="http://schemas.microsoft.com/office/drawing/2018/hyperlinkcolor" val="tx"/>
                    </a:ext>
                  </a:extLst>
                </a:hlinkClick>
              </a:rPr>
              <a:t>docs/spec/ARCHITECTURE.md</a:t>
            </a:r>
            <a:endParaRPr lang="en-US" sz="800" dirty="0"/>
          </a:p>
        </p:txBody>
      </p:sp>
      <p:sp>
        <p:nvSpPr>
          <p:cNvPr id="6" name="layer0#667"/>
          <p:cNvSpPr/>
          <p:nvPr/>
        </p:nvSpPr>
        <p:spPr>
          <a:xfrm>
            <a:off x="566928" y="2286000"/>
            <a:ext cx="11057839" cy="566928"/>
          </a:xfrm>
          <a:prstGeom prst="roundRect">
            <a:avLst>
              <a:gd name="adj" fmla="val 17742"/>
            </a:avLst>
          </a:prstGeom>
          <a:solidFill>
            <a:srgbClr val="FCFCFD"/>
          </a:solidFill>
          <a:ln w="9525">
            <a:solidFill>
              <a:srgbClr val="D9D9E0"/>
            </a:solidFill>
            <a:prstDash val="solid"/>
          </a:ln>
        </p:spPr>
      </p:sp>
      <p:sp>
        <p:nvSpPr>
          <p:cNvPr id="7" name="layer0#668"/>
          <p:cNvSpPr/>
          <p:nvPr/>
        </p:nvSpPr>
        <p:spPr>
          <a:xfrm>
            <a:off x="877824" y="2286000"/>
            <a:ext cx="1920240" cy="566928"/>
          </a:xfrm>
          <a:prstGeom prst="rect">
            <a:avLst/>
          </a:prstGeom>
          <a:noFill/>
          <a:ln/>
        </p:spPr>
        <p:txBody>
          <a:bodyPr wrap="square" lIns="0" tIns="0" rIns="0" bIns="0" rtlCol="0" anchor="ctr"/>
          <a:lstStyle/>
          <a:p>
            <a:pPr indent="0" marL="0">
              <a:buNone/>
            </a:pPr>
            <a:r>
              <a:rPr lang="en-US" sz="1200" b="1" dirty="0">
                <a:solidFill>
                  <a:srgbClr val="1C2024"/>
                </a:solidFill>
                <a:latin typeface="Segoe UI" pitchFamily="34" charset="0"/>
                <a:ea typeface="Segoe UI" pitchFamily="34" charset="-122"/>
                <a:cs typeface="Segoe UI" pitchFamily="34" charset="-120"/>
              </a:rPr>
              <a:t>Screens</a:t>
            </a:r>
            <a:endParaRPr lang="en-US" sz="1200" dirty="0"/>
          </a:p>
        </p:txBody>
      </p:sp>
      <p:sp>
        <p:nvSpPr>
          <p:cNvPr id="8" name="layer0#669"/>
          <p:cNvSpPr/>
          <p:nvPr/>
        </p:nvSpPr>
        <p:spPr>
          <a:xfrm>
            <a:off x="2944368" y="2377440"/>
            <a:ext cx="0" cy="384048"/>
          </a:xfrm>
          <a:prstGeom prst="line">
            <a:avLst/>
          </a:prstGeom>
          <a:noFill/>
          <a:ln w="9525">
            <a:solidFill>
              <a:srgbClr val="D9D9E0"/>
            </a:solidFill>
            <a:prstDash val="solid"/>
          </a:ln>
        </p:spPr>
      </p:sp>
      <p:sp>
        <p:nvSpPr>
          <p:cNvPr id="9" name="layer0#670"/>
          <p:cNvSpPr/>
          <p:nvPr/>
        </p:nvSpPr>
        <p:spPr>
          <a:xfrm>
            <a:off x="3163824" y="2286000"/>
            <a:ext cx="3566160" cy="566928"/>
          </a:xfrm>
          <a:prstGeom prst="rect">
            <a:avLst/>
          </a:prstGeom>
          <a:noFill/>
          <a:ln/>
        </p:spPr>
        <p:txBody>
          <a:bodyPr wrap="square" lIns="0" tIns="0" rIns="0" bIns="0" rtlCol="0" anchor="ctr"/>
          <a:lstStyle/>
          <a:p>
            <a:pPr indent="0" marL="0">
              <a:buNone/>
            </a:pPr>
            <a:r>
              <a:rPr lang="en-US" sz="950" dirty="0">
                <a:solidFill>
                  <a:srgbClr val="1C2024"/>
                </a:solidFill>
                <a:latin typeface="Consolas" pitchFamily="34" charset="0"/>
                <a:ea typeface="Consolas" pitchFamily="34" charset="-122"/>
                <a:cs typeface="Consolas" pitchFamily="34" charset="-120"/>
              </a:rPr>
              <a:t>Chats   ·   Mesh   ·   Wallet   ·   Profile</a:t>
            </a:r>
            <a:endParaRPr lang="en-US" sz="950" dirty="0"/>
          </a:p>
        </p:txBody>
      </p:sp>
      <p:sp>
        <p:nvSpPr>
          <p:cNvPr id="10" name="layer0#671"/>
          <p:cNvSpPr/>
          <p:nvPr/>
        </p:nvSpPr>
        <p:spPr>
          <a:xfrm>
            <a:off x="6876288" y="2286000"/>
            <a:ext cx="4437583" cy="566928"/>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Hand-rolled four-tab shell, no navigation library</a:t>
            </a:r>
            <a:endParaRPr lang="en-US" sz="950" dirty="0"/>
          </a:p>
        </p:txBody>
      </p:sp>
      <p:sp>
        <p:nvSpPr>
          <p:cNvPr id="11" name="layer1#672"/>
          <p:cNvSpPr/>
          <p:nvPr/>
        </p:nvSpPr>
        <p:spPr>
          <a:xfrm>
            <a:off x="566928" y="2944368"/>
            <a:ext cx="11057839" cy="566928"/>
          </a:xfrm>
          <a:prstGeom prst="roundRect">
            <a:avLst>
              <a:gd name="adj" fmla="val 17742"/>
            </a:avLst>
          </a:prstGeom>
          <a:solidFill>
            <a:srgbClr val="FCFCFD"/>
          </a:solidFill>
          <a:ln w="9525">
            <a:solidFill>
              <a:srgbClr val="D9D9E0"/>
            </a:solidFill>
            <a:prstDash val="solid"/>
          </a:ln>
        </p:spPr>
      </p:sp>
      <p:sp>
        <p:nvSpPr>
          <p:cNvPr id="12" name="layer1#673"/>
          <p:cNvSpPr/>
          <p:nvPr/>
        </p:nvSpPr>
        <p:spPr>
          <a:xfrm>
            <a:off x="877824" y="2944368"/>
            <a:ext cx="1920240" cy="566928"/>
          </a:xfrm>
          <a:prstGeom prst="rect">
            <a:avLst/>
          </a:prstGeom>
          <a:noFill/>
          <a:ln/>
        </p:spPr>
        <p:txBody>
          <a:bodyPr wrap="square" lIns="0" tIns="0" rIns="0" bIns="0" rtlCol="0" anchor="ctr"/>
          <a:lstStyle/>
          <a:p>
            <a:pPr indent="0" marL="0">
              <a:buNone/>
            </a:pPr>
            <a:r>
              <a:rPr lang="en-US" sz="1200" b="1" dirty="0">
                <a:solidFill>
                  <a:srgbClr val="1C2024"/>
                </a:solidFill>
                <a:latin typeface="Segoe UI" pitchFamily="34" charset="0"/>
                <a:ea typeface="Segoe UI" pitchFamily="34" charset="-122"/>
                <a:cs typeface="Segoe UI" pitchFamily="34" charset="-120"/>
              </a:rPr>
              <a:t>Message router</a:t>
            </a:r>
            <a:endParaRPr lang="en-US" sz="1200" dirty="0"/>
          </a:p>
        </p:txBody>
      </p:sp>
      <p:sp>
        <p:nvSpPr>
          <p:cNvPr id="13" name="layer1#674"/>
          <p:cNvSpPr/>
          <p:nvPr/>
        </p:nvSpPr>
        <p:spPr>
          <a:xfrm>
            <a:off x="2944368" y="3035808"/>
            <a:ext cx="0" cy="384048"/>
          </a:xfrm>
          <a:prstGeom prst="line">
            <a:avLst/>
          </a:prstGeom>
          <a:noFill/>
          <a:ln w="9525">
            <a:solidFill>
              <a:srgbClr val="D9D9E0"/>
            </a:solidFill>
            <a:prstDash val="solid"/>
          </a:ln>
        </p:spPr>
      </p:sp>
      <p:sp>
        <p:nvSpPr>
          <p:cNvPr id="14" name="layer1#675"/>
          <p:cNvSpPr/>
          <p:nvPr/>
        </p:nvSpPr>
        <p:spPr>
          <a:xfrm>
            <a:off x="3163824" y="2944368"/>
            <a:ext cx="3566160" cy="566928"/>
          </a:xfrm>
          <a:prstGeom prst="rect">
            <a:avLst/>
          </a:prstGeom>
          <a:noFill/>
          <a:ln/>
        </p:spPr>
        <p:txBody>
          <a:bodyPr wrap="square" lIns="0" tIns="0" rIns="0" bIns="0" rtlCol="0" anchor="ctr"/>
          <a:lstStyle/>
          <a:p>
            <a:pPr indent="0" marL="0">
              <a:buNone/>
            </a:pPr>
            <a:r>
              <a:rPr lang="en-US" sz="950" dirty="0">
                <a:solidFill>
                  <a:srgbClr val="1C2024"/>
                </a:solidFill>
                <a:latin typeface="Consolas" pitchFamily="34" charset="0"/>
                <a:ea typeface="Consolas" pitchFamily="34" charset="-122"/>
                <a:cs typeface="Consolas" pitchFamily="34" charset="-120"/>
              </a:rPr>
              <a:t>Both radios   ·   Nostr   ·   Courier</a:t>
            </a:r>
            <a:endParaRPr lang="en-US" sz="950" dirty="0"/>
          </a:p>
        </p:txBody>
      </p:sp>
      <p:sp>
        <p:nvSpPr>
          <p:cNvPr id="15" name="layer1#676"/>
          <p:cNvSpPr/>
          <p:nvPr/>
        </p:nvSpPr>
        <p:spPr>
          <a:xfrm>
            <a:off x="6876288" y="2944368"/>
            <a:ext cx="4437583" cy="566928"/>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Picks the transport, names the one it used, never assumes delivery</a:t>
            </a:r>
            <a:endParaRPr lang="en-US" sz="950" dirty="0"/>
          </a:p>
        </p:txBody>
      </p:sp>
      <p:sp>
        <p:nvSpPr>
          <p:cNvPr id="16" name="layer2#677"/>
          <p:cNvSpPr/>
          <p:nvPr/>
        </p:nvSpPr>
        <p:spPr>
          <a:xfrm>
            <a:off x="566928" y="3602736"/>
            <a:ext cx="11057839" cy="566928"/>
          </a:xfrm>
          <a:prstGeom prst="roundRect">
            <a:avLst>
              <a:gd name="adj" fmla="val 17742"/>
            </a:avLst>
          </a:prstGeom>
          <a:solidFill>
            <a:srgbClr val="FCFCFD"/>
          </a:solidFill>
          <a:ln w="9525">
            <a:solidFill>
              <a:srgbClr val="D9D9E0"/>
            </a:solidFill>
            <a:prstDash val="solid"/>
          </a:ln>
        </p:spPr>
      </p:sp>
      <p:sp>
        <p:nvSpPr>
          <p:cNvPr id="17" name="layer2#678"/>
          <p:cNvSpPr/>
          <p:nvPr/>
        </p:nvSpPr>
        <p:spPr>
          <a:xfrm>
            <a:off x="877824" y="3602736"/>
            <a:ext cx="1920240" cy="566928"/>
          </a:xfrm>
          <a:prstGeom prst="rect">
            <a:avLst/>
          </a:prstGeom>
          <a:noFill/>
          <a:ln/>
        </p:spPr>
        <p:txBody>
          <a:bodyPr wrap="square" lIns="0" tIns="0" rIns="0" bIns="0" rtlCol="0" anchor="ctr"/>
          <a:lstStyle/>
          <a:p>
            <a:pPr indent="0" marL="0">
              <a:buNone/>
            </a:pPr>
            <a:r>
              <a:rPr lang="en-US" sz="1200" b="1" dirty="0">
                <a:solidFill>
                  <a:srgbClr val="1C2024"/>
                </a:solidFill>
                <a:latin typeface="Segoe UI" pitchFamily="34" charset="0"/>
                <a:ea typeface="Segoe UI" pitchFamily="34" charset="-122"/>
                <a:cs typeface="Segoe UI" pitchFamily="34" charset="-120"/>
              </a:rPr>
              <a:t>Crypto engine</a:t>
            </a:r>
            <a:endParaRPr lang="en-US" sz="1200" dirty="0"/>
          </a:p>
        </p:txBody>
      </p:sp>
      <p:sp>
        <p:nvSpPr>
          <p:cNvPr id="18" name="layer2#679"/>
          <p:cNvSpPr/>
          <p:nvPr/>
        </p:nvSpPr>
        <p:spPr>
          <a:xfrm>
            <a:off x="2944368" y="3694176"/>
            <a:ext cx="0" cy="384048"/>
          </a:xfrm>
          <a:prstGeom prst="line">
            <a:avLst/>
          </a:prstGeom>
          <a:noFill/>
          <a:ln w="9525">
            <a:solidFill>
              <a:srgbClr val="D9D9E0"/>
            </a:solidFill>
            <a:prstDash val="solid"/>
          </a:ln>
        </p:spPr>
      </p:sp>
      <p:sp>
        <p:nvSpPr>
          <p:cNvPr id="19" name="layer2#680"/>
          <p:cNvSpPr/>
          <p:nvPr/>
        </p:nvSpPr>
        <p:spPr>
          <a:xfrm>
            <a:off x="3163824" y="3602736"/>
            <a:ext cx="3566160" cy="566928"/>
          </a:xfrm>
          <a:prstGeom prst="rect">
            <a:avLst/>
          </a:prstGeom>
          <a:noFill/>
          <a:ln/>
        </p:spPr>
        <p:txBody>
          <a:bodyPr wrap="square" lIns="0" tIns="0" rIns="0" bIns="0" rtlCol="0" anchor="ctr"/>
          <a:lstStyle/>
          <a:p>
            <a:pPr indent="0" marL="0">
              <a:buNone/>
            </a:pPr>
            <a:r>
              <a:rPr lang="en-US" sz="950" dirty="0">
                <a:solidFill>
                  <a:srgbClr val="1C2024"/>
                </a:solidFill>
                <a:latin typeface="Consolas" pitchFamily="34" charset="0"/>
                <a:ea typeface="Consolas" pitchFamily="34" charset="-122"/>
                <a:cs typeface="Consolas" pitchFamily="34" charset="-120"/>
              </a:rPr>
              <a:t>Noise XX   ·   Double Ratchet   ·   Ed25519   ·   HKDF</a:t>
            </a:r>
            <a:endParaRPr lang="en-US" sz="950" dirty="0"/>
          </a:p>
        </p:txBody>
      </p:sp>
      <p:sp>
        <p:nvSpPr>
          <p:cNvPr id="20" name="layer2#681"/>
          <p:cNvSpPr/>
          <p:nvPr/>
        </p:nvSpPr>
        <p:spPr>
          <a:xfrm>
            <a:off x="6876288" y="3602736"/>
            <a:ext cx="4437583" cy="566928"/>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@noble primitives, Cure53 audited, pure TypeScript</a:t>
            </a:r>
            <a:endParaRPr lang="en-US" sz="950" dirty="0"/>
          </a:p>
        </p:txBody>
      </p:sp>
      <p:sp>
        <p:nvSpPr>
          <p:cNvPr id="21" name="layer3#682"/>
          <p:cNvSpPr/>
          <p:nvPr/>
        </p:nvSpPr>
        <p:spPr>
          <a:xfrm>
            <a:off x="566928" y="4261104"/>
            <a:ext cx="11057839" cy="566928"/>
          </a:xfrm>
          <a:prstGeom prst="roundRect">
            <a:avLst>
              <a:gd name="adj" fmla="val 17742"/>
            </a:avLst>
          </a:prstGeom>
          <a:solidFill>
            <a:srgbClr val="FCFCFD"/>
          </a:solidFill>
          <a:ln w="9525">
            <a:solidFill>
              <a:srgbClr val="D9D9E0"/>
            </a:solidFill>
            <a:prstDash val="solid"/>
          </a:ln>
        </p:spPr>
      </p:sp>
      <p:sp>
        <p:nvSpPr>
          <p:cNvPr id="22" name="layer3#683"/>
          <p:cNvSpPr/>
          <p:nvPr/>
        </p:nvSpPr>
        <p:spPr>
          <a:xfrm>
            <a:off x="877824" y="4261104"/>
            <a:ext cx="1920240" cy="566928"/>
          </a:xfrm>
          <a:prstGeom prst="rect">
            <a:avLst/>
          </a:prstGeom>
          <a:noFill/>
          <a:ln/>
        </p:spPr>
        <p:txBody>
          <a:bodyPr wrap="square" lIns="0" tIns="0" rIns="0" bIns="0" rtlCol="0" anchor="ctr"/>
          <a:lstStyle/>
          <a:p>
            <a:pPr indent="0" marL="0">
              <a:buNone/>
            </a:pPr>
            <a:r>
              <a:rPr lang="en-US" sz="1200" b="1" dirty="0">
                <a:solidFill>
                  <a:srgbClr val="1C2024"/>
                </a:solidFill>
                <a:latin typeface="Segoe UI" pitchFamily="34" charset="0"/>
                <a:ea typeface="Segoe UI" pitchFamily="34" charset="-122"/>
                <a:cs typeface="Segoe UI" pitchFamily="34" charset="-120"/>
              </a:rPr>
              <a:t>Transports</a:t>
            </a:r>
            <a:endParaRPr lang="en-US" sz="1200" dirty="0"/>
          </a:p>
        </p:txBody>
      </p:sp>
      <p:sp>
        <p:nvSpPr>
          <p:cNvPr id="23" name="layer3#684"/>
          <p:cNvSpPr/>
          <p:nvPr/>
        </p:nvSpPr>
        <p:spPr>
          <a:xfrm>
            <a:off x="2944368" y="4352544"/>
            <a:ext cx="0" cy="384048"/>
          </a:xfrm>
          <a:prstGeom prst="line">
            <a:avLst/>
          </a:prstGeom>
          <a:noFill/>
          <a:ln w="9525">
            <a:solidFill>
              <a:srgbClr val="D9D9E0"/>
            </a:solidFill>
            <a:prstDash val="solid"/>
          </a:ln>
        </p:spPr>
      </p:sp>
      <p:sp>
        <p:nvSpPr>
          <p:cNvPr id="24" name="layer3#685"/>
          <p:cNvSpPr/>
          <p:nvPr/>
        </p:nvSpPr>
        <p:spPr>
          <a:xfrm>
            <a:off x="3163824" y="4261104"/>
            <a:ext cx="3566160" cy="566928"/>
          </a:xfrm>
          <a:prstGeom prst="rect">
            <a:avLst/>
          </a:prstGeom>
          <a:noFill/>
          <a:ln/>
        </p:spPr>
        <p:txBody>
          <a:bodyPr wrap="square" lIns="0" tIns="0" rIns="0" bIns="0" rtlCol="0" anchor="ctr"/>
          <a:lstStyle/>
          <a:p>
            <a:pPr indent="0" marL="0">
              <a:buNone/>
            </a:pPr>
            <a:r>
              <a:rPr lang="en-US" sz="950" dirty="0">
                <a:solidFill>
                  <a:srgbClr val="1C2024"/>
                </a:solidFill>
                <a:latin typeface="Consolas" pitchFamily="34" charset="0"/>
                <a:ea typeface="Consolas" pitchFamily="34" charset="-122"/>
                <a:cs typeface="Consolas" pitchFamily="34" charset="-120"/>
              </a:rPr>
              <a:t>BLE mesh   ·   WiFi fast path   ·   Nostr relays</a:t>
            </a:r>
            <a:endParaRPr lang="en-US" sz="950" dirty="0"/>
          </a:p>
        </p:txBody>
      </p:sp>
      <p:sp>
        <p:nvSpPr>
          <p:cNvPr id="25" name="layer3#686"/>
          <p:cNvSpPr/>
          <p:nvPr/>
        </p:nvSpPr>
        <p:spPr>
          <a:xfrm>
            <a:off x="6876288" y="4261104"/>
            <a:ext cx="4437583" cy="566928"/>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Bluetooth is the only one that needs no internet and the only one that crosses iOS and Android</a:t>
            </a:r>
            <a:endParaRPr lang="en-US" sz="950" dirty="0"/>
          </a:p>
        </p:txBody>
      </p:sp>
      <p:sp>
        <p:nvSpPr>
          <p:cNvPr id="26" name="layer4#687"/>
          <p:cNvSpPr/>
          <p:nvPr/>
        </p:nvSpPr>
        <p:spPr>
          <a:xfrm>
            <a:off x="566928" y="4919472"/>
            <a:ext cx="11057839" cy="566928"/>
          </a:xfrm>
          <a:prstGeom prst="roundRect">
            <a:avLst>
              <a:gd name="adj" fmla="val 17742"/>
            </a:avLst>
          </a:prstGeom>
          <a:solidFill>
            <a:srgbClr val="F9F9FB"/>
          </a:solidFill>
          <a:ln w="9525">
            <a:solidFill>
              <a:srgbClr val="D9D9E0"/>
            </a:solidFill>
            <a:prstDash val="solid"/>
          </a:ln>
        </p:spPr>
      </p:sp>
      <p:sp>
        <p:nvSpPr>
          <p:cNvPr id="27" name="layer4#688"/>
          <p:cNvSpPr/>
          <p:nvPr/>
        </p:nvSpPr>
        <p:spPr>
          <a:xfrm>
            <a:off x="877824" y="4919472"/>
            <a:ext cx="1920240" cy="566928"/>
          </a:xfrm>
          <a:prstGeom prst="rect">
            <a:avLst/>
          </a:prstGeom>
          <a:noFill/>
          <a:ln/>
        </p:spPr>
        <p:txBody>
          <a:bodyPr wrap="square" lIns="0" tIns="0" rIns="0" bIns="0" rtlCol="0" anchor="ctr"/>
          <a:lstStyle/>
          <a:p>
            <a:pPr indent="0" marL="0">
              <a:buNone/>
            </a:pPr>
            <a:r>
              <a:rPr lang="en-US" sz="1200" b="1" dirty="0">
                <a:solidFill>
                  <a:srgbClr val="1C2024"/>
                </a:solidFill>
                <a:latin typeface="Segoe UI" pitchFamily="34" charset="0"/>
                <a:ea typeface="Segoe UI" pitchFamily="34" charset="-122"/>
                <a:cs typeface="Segoe UI" pitchFamily="34" charset="-120"/>
              </a:rPr>
              <a:t>Native modules</a:t>
            </a:r>
            <a:endParaRPr lang="en-US" sz="1200" dirty="0"/>
          </a:p>
        </p:txBody>
      </p:sp>
      <p:sp>
        <p:nvSpPr>
          <p:cNvPr id="28" name="layer4#689"/>
          <p:cNvSpPr/>
          <p:nvPr/>
        </p:nvSpPr>
        <p:spPr>
          <a:xfrm>
            <a:off x="2944368" y="5010912"/>
            <a:ext cx="0" cy="384048"/>
          </a:xfrm>
          <a:prstGeom prst="line">
            <a:avLst/>
          </a:prstGeom>
          <a:noFill/>
          <a:ln w="9525">
            <a:solidFill>
              <a:srgbClr val="D9D9E0"/>
            </a:solidFill>
            <a:prstDash val="solid"/>
          </a:ln>
        </p:spPr>
      </p:sp>
      <p:sp>
        <p:nvSpPr>
          <p:cNvPr id="29" name="layer4#690"/>
          <p:cNvSpPr/>
          <p:nvPr/>
        </p:nvSpPr>
        <p:spPr>
          <a:xfrm>
            <a:off x="3163824" y="4919472"/>
            <a:ext cx="3566160" cy="566928"/>
          </a:xfrm>
          <a:prstGeom prst="rect">
            <a:avLst/>
          </a:prstGeom>
          <a:noFill/>
          <a:ln/>
        </p:spPr>
        <p:txBody>
          <a:bodyPr wrap="square" lIns="0" tIns="0" rIns="0" bIns="0" rtlCol="0" anchor="ctr"/>
          <a:lstStyle/>
          <a:p>
            <a:pPr indent="0" marL="0">
              <a:buNone/>
            </a:pPr>
            <a:r>
              <a:rPr lang="en-US" sz="950" dirty="0">
                <a:solidFill>
                  <a:srgbClr val="1C2024"/>
                </a:solidFill>
                <a:latin typeface="Consolas" pitchFamily="34" charset="0"/>
                <a:ea typeface="Consolas" pitchFamily="34" charset="-122"/>
                <a:cs typeface="Consolas" pitchFamily="34" charset="-120"/>
              </a:rPr>
              <a:t>BLE   ·   Voice   ·   WiFi Aware   ·   Tor</a:t>
            </a:r>
            <a:endParaRPr lang="en-US" sz="950" dirty="0"/>
          </a:p>
        </p:txBody>
      </p:sp>
      <p:sp>
        <p:nvSpPr>
          <p:cNvPr id="30" name="layer4#691"/>
          <p:cNvSpPr/>
          <p:nvPr/>
        </p:nvSpPr>
        <p:spPr>
          <a:xfrm>
            <a:off x="6876288" y="4919472"/>
            <a:ext cx="4437583" cy="566928"/>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Swift and Kotlin, hardware only. None of them knows what a packet is</a:t>
            </a:r>
            <a:endParaRPr lang="en-US" sz="950" dirty="0"/>
          </a:p>
        </p:txBody>
      </p:sp>
      <p:sp>
        <p:nvSpPr>
          <p:cNvPr id="31" name="facts#692"/>
          <p:cNvSpPr/>
          <p:nvPr/>
        </p:nvSpPr>
        <p:spPr>
          <a:xfrm>
            <a:off x="566928" y="5705856"/>
            <a:ext cx="914400" cy="274320"/>
          </a:xfrm>
          <a:prstGeom prst="rect">
            <a:avLst/>
          </a:prstGeom>
          <a:noFill/>
          <a:ln/>
        </p:spPr>
        <p:txBody>
          <a:bodyPr wrap="square" lIns="0" tIns="0" rIns="0" bIns="0" rtlCol="0" anchor="ctr"/>
          <a:lstStyle/>
          <a:p>
            <a:pPr indent="0" marL="0">
              <a:buNone/>
            </a:pPr>
            <a:r>
              <a:rPr lang="en-US" sz="1500" b="1" dirty="0">
                <a:solidFill>
                  <a:srgbClr val="1C2024"/>
                </a:solidFill>
                <a:latin typeface="Segoe UI" pitchFamily="34" charset="0"/>
                <a:ea typeface="Segoe UI" pitchFamily="34" charset="-122"/>
                <a:cs typeface="Segoe UI" pitchFamily="34" charset="-120"/>
              </a:rPr>
              <a:t>189</a:t>
            </a:r>
            <a:endParaRPr lang="en-US" sz="1500" dirty="0"/>
          </a:p>
        </p:txBody>
      </p:sp>
      <p:sp>
        <p:nvSpPr>
          <p:cNvPr id="32" name="facts#693"/>
          <p:cNvSpPr/>
          <p:nvPr/>
        </p:nvSpPr>
        <p:spPr>
          <a:xfrm>
            <a:off x="1499616" y="5705856"/>
            <a:ext cx="2606954" cy="274320"/>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source files outside tests</a:t>
            </a:r>
            <a:endParaRPr lang="en-US" sz="950" dirty="0"/>
          </a:p>
        </p:txBody>
      </p:sp>
      <p:sp>
        <p:nvSpPr>
          <p:cNvPr id="33" name="facts#694"/>
          <p:cNvSpPr/>
          <p:nvPr/>
        </p:nvSpPr>
        <p:spPr>
          <a:xfrm>
            <a:off x="4326026" y="5705856"/>
            <a:ext cx="914400" cy="274320"/>
          </a:xfrm>
          <a:prstGeom prst="rect">
            <a:avLst/>
          </a:prstGeom>
          <a:noFill/>
          <a:ln/>
        </p:spPr>
        <p:txBody>
          <a:bodyPr wrap="square" lIns="0" tIns="0" rIns="0" bIns="0" rtlCol="0" anchor="ctr"/>
          <a:lstStyle/>
          <a:p>
            <a:pPr indent="0" marL="0">
              <a:buNone/>
            </a:pPr>
            <a:r>
              <a:rPr lang="en-US" sz="1500" b="1" dirty="0">
                <a:solidFill>
                  <a:srgbClr val="1C2024"/>
                </a:solidFill>
                <a:latin typeface="Segoe UI" pitchFamily="34" charset="0"/>
                <a:ea typeface="Segoe UI" pitchFamily="34" charset="-122"/>
                <a:cs typeface="Segoe UI" pitchFamily="34" charset="-120"/>
              </a:rPr>
              <a:t>125</a:t>
            </a:r>
            <a:endParaRPr lang="en-US" sz="1500" dirty="0"/>
          </a:p>
        </p:txBody>
      </p:sp>
      <p:sp>
        <p:nvSpPr>
          <p:cNvPr id="34" name="facts#695"/>
          <p:cNvSpPr/>
          <p:nvPr/>
        </p:nvSpPr>
        <p:spPr>
          <a:xfrm>
            <a:off x="5258714" y="5705856"/>
            <a:ext cx="2606954" cy="274320"/>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test files, the protocol runs in CI with no phone</a:t>
            </a:r>
            <a:endParaRPr lang="en-US" sz="950" dirty="0"/>
          </a:p>
        </p:txBody>
      </p:sp>
      <p:sp>
        <p:nvSpPr>
          <p:cNvPr id="35" name="facts#696"/>
          <p:cNvSpPr/>
          <p:nvPr/>
        </p:nvSpPr>
        <p:spPr>
          <a:xfrm>
            <a:off x="8085125" y="5705856"/>
            <a:ext cx="914400" cy="274320"/>
          </a:xfrm>
          <a:prstGeom prst="rect">
            <a:avLst/>
          </a:prstGeom>
          <a:noFill/>
          <a:ln/>
        </p:spPr>
        <p:txBody>
          <a:bodyPr wrap="square" lIns="0" tIns="0" rIns="0" bIns="0" rtlCol="0" anchor="ctr"/>
          <a:lstStyle/>
          <a:p>
            <a:pPr indent="0" marL="0">
              <a:buNone/>
            </a:pPr>
            <a:r>
              <a:rPr lang="en-US" sz="1500" b="1" dirty="0">
                <a:solidFill>
                  <a:srgbClr val="1C2024"/>
                </a:solidFill>
                <a:latin typeface="Segoe UI" pitchFamily="34" charset="0"/>
                <a:ea typeface="Segoe UI" pitchFamily="34" charset="-122"/>
                <a:cs typeface="Segoe UI" pitchFamily="34" charset="-120"/>
              </a:rPr>
              <a:t>0</a:t>
            </a:r>
            <a:endParaRPr lang="en-US" sz="1500" dirty="0"/>
          </a:p>
        </p:txBody>
      </p:sp>
      <p:sp>
        <p:nvSpPr>
          <p:cNvPr id="36" name="facts#697"/>
          <p:cNvSpPr/>
          <p:nvPr/>
        </p:nvSpPr>
        <p:spPr>
          <a:xfrm>
            <a:off x="9017813" y="5705856"/>
            <a:ext cx="2606954" cy="274320"/>
          </a:xfrm>
          <a:prstGeom prst="rect">
            <a:avLst/>
          </a:prstGeom>
          <a:noFill/>
          <a:ln/>
        </p:spPr>
        <p:txBody>
          <a:bodyPr wrap="square" lIns="0" tIns="0" rIns="0" bIns="0" rtlCol="0" anchor="ctr"/>
          <a:lstStyle/>
          <a:p>
            <a:pPr indent="0" marL="0">
              <a:buNone/>
            </a:pPr>
            <a:r>
              <a:rPr lang="en-US" sz="950" dirty="0">
                <a:solidFill>
                  <a:srgbClr val="60646C"/>
                </a:solidFill>
                <a:latin typeface="Segoe UI" pitchFamily="34" charset="0"/>
                <a:ea typeface="Segoe UI" pitchFamily="34" charset="-122"/>
                <a:cs typeface="Segoe UI" pitchFamily="34" charset="-120"/>
              </a:rPr>
              <a:t>servers, ours or anyone's, in the delivery path</a:t>
            </a:r>
            <a:endParaRPr lang="en-US" sz="950" dirty="0"/>
          </a:p>
        </p:txBody>
      </p:sp>
      <p:sp>
        <p:nvSpPr>
          <p:cNvPr id="38" name="Shape 35"/>
          <p:cNvSpPr/>
          <p:nvPr/>
        </p:nvSpPr>
        <p:spPr>
          <a:xfrm>
            <a:off x="566928" y="6327648"/>
            <a:ext cx="11057839" cy="0"/>
          </a:xfrm>
          <a:prstGeom prst="line">
            <a:avLst/>
          </a:prstGeom>
          <a:noFill/>
          <a:ln w="9525">
            <a:solidFill>
              <a:srgbClr val="D9D9E0"/>
            </a:solidFill>
            <a:prstDash val="solid"/>
          </a:ln>
        </p:spPr>
      </p:sp>
      <p:sp>
        <p:nvSpPr>
          <p:cNvPr id="39" name="Shape 36"/>
          <p:cNvSpPr/>
          <p:nvPr/>
        </p:nvSpPr>
        <p:spPr>
          <a:xfrm>
            <a:off x="566928" y="6441948"/>
            <a:ext cx="24725" cy="24725"/>
          </a:xfrm>
          <a:prstGeom prst="rect">
            <a:avLst/>
          </a:prstGeom>
          <a:solidFill>
            <a:srgbClr val="1C2024"/>
          </a:solidFill>
          <a:ln w="12700">
            <a:solidFill>
              <a:srgbClr val="1C2024"/>
            </a:solidFill>
            <a:prstDash val="solid"/>
          </a:ln>
        </p:spPr>
      </p:sp>
      <p:sp>
        <p:nvSpPr>
          <p:cNvPr id="40" name="Shape 37"/>
          <p:cNvSpPr/>
          <p:nvPr/>
        </p:nvSpPr>
        <p:spPr>
          <a:xfrm>
            <a:off x="590702" y="6441948"/>
            <a:ext cx="24725" cy="24725"/>
          </a:xfrm>
          <a:prstGeom prst="rect">
            <a:avLst/>
          </a:prstGeom>
          <a:solidFill>
            <a:srgbClr val="1C2024"/>
          </a:solidFill>
          <a:ln w="12700">
            <a:solidFill>
              <a:srgbClr val="1C2024"/>
            </a:solidFill>
            <a:prstDash val="solid"/>
          </a:ln>
        </p:spPr>
      </p:sp>
      <p:sp>
        <p:nvSpPr>
          <p:cNvPr id="41" name="Shape 38"/>
          <p:cNvSpPr/>
          <p:nvPr/>
        </p:nvSpPr>
        <p:spPr>
          <a:xfrm>
            <a:off x="780898" y="6441948"/>
            <a:ext cx="24725" cy="24725"/>
          </a:xfrm>
          <a:prstGeom prst="rect">
            <a:avLst/>
          </a:prstGeom>
          <a:solidFill>
            <a:srgbClr val="1C2024"/>
          </a:solidFill>
          <a:ln w="12700">
            <a:solidFill>
              <a:srgbClr val="1C2024"/>
            </a:solidFill>
            <a:prstDash val="solid"/>
          </a:ln>
        </p:spPr>
      </p:sp>
      <p:sp>
        <p:nvSpPr>
          <p:cNvPr id="42" name="Shape 39"/>
          <p:cNvSpPr/>
          <p:nvPr/>
        </p:nvSpPr>
        <p:spPr>
          <a:xfrm>
            <a:off x="804672" y="6441948"/>
            <a:ext cx="24725" cy="24725"/>
          </a:xfrm>
          <a:prstGeom prst="rect">
            <a:avLst/>
          </a:prstGeom>
          <a:solidFill>
            <a:srgbClr val="1C2024"/>
          </a:solidFill>
          <a:ln w="12700">
            <a:solidFill>
              <a:srgbClr val="1C2024"/>
            </a:solidFill>
            <a:prstDash val="solid"/>
          </a:ln>
        </p:spPr>
      </p:sp>
      <p:sp>
        <p:nvSpPr>
          <p:cNvPr id="43" name="Shape 40"/>
          <p:cNvSpPr/>
          <p:nvPr/>
        </p:nvSpPr>
        <p:spPr>
          <a:xfrm>
            <a:off x="590702" y="6465722"/>
            <a:ext cx="24725" cy="24725"/>
          </a:xfrm>
          <a:prstGeom prst="rect">
            <a:avLst/>
          </a:prstGeom>
          <a:solidFill>
            <a:srgbClr val="1C2024"/>
          </a:solidFill>
          <a:ln w="12700">
            <a:solidFill>
              <a:srgbClr val="1C2024"/>
            </a:solidFill>
            <a:prstDash val="solid"/>
          </a:ln>
        </p:spPr>
      </p:sp>
      <p:sp>
        <p:nvSpPr>
          <p:cNvPr id="44" name="Shape 41"/>
          <p:cNvSpPr/>
          <p:nvPr/>
        </p:nvSpPr>
        <p:spPr>
          <a:xfrm>
            <a:off x="614477" y="6465722"/>
            <a:ext cx="24725" cy="24725"/>
          </a:xfrm>
          <a:prstGeom prst="rect">
            <a:avLst/>
          </a:prstGeom>
          <a:solidFill>
            <a:srgbClr val="1C2024"/>
          </a:solidFill>
          <a:ln w="12700">
            <a:solidFill>
              <a:srgbClr val="1C2024"/>
            </a:solidFill>
            <a:prstDash val="solid"/>
          </a:ln>
        </p:spPr>
      </p:sp>
      <p:sp>
        <p:nvSpPr>
          <p:cNvPr id="45" name="Shape 42"/>
          <p:cNvSpPr/>
          <p:nvPr/>
        </p:nvSpPr>
        <p:spPr>
          <a:xfrm>
            <a:off x="757123" y="6465722"/>
            <a:ext cx="24725" cy="24725"/>
          </a:xfrm>
          <a:prstGeom prst="rect">
            <a:avLst/>
          </a:prstGeom>
          <a:solidFill>
            <a:srgbClr val="1C2024"/>
          </a:solidFill>
          <a:ln w="12700">
            <a:solidFill>
              <a:srgbClr val="1C2024"/>
            </a:solidFill>
            <a:prstDash val="solid"/>
          </a:ln>
        </p:spPr>
      </p:sp>
      <p:sp>
        <p:nvSpPr>
          <p:cNvPr id="46" name="Shape 43"/>
          <p:cNvSpPr/>
          <p:nvPr/>
        </p:nvSpPr>
        <p:spPr>
          <a:xfrm>
            <a:off x="780898" y="6465722"/>
            <a:ext cx="24725" cy="24725"/>
          </a:xfrm>
          <a:prstGeom prst="rect">
            <a:avLst/>
          </a:prstGeom>
          <a:solidFill>
            <a:srgbClr val="1C2024"/>
          </a:solidFill>
          <a:ln w="12700">
            <a:solidFill>
              <a:srgbClr val="1C2024"/>
            </a:solidFill>
            <a:prstDash val="solid"/>
          </a:ln>
        </p:spPr>
      </p:sp>
      <p:sp>
        <p:nvSpPr>
          <p:cNvPr id="47" name="Shape 44"/>
          <p:cNvSpPr/>
          <p:nvPr/>
        </p:nvSpPr>
        <p:spPr>
          <a:xfrm>
            <a:off x="614477" y="6489497"/>
            <a:ext cx="24725" cy="24725"/>
          </a:xfrm>
          <a:prstGeom prst="rect">
            <a:avLst/>
          </a:prstGeom>
          <a:solidFill>
            <a:srgbClr val="1C2024"/>
          </a:solidFill>
          <a:ln w="12700">
            <a:solidFill>
              <a:srgbClr val="1C2024"/>
            </a:solidFill>
            <a:prstDash val="solid"/>
          </a:ln>
        </p:spPr>
      </p:sp>
      <p:sp>
        <p:nvSpPr>
          <p:cNvPr id="48" name="Shape 45"/>
          <p:cNvSpPr/>
          <p:nvPr/>
        </p:nvSpPr>
        <p:spPr>
          <a:xfrm>
            <a:off x="638251" y="6489497"/>
            <a:ext cx="24725" cy="24725"/>
          </a:xfrm>
          <a:prstGeom prst="rect">
            <a:avLst/>
          </a:prstGeom>
          <a:solidFill>
            <a:srgbClr val="1C2024"/>
          </a:solidFill>
          <a:ln w="12700">
            <a:solidFill>
              <a:srgbClr val="1C2024"/>
            </a:solidFill>
            <a:prstDash val="solid"/>
          </a:ln>
        </p:spPr>
      </p:sp>
      <p:sp>
        <p:nvSpPr>
          <p:cNvPr id="49" name="Shape 46"/>
          <p:cNvSpPr/>
          <p:nvPr/>
        </p:nvSpPr>
        <p:spPr>
          <a:xfrm>
            <a:off x="685800" y="6489497"/>
            <a:ext cx="24725" cy="24725"/>
          </a:xfrm>
          <a:prstGeom prst="rect">
            <a:avLst/>
          </a:prstGeom>
          <a:solidFill>
            <a:srgbClr val="1C2024"/>
          </a:solidFill>
          <a:ln w="12700">
            <a:solidFill>
              <a:srgbClr val="1C2024"/>
            </a:solidFill>
            <a:prstDash val="solid"/>
          </a:ln>
        </p:spPr>
      </p:sp>
      <p:sp>
        <p:nvSpPr>
          <p:cNvPr id="50" name="Shape 47"/>
          <p:cNvSpPr/>
          <p:nvPr/>
        </p:nvSpPr>
        <p:spPr>
          <a:xfrm>
            <a:off x="733349" y="6489497"/>
            <a:ext cx="24725" cy="24725"/>
          </a:xfrm>
          <a:prstGeom prst="rect">
            <a:avLst/>
          </a:prstGeom>
          <a:solidFill>
            <a:srgbClr val="1C2024"/>
          </a:solidFill>
          <a:ln w="12700">
            <a:solidFill>
              <a:srgbClr val="1C2024"/>
            </a:solidFill>
            <a:prstDash val="solid"/>
          </a:ln>
        </p:spPr>
      </p:sp>
      <p:sp>
        <p:nvSpPr>
          <p:cNvPr id="51" name="Shape 48"/>
          <p:cNvSpPr/>
          <p:nvPr/>
        </p:nvSpPr>
        <p:spPr>
          <a:xfrm>
            <a:off x="757123" y="6489497"/>
            <a:ext cx="24725" cy="24725"/>
          </a:xfrm>
          <a:prstGeom prst="rect">
            <a:avLst/>
          </a:prstGeom>
          <a:solidFill>
            <a:srgbClr val="1C2024"/>
          </a:solidFill>
          <a:ln w="12700">
            <a:solidFill>
              <a:srgbClr val="1C2024"/>
            </a:solidFill>
            <a:prstDash val="solid"/>
          </a:ln>
        </p:spPr>
      </p:sp>
      <p:sp>
        <p:nvSpPr>
          <p:cNvPr id="52" name="Shape 49"/>
          <p:cNvSpPr/>
          <p:nvPr/>
        </p:nvSpPr>
        <p:spPr>
          <a:xfrm>
            <a:off x="638251" y="6513271"/>
            <a:ext cx="24725" cy="24725"/>
          </a:xfrm>
          <a:prstGeom prst="rect">
            <a:avLst/>
          </a:prstGeom>
          <a:solidFill>
            <a:srgbClr val="1C2024"/>
          </a:solidFill>
          <a:ln w="12700">
            <a:solidFill>
              <a:srgbClr val="1C2024"/>
            </a:solidFill>
            <a:prstDash val="solid"/>
          </a:ln>
        </p:spPr>
      </p:sp>
      <p:sp>
        <p:nvSpPr>
          <p:cNvPr id="53" name="Shape 50"/>
          <p:cNvSpPr/>
          <p:nvPr/>
        </p:nvSpPr>
        <p:spPr>
          <a:xfrm>
            <a:off x="662026" y="6513271"/>
            <a:ext cx="24725" cy="24725"/>
          </a:xfrm>
          <a:prstGeom prst="rect">
            <a:avLst/>
          </a:prstGeom>
          <a:solidFill>
            <a:srgbClr val="1C2024"/>
          </a:solidFill>
          <a:ln w="12700">
            <a:solidFill>
              <a:srgbClr val="1C2024"/>
            </a:solidFill>
            <a:prstDash val="solid"/>
          </a:ln>
        </p:spPr>
      </p:sp>
      <p:sp>
        <p:nvSpPr>
          <p:cNvPr id="54" name="Shape 51"/>
          <p:cNvSpPr/>
          <p:nvPr/>
        </p:nvSpPr>
        <p:spPr>
          <a:xfrm>
            <a:off x="685800" y="6513271"/>
            <a:ext cx="24725" cy="24725"/>
          </a:xfrm>
          <a:prstGeom prst="rect">
            <a:avLst/>
          </a:prstGeom>
          <a:solidFill>
            <a:srgbClr val="1C2024"/>
          </a:solidFill>
          <a:ln w="12700">
            <a:solidFill>
              <a:srgbClr val="1C2024"/>
            </a:solidFill>
            <a:prstDash val="solid"/>
          </a:ln>
        </p:spPr>
      </p:sp>
      <p:sp>
        <p:nvSpPr>
          <p:cNvPr id="55" name="Shape 52"/>
          <p:cNvSpPr/>
          <p:nvPr/>
        </p:nvSpPr>
        <p:spPr>
          <a:xfrm>
            <a:off x="709574" y="6513271"/>
            <a:ext cx="24725" cy="24725"/>
          </a:xfrm>
          <a:prstGeom prst="rect">
            <a:avLst/>
          </a:prstGeom>
          <a:solidFill>
            <a:srgbClr val="1C2024"/>
          </a:solidFill>
          <a:ln w="12700">
            <a:solidFill>
              <a:srgbClr val="1C2024"/>
            </a:solidFill>
            <a:prstDash val="solid"/>
          </a:ln>
        </p:spPr>
      </p:sp>
      <p:sp>
        <p:nvSpPr>
          <p:cNvPr id="56" name="Shape 53"/>
          <p:cNvSpPr/>
          <p:nvPr/>
        </p:nvSpPr>
        <p:spPr>
          <a:xfrm>
            <a:off x="733349" y="6513271"/>
            <a:ext cx="24725" cy="24725"/>
          </a:xfrm>
          <a:prstGeom prst="rect">
            <a:avLst/>
          </a:prstGeom>
          <a:solidFill>
            <a:srgbClr val="1C2024"/>
          </a:solidFill>
          <a:ln w="12700">
            <a:solidFill>
              <a:srgbClr val="1C2024"/>
            </a:solidFill>
            <a:prstDash val="solid"/>
          </a:ln>
        </p:spPr>
      </p:sp>
      <p:sp>
        <p:nvSpPr>
          <p:cNvPr id="57" name="Shape 54"/>
          <p:cNvSpPr/>
          <p:nvPr/>
        </p:nvSpPr>
        <p:spPr>
          <a:xfrm>
            <a:off x="662026" y="6537046"/>
            <a:ext cx="24725" cy="24725"/>
          </a:xfrm>
          <a:prstGeom prst="rect">
            <a:avLst/>
          </a:prstGeom>
          <a:solidFill>
            <a:srgbClr val="1C2024"/>
          </a:solidFill>
          <a:ln w="12700">
            <a:solidFill>
              <a:srgbClr val="1C2024"/>
            </a:solidFill>
            <a:prstDash val="solid"/>
          </a:ln>
        </p:spPr>
      </p:sp>
      <p:sp>
        <p:nvSpPr>
          <p:cNvPr id="58" name="Shape 55"/>
          <p:cNvSpPr/>
          <p:nvPr/>
        </p:nvSpPr>
        <p:spPr>
          <a:xfrm>
            <a:off x="685800" y="6537046"/>
            <a:ext cx="24725" cy="24725"/>
          </a:xfrm>
          <a:prstGeom prst="rect">
            <a:avLst/>
          </a:prstGeom>
          <a:solidFill>
            <a:srgbClr val="1C2024"/>
          </a:solidFill>
          <a:ln w="12700">
            <a:solidFill>
              <a:srgbClr val="1C2024"/>
            </a:solidFill>
            <a:prstDash val="solid"/>
          </a:ln>
        </p:spPr>
      </p:sp>
      <p:sp>
        <p:nvSpPr>
          <p:cNvPr id="59" name="Shape 56"/>
          <p:cNvSpPr/>
          <p:nvPr/>
        </p:nvSpPr>
        <p:spPr>
          <a:xfrm>
            <a:off x="709574" y="6537046"/>
            <a:ext cx="24725" cy="24725"/>
          </a:xfrm>
          <a:prstGeom prst="rect">
            <a:avLst/>
          </a:prstGeom>
          <a:solidFill>
            <a:srgbClr val="1C2024"/>
          </a:solidFill>
          <a:ln w="12700">
            <a:solidFill>
              <a:srgbClr val="1C2024"/>
            </a:solidFill>
            <a:prstDash val="solid"/>
          </a:ln>
        </p:spPr>
      </p:sp>
      <p:sp>
        <p:nvSpPr>
          <p:cNvPr id="60" name="Shape 57"/>
          <p:cNvSpPr/>
          <p:nvPr/>
        </p:nvSpPr>
        <p:spPr>
          <a:xfrm>
            <a:off x="685800" y="6560820"/>
            <a:ext cx="24725" cy="24725"/>
          </a:xfrm>
          <a:prstGeom prst="rect">
            <a:avLst/>
          </a:prstGeom>
          <a:solidFill>
            <a:srgbClr val="1C2024"/>
          </a:solidFill>
          <a:ln w="12700">
            <a:solidFill>
              <a:srgbClr val="1C2024"/>
            </a:solidFill>
            <a:prstDash val="solid"/>
          </a:ln>
        </p:spPr>
      </p:sp>
      <p:sp>
        <p:nvSpPr>
          <p:cNvPr id="61" name="Text 58"/>
          <p:cNvSpPr/>
          <p:nvPr/>
        </p:nvSpPr>
        <p:spPr>
          <a:xfrm>
            <a:off x="914400" y="6391656"/>
            <a:ext cx="1828800" cy="219456"/>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AIRHOP</a:t>
            </a:r>
            <a:endParaRPr lang="en-US" sz="800" dirty="0"/>
          </a:p>
        </p:txBody>
      </p:sp>
      <p:sp>
        <p:nvSpPr>
          <p:cNvPr id="62" name="Text 59"/>
          <p:cNvSpPr/>
          <p:nvPr/>
        </p:nvSpPr>
        <p:spPr>
          <a:xfrm>
            <a:off x="9795967" y="6391656"/>
            <a:ext cx="1828800" cy="219456"/>
          </a:xfrm>
          <a:prstGeom prst="rect">
            <a:avLst/>
          </a:prstGeom>
          <a:noFill/>
          <a:ln/>
        </p:spPr>
        <p:txBody>
          <a:bodyPr wrap="square" lIns="0" tIns="0" rIns="0" bIns="0" rtlCol="0" anchor="ctr"/>
          <a:lstStyle/>
          <a:p>
            <a:pPr algn="r" indent="0" marL="0">
              <a:buNone/>
            </a:pPr>
            <a:r>
              <a:rPr lang="en-US" sz="800" dirty="0">
                <a:solidFill>
                  <a:srgbClr val="6E7178"/>
                </a:solidFill>
                <a:latin typeface="Consolas" pitchFamily="34" charset="0"/>
                <a:ea typeface="Consolas" pitchFamily="34" charset="-122"/>
                <a:cs typeface="Consolas" pitchFamily="34" charset="-120"/>
              </a:rPr>
              <a:t>A1 / A3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head#698"/>
          <p:cNvSpPr/>
          <p:nvPr/>
        </p:nvSpPr>
        <p:spPr>
          <a:xfrm>
            <a:off x="566928" y="402336"/>
            <a:ext cx="11057839" cy="182880"/>
          </a:xfrm>
          <a:prstGeom prst="rect">
            <a:avLst/>
          </a:prstGeom>
          <a:noFill/>
          <a:ln/>
        </p:spPr>
        <p:txBody>
          <a:bodyPr wrap="square" lIns="0" tIns="0" rIns="0" bIns="0" rtlCol="0" anchor="ctr"/>
          <a:lstStyle/>
          <a:p>
            <a:pPr indent="0" marL="0">
              <a:buNone/>
            </a:pPr>
            <a:r>
              <a:rPr lang="en-US" sz="900" b="1" spc="160" kern="0" dirty="0">
                <a:solidFill>
                  <a:srgbClr val="60646C"/>
                </a:solidFill>
                <a:latin typeface="Consolas" pitchFamily="34" charset="0"/>
                <a:ea typeface="Consolas" pitchFamily="34" charset="-122"/>
                <a:cs typeface="Consolas" pitchFamily="34" charset="-120"/>
              </a:rPr>
              <a:t>APPENDIX · ROADMAP</a:t>
            </a:r>
            <a:endParaRPr lang="en-US" sz="900" dirty="0"/>
          </a:p>
        </p:txBody>
      </p:sp>
      <p:sp>
        <p:nvSpPr>
          <p:cNvPr id="3" name="head#699"/>
          <p:cNvSpPr/>
          <p:nvPr/>
        </p:nvSpPr>
        <p:spPr>
          <a:xfrm>
            <a:off x="566928" y="658368"/>
            <a:ext cx="11057839" cy="872338"/>
          </a:xfrm>
          <a:prstGeom prst="rect">
            <a:avLst/>
          </a:prstGeom>
          <a:noFill/>
          <a:ln/>
        </p:spPr>
        <p:txBody>
          <a:bodyPr wrap="square" lIns="0" tIns="0" rIns="0" bIns="0" rtlCol="0" anchor="t"/>
          <a:lstStyle/>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Six versions done.</a:t>
            </a:r>
            <a:endParaRPr lang="en-US" sz="2700" dirty="0"/>
          </a:p>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Ten written down.</a:t>
            </a:r>
            <a:endParaRPr lang="en-US" sz="2700" dirty="0"/>
          </a:p>
        </p:txBody>
      </p:sp>
      <p:sp>
        <p:nvSpPr>
          <p:cNvPr id="4" name="head#700"/>
          <p:cNvSpPr/>
          <p:nvPr/>
        </p:nvSpPr>
        <p:spPr>
          <a:xfrm>
            <a:off x="566928" y="1677010"/>
            <a:ext cx="7680960" cy="515112"/>
          </a:xfrm>
          <a:prstGeom prst="rect">
            <a:avLst/>
          </a:prstGeom>
          <a:noFill/>
          <a:ln/>
        </p:spPr>
        <p:txBody>
          <a:bodyPr wrap="square" lIns="0" tIns="0" rIns="0" bIns="0" rtlCol="0" anchor="t"/>
          <a:lstStyle/>
          <a:p>
            <a:pPr indent="0" marL="0">
              <a:lnSpc>
                <a:spcPct val="130000"/>
              </a:lnSpc>
              <a:buNone/>
            </a:pPr>
            <a:r>
              <a:rPr lang="en-US" sz="1300" dirty="0">
                <a:solidFill>
                  <a:srgbClr val="60646C"/>
                </a:solidFill>
                <a:latin typeface="Segoe UI" pitchFamily="34" charset="0"/>
                <a:ea typeface="Segoe UI" pitchFamily="34" charset="-122"/>
                <a:cs typeface="Segoe UI" pitchFamily="34" charset="-120"/>
              </a:rPr>
              <a:t>The version targets have been in the repository since before the first line of code, and the audit at v1.9.0 is deliberately after the SDK, so the public API is inside its scope.</a:t>
            </a:r>
            <a:endParaRPr lang="en-US" sz="1300" dirty="0"/>
          </a:p>
        </p:txBody>
      </p:sp>
      <p:sp>
        <p:nvSpPr>
          <p:cNvPr id="5" name="head#701"/>
          <p:cNvSpPr/>
          <p:nvPr/>
        </p:nvSpPr>
        <p:spPr>
          <a:xfrm>
            <a:off x="7967167" y="402336"/>
            <a:ext cx="3657600" cy="182880"/>
          </a:xfrm>
          <a:prstGeom prst="rect">
            <a:avLst/>
          </a:prstGeom>
          <a:noFill/>
          <a:ln/>
        </p:spPr>
        <p:txBody>
          <a:bodyPr wrap="square" lIns="0" tIns="0" rIns="0" bIns="0" rtlCol="0" anchor="ctr"/>
          <a:lstStyle/>
          <a:p>
            <a:pPr algn="r" indent="0" marL="0">
              <a:buNone/>
            </a:pPr>
            <a:r>
              <a:rPr lang="en-US" sz="800" b="1" u="sng" dirty="0">
                <a:solidFill>
                  <a:srgbClr val="6E7178"/>
                </a:solidFill>
                <a:latin typeface="Consolas" pitchFamily="34" charset="0"/>
                <a:ea typeface="Consolas" pitchFamily="34" charset="-122"/>
                <a:cs typeface="Consolas" pitchFamily="34" charset="-120"/>
                <a:hlinkClick r:id="rId1" invalidUrl="" action="" tgtFrame="" tooltip="docs/design/ROADMAP.md" history="1" highlightClick="0" endSnd="0">
                  <a:extLst>
                    <a:ext uri="{A12FA001-AC4F-418D-AE19-62706E023703}">
                      <ahyp:hlinkClr xmlns:ahyp="http://schemas.microsoft.com/office/drawing/2018/hyperlinkcolor" val="tx"/>
                    </a:ext>
                  </a:extLst>
                </a:hlinkClick>
              </a:rPr>
              <a:t>docs/design/ROADMAP.md</a:t>
            </a:r>
            <a:endParaRPr lang="en-US" sz="800" dirty="0"/>
          </a:p>
        </p:txBody>
      </p:sp>
      <p:sp>
        <p:nvSpPr>
          <p:cNvPr id="6" name="done#702"/>
          <p:cNvSpPr/>
          <p:nvPr/>
        </p:nvSpPr>
        <p:spPr>
          <a:xfrm>
            <a:off x="566928" y="2286000"/>
            <a:ext cx="11057839" cy="548640"/>
          </a:xfrm>
          <a:prstGeom prst="roundRect">
            <a:avLst>
              <a:gd name="adj" fmla="val 18333"/>
            </a:avLst>
          </a:prstGeom>
          <a:solidFill>
            <a:srgbClr val="F9F9FB"/>
          </a:solidFill>
          <a:ln w="9525">
            <a:solidFill>
              <a:srgbClr val="D9D9E0"/>
            </a:solidFill>
            <a:prstDash val="solid"/>
          </a:ln>
        </p:spPr>
      </p:sp>
      <p:sp>
        <p:nvSpPr>
          <p:cNvPr id="7" name="done#703"/>
          <p:cNvSpPr/>
          <p:nvPr/>
        </p:nvSpPr>
        <p:spPr>
          <a:xfrm>
            <a:off x="841248" y="2286000"/>
            <a:ext cx="914400" cy="548640"/>
          </a:xfrm>
          <a:prstGeom prst="rect">
            <a:avLst/>
          </a:prstGeom>
          <a:noFill/>
          <a:ln/>
        </p:spPr>
        <p:txBody>
          <a:bodyPr wrap="square" lIns="0" tIns="0" rIns="0" bIns="0" rtlCol="0" anchor="ctr"/>
          <a:lstStyle/>
          <a:p>
            <a:pPr indent="0" marL="0">
              <a:buNone/>
            </a:pPr>
            <a:r>
              <a:rPr lang="en-US" sz="800" b="1" spc="140" kern="0" dirty="0">
                <a:solidFill>
                  <a:srgbClr val="6E7178"/>
                </a:solidFill>
                <a:latin typeface="Consolas" pitchFamily="34" charset="0"/>
                <a:ea typeface="Consolas" pitchFamily="34" charset="-122"/>
                <a:cs typeface="Consolas" pitchFamily="34" charset="-120"/>
              </a:rPr>
              <a:t>SHIPPED</a:t>
            </a:r>
            <a:endParaRPr lang="en-US" sz="800" dirty="0"/>
          </a:p>
        </p:txBody>
      </p:sp>
      <p:sp>
        <p:nvSpPr>
          <p:cNvPr id="8" name="done#704"/>
          <p:cNvSpPr/>
          <p:nvPr/>
        </p:nvSpPr>
        <p:spPr>
          <a:xfrm>
            <a:off x="1810512" y="2441448"/>
            <a:ext cx="1261872" cy="237744"/>
          </a:xfrm>
          <a:prstGeom prst="roundRect">
            <a:avLst>
              <a:gd name="adj" fmla="val 50000"/>
            </a:avLst>
          </a:prstGeom>
          <a:solidFill>
            <a:srgbClr val="FFFFFF"/>
          </a:solidFill>
          <a:ln w="9525">
            <a:solidFill>
              <a:srgbClr val="FFFFFF"/>
            </a:solidFill>
            <a:prstDash val="solid"/>
          </a:ln>
        </p:spPr>
      </p:sp>
      <p:sp>
        <p:nvSpPr>
          <p:cNvPr id="9" name="done#705"/>
          <p:cNvSpPr/>
          <p:nvPr/>
        </p:nvSpPr>
        <p:spPr>
          <a:xfrm>
            <a:off x="1810512" y="2441448"/>
            <a:ext cx="1261872"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V0.5 FOUNDATION</a:t>
            </a:r>
            <a:endParaRPr lang="en-US" sz="800" dirty="0"/>
          </a:p>
        </p:txBody>
      </p:sp>
      <p:sp>
        <p:nvSpPr>
          <p:cNvPr id="10" name="done#706"/>
          <p:cNvSpPr/>
          <p:nvPr/>
        </p:nvSpPr>
        <p:spPr>
          <a:xfrm>
            <a:off x="3218688" y="2441448"/>
            <a:ext cx="1196035" cy="237744"/>
          </a:xfrm>
          <a:prstGeom prst="roundRect">
            <a:avLst>
              <a:gd name="adj" fmla="val 50000"/>
            </a:avLst>
          </a:prstGeom>
          <a:solidFill>
            <a:srgbClr val="FFFFFF"/>
          </a:solidFill>
          <a:ln w="9525">
            <a:solidFill>
              <a:srgbClr val="FFFFFF"/>
            </a:solidFill>
            <a:prstDash val="solid"/>
          </a:ln>
        </p:spPr>
      </p:sp>
      <p:sp>
        <p:nvSpPr>
          <p:cNvPr id="11" name="done#707"/>
          <p:cNvSpPr/>
          <p:nvPr/>
        </p:nvSpPr>
        <p:spPr>
          <a:xfrm>
            <a:off x="3218688" y="2441448"/>
            <a:ext cx="1196035"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V0.6 MESSAGING</a:t>
            </a:r>
            <a:endParaRPr lang="en-US" sz="800" dirty="0"/>
          </a:p>
        </p:txBody>
      </p:sp>
      <p:sp>
        <p:nvSpPr>
          <p:cNvPr id="12" name="done#708"/>
          <p:cNvSpPr/>
          <p:nvPr/>
        </p:nvSpPr>
        <p:spPr>
          <a:xfrm>
            <a:off x="4561027" y="2441448"/>
            <a:ext cx="1459382" cy="237744"/>
          </a:xfrm>
          <a:prstGeom prst="roundRect">
            <a:avLst>
              <a:gd name="adj" fmla="val 50000"/>
            </a:avLst>
          </a:prstGeom>
          <a:solidFill>
            <a:srgbClr val="FFFFFF"/>
          </a:solidFill>
          <a:ln w="9525">
            <a:solidFill>
              <a:srgbClr val="FFFFFF"/>
            </a:solidFill>
            <a:prstDash val="solid"/>
          </a:ln>
        </p:spPr>
      </p:sp>
      <p:sp>
        <p:nvSpPr>
          <p:cNvPr id="13" name="done#709"/>
          <p:cNvSpPr/>
          <p:nvPr/>
        </p:nvSpPr>
        <p:spPr>
          <a:xfrm>
            <a:off x="4561027" y="2441448"/>
            <a:ext cx="1459382"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V0.7 NOSTR + VOICE</a:t>
            </a:r>
            <a:endParaRPr lang="en-US" sz="800" dirty="0"/>
          </a:p>
        </p:txBody>
      </p:sp>
      <p:sp>
        <p:nvSpPr>
          <p:cNvPr id="14" name="done#710"/>
          <p:cNvSpPr/>
          <p:nvPr/>
        </p:nvSpPr>
        <p:spPr>
          <a:xfrm>
            <a:off x="6166714" y="2441448"/>
            <a:ext cx="1064362" cy="237744"/>
          </a:xfrm>
          <a:prstGeom prst="roundRect">
            <a:avLst>
              <a:gd name="adj" fmla="val 50000"/>
            </a:avLst>
          </a:prstGeom>
          <a:solidFill>
            <a:srgbClr val="FFFFFF"/>
          </a:solidFill>
          <a:ln w="9525">
            <a:solidFill>
              <a:srgbClr val="FFFFFF"/>
            </a:solidFill>
            <a:prstDash val="solid"/>
          </a:ln>
        </p:spPr>
      </p:sp>
      <p:sp>
        <p:nvSpPr>
          <p:cNvPr id="15" name="done#711"/>
          <p:cNvSpPr/>
          <p:nvPr/>
        </p:nvSpPr>
        <p:spPr>
          <a:xfrm>
            <a:off x="6166714" y="2441448"/>
            <a:ext cx="1064362"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V0.8 RATCHET</a:t>
            </a:r>
            <a:endParaRPr lang="en-US" sz="800" dirty="0"/>
          </a:p>
        </p:txBody>
      </p:sp>
      <p:sp>
        <p:nvSpPr>
          <p:cNvPr id="16" name="done#712"/>
          <p:cNvSpPr/>
          <p:nvPr/>
        </p:nvSpPr>
        <p:spPr>
          <a:xfrm>
            <a:off x="7377379" y="2441448"/>
            <a:ext cx="998525" cy="237744"/>
          </a:xfrm>
          <a:prstGeom prst="roundRect">
            <a:avLst>
              <a:gd name="adj" fmla="val 50000"/>
            </a:avLst>
          </a:prstGeom>
          <a:solidFill>
            <a:srgbClr val="FFFFFF"/>
          </a:solidFill>
          <a:ln w="9525">
            <a:solidFill>
              <a:srgbClr val="FFFFFF"/>
            </a:solidFill>
            <a:prstDash val="solid"/>
          </a:ln>
        </p:spPr>
      </p:sp>
      <p:sp>
        <p:nvSpPr>
          <p:cNvPr id="17" name="done#713"/>
          <p:cNvSpPr/>
          <p:nvPr/>
        </p:nvSpPr>
        <p:spPr>
          <a:xfrm>
            <a:off x="7377379" y="2441448"/>
            <a:ext cx="998525"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V0.9 WALLET</a:t>
            </a:r>
            <a:endParaRPr lang="en-US" sz="800" dirty="0"/>
          </a:p>
        </p:txBody>
      </p:sp>
      <p:sp>
        <p:nvSpPr>
          <p:cNvPr id="18" name="done#714"/>
          <p:cNvSpPr/>
          <p:nvPr/>
        </p:nvSpPr>
        <p:spPr>
          <a:xfrm>
            <a:off x="8522208" y="2441448"/>
            <a:ext cx="1064362" cy="237744"/>
          </a:xfrm>
          <a:prstGeom prst="roundRect">
            <a:avLst>
              <a:gd name="adj" fmla="val 50000"/>
            </a:avLst>
          </a:prstGeom>
          <a:solidFill>
            <a:srgbClr val="FFFFFF"/>
          </a:solidFill>
          <a:ln w="9525">
            <a:solidFill>
              <a:srgbClr val="FFFFFF"/>
            </a:solidFill>
            <a:prstDash val="solid"/>
          </a:ln>
        </p:spPr>
      </p:sp>
      <p:sp>
        <p:nvSpPr>
          <p:cNvPr id="19" name="done#715"/>
          <p:cNvSpPr/>
          <p:nvPr/>
        </p:nvSpPr>
        <p:spPr>
          <a:xfrm>
            <a:off x="8522208" y="2441448"/>
            <a:ext cx="1064362" cy="237744"/>
          </a:xfrm>
          <a:prstGeom prst="rect">
            <a:avLst/>
          </a:prstGeom>
          <a:noFill/>
          <a:ln/>
        </p:spPr>
        <p:txBody>
          <a:bodyPr wrap="square" lIns="0" tIns="0" rIns="0" bIns="0" rtlCol="0" anchor="ctr"/>
          <a:lstStyle/>
          <a:p>
            <a:pPr algn="ctr" indent="0" marL="0">
              <a:buNone/>
            </a:pPr>
            <a:r>
              <a:rPr lang="en-US" sz="800" b="1" spc="80" kern="0" dirty="0">
                <a:solidFill>
                  <a:srgbClr val="1C2024"/>
                </a:solidFill>
                <a:latin typeface="Consolas" pitchFamily="34" charset="0"/>
                <a:ea typeface="Consolas" pitchFamily="34" charset="-122"/>
                <a:cs typeface="Consolas" pitchFamily="34" charset="-120"/>
              </a:rPr>
              <a:t>V1.0 RELEASE</a:t>
            </a:r>
            <a:endParaRPr lang="en-US" sz="800" dirty="0"/>
          </a:p>
        </p:txBody>
      </p:sp>
      <p:sp>
        <p:nvSpPr>
          <p:cNvPr id="20" name="rm0#716"/>
          <p:cNvSpPr/>
          <p:nvPr/>
        </p:nvSpPr>
        <p:spPr>
          <a:xfrm>
            <a:off x="566928" y="3108960"/>
            <a:ext cx="2036003" cy="1188720"/>
          </a:xfrm>
          <a:prstGeom prst="roundRect">
            <a:avLst>
              <a:gd name="adj" fmla="val 8462"/>
            </a:avLst>
          </a:prstGeom>
          <a:solidFill>
            <a:srgbClr val="FCFCFD"/>
          </a:solidFill>
          <a:ln w="9525">
            <a:solidFill>
              <a:srgbClr val="D9D9E0"/>
            </a:solidFill>
            <a:prstDash val="solid"/>
          </a:ln>
        </p:spPr>
      </p:sp>
      <p:sp>
        <p:nvSpPr>
          <p:cNvPr id="21" name="rm0#717"/>
          <p:cNvSpPr/>
          <p:nvPr/>
        </p:nvSpPr>
        <p:spPr>
          <a:xfrm>
            <a:off x="804672" y="3273552"/>
            <a:ext cx="1560515" cy="219456"/>
          </a:xfrm>
          <a:prstGeom prst="rect">
            <a:avLst/>
          </a:prstGeom>
          <a:noFill/>
          <a:ln/>
        </p:spPr>
        <p:txBody>
          <a:bodyPr wrap="square" lIns="0" tIns="0" rIns="0" bIns="0" rtlCol="0" anchor="ctr"/>
          <a:lstStyle/>
          <a:p>
            <a:pPr indent="0" marL="0">
              <a:buNone/>
            </a:pPr>
            <a:r>
              <a:rPr lang="en-US" sz="950" b="1" dirty="0">
                <a:solidFill>
                  <a:srgbClr val="6E7178"/>
                </a:solidFill>
                <a:latin typeface="Consolas" pitchFamily="34" charset="0"/>
                <a:ea typeface="Consolas" pitchFamily="34" charset="-122"/>
                <a:cs typeface="Consolas" pitchFamily="34" charset="-120"/>
              </a:rPr>
              <a:t>v1.1</a:t>
            </a:r>
            <a:endParaRPr lang="en-US" sz="950" dirty="0"/>
          </a:p>
        </p:txBody>
      </p:sp>
      <p:sp>
        <p:nvSpPr>
          <p:cNvPr id="22" name="rm0#718"/>
          <p:cNvSpPr/>
          <p:nvPr/>
        </p:nvSpPr>
        <p:spPr>
          <a:xfrm>
            <a:off x="804672" y="3511296"/>
            <a:ext cx="1560515" cy="256032"/>
          </a:xfrm>
          <a:prstGeom prst="rect">
            <a:avLst/>
          </a:prstGeom>
          <a:noFill/>
          <a:ln/>
        </p:spPr>
        <p:txBody>
          <a:bodyPr wrap="square" lIns="0" tIns="0" rIns="0" bIns="0" rtlCol="0" anchor="ctr"/>
          <a:lstStyle/>
          <a:p>
            <a:pPr indent="0" marL="0">
              <a:buNone/>
            </a:pPr>
            <a:r>
              <a:rPr lang="en-US" sz="1250" b="1" dirty="0">
                <a:solidFill>
                  <a:srgbClr val="1C2024"/>
                </a:solidFill>
                <a:latin typeface="Segoe UI" pitchFamily="34" charset="0"/>
                <a:ea typeface="Segoe UI" pitchFamily="34" charset="-122"/>
                <a:cs typeface="Segoe UI" pitchFamily="34" charset="-120"/>
              </a:rPr>
              <a:t>Offline AI</a:t>
            </a:r>
            <a:endParaRPr lang="en-US" sz="1250" dirty="0"/>
          </a:p>
        </p:txBody>
      </p:sp>
      <p:sp>
        <p:nvSpPr>
          <p:cNvPr id="23" name="rm0#719"/>
          <p:cNvSpPr/>
          <p:nvPr/>
        </p:nvSpPr>
        <p:spPr>
          <a:xfrm>
            <a:off x="804672" y="3803904"/>
            <a:ext cx="1560515" cy="0"/>
          </a:xfrm>
          <a:prstGeom prst="line">
            <a:avLst/>
          </a:prstGeom>
          <a:noFill/>
          <a:ln w="9525">
            <a:solidFill>
              <a:srgbClr val="D9D9E0"/>
            </a:solidFill>
            <a:prstDash val="solid"/>
          </a:ln>
        </p:spPr>
      </p:sp>
      <p:sp>
        <p:nvSpPr>
          <p:cNvPr id="24" name="rm0#720"/>
          <p:cNvSpPr/>
          <p:nvPr/>
        </p:nvSpPr>
        <p:spPr>
          <a:xfrm>
            <a:off x="804672" y="3895344"/>
            <a:ext cx="1560515" cy="32918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On-device model, no network call</a:t>
            </a:r>
            <a:endParaRPr lang="en-US" sz="950" dirty="0"/>
          </a:p>
        </p:txBody>
      </p:sp>
      <p:sp>
        <p:nvSpPr>
          <p:cNvPr id="25" name="rm1#721"/>
          <p:cNvSpPr/>
          <p:nvPr/>
        </p:nvSpPr>
        <p:spPr>
          <a:xfrm>
            <a:off x="2822387" y="3108960"/>
            <a:ext cx="2036003" cy="1188720"/>
          </a:xfrm>
          <a:prstGeom prst="roundRect">
            <a:avLst>
              <a:gd name="adj" fmla="val 8462"/>
            </a:avLst>
          </a:prstGeom>
          <a:solidFill>
            <a:srgbClr val="FCFCFD"/>
          </a:solidFill>
          <a:ln w="9525">
            <a:solidFill>
              <a:srgbClr val="D9D9E0"/>
            </a:solidFill>
            <a:prstDash val="solid"/>
          </a:ln>
        </p:spPr>
      </p:sp>
      <p:sp>
        <p:nvSpPr>
          <p:cNvPr id="26" name="rm1#722"/>
          <p:cNvSpPr/>
          <p:nvPr/>
        </p:nvSpPr>
        <p:spPr>
          <a:xfrm>
            <a:off x="3060131" y="3273552"/>
            <a:ext cx="1560515" cy="219456"/>
          </a:xfrm>
          <a:prstGeom prst="rect">
            <a:avLst/>
          </a:prstGeom>
          <a:noFill/>
          <a:ln/>
        </p:spPr>
        <p:txBody>
          <a:bodyPr wrap="square" lIns="0" tIns="0" rIns="0" bIns="0" rtlCol="0" anchor="ctr"/>
          <a:lstStyle/>
          <a:p>
            <a:pPr indent="0" marL="0">
              <a:buNone/>
            </a:pPr>
            <a:r>
              <a:rPr lang="en-US" sz="950" b="1" dirty="0">
                <a:solidFill>
                  <a:srgbClr val="6E7178"/>
                </a:solidFill>
                <a:latin typeface="Consolas" pitchFamily="34" charset="0"/>
                <a:ea typeface="Consolas" pitchFamily="34" charset="-122"/>
                <a:cs typeface="Consolas" pitchFamily="34" charset="-120"/>
              </a:rPr>
              <a:t>v1.2</a:t>
            </a:r>
            <a:endParaRPr lang="en-US" sz="950" dirty="0"/>
          </a:p>
        </p:txBody>
      </p:sp>
      <p:sp>
        <p:nvSpPr>
          <p:cNvPr id="27" name="rm1#723"/>
          <p:cNvSpPr/>
          <p:nvPr/>
        </p:nvSpPr>
        <p:spPr>
          <a:xfrm>
            <a:off x="3060131" y="3511296"/>
            <a:ext cx="1560515" cy="256032"/>
          </a:xfrm>
          <a:prstGeom prst="rect">
            <a:avLst/>
          </a:prstGeom>
          <a:noFill/>
          <a:ln/>
        </p:spPr>
        <p:txBody>
          <a:bodyPr wrap="square" lIns="0" tIns="0" rIns="0" bIns="0" rtlCol="0" anchor="ctr"/>
          <a:lstStyle/>
          <a:p>
            <a:pPr indent="0" marL="0">
              <a:buNone/>
            </a:pPr>
            <a:r>
              <a:rPr lang="en-US" sz="1250" b="1" dirty="0">
                <a:solidFill>
                  <a:srgbClr val="1C2024"/>
                </a:solidFill>
                <a:latin typeface="Segoe UI" pitchFamily="34" charset="0"/>
                <a:ea typeface="Segoe UI" pitchFamily="34" charset="-122"/>
                <a:cs typeface="Segoe UI" pitchFamily="34" charset="-120"/>
              </a:rPr>
              <a:t>Plugins</a:t>
            </a:r>
            <a:endParaRPr lang="en-US" sz="1250" dirty="0"/>
          </a:p>
        </p:txBody>
      </p:sp>
      <p:sp>
        <p:nvSpPr>
          <p:cNvPr id="28" name="rm1#724"/>
          <p:cNvSpPr/>
          <p:nvPr/>
        </p:nvSpPr>
        <p:spPr>
          <a:xfrm>
            <a:off x="3060131" y="3803904"/>
            <a:ext cx="1560515" cy="0"/>
          </a:xfrm>
          <a:prstGeom prst="line">
            <a:avLst/>
          </a:prstGeom>
          <a:noFill/>
          <a:ln w="9525">
            <a:solidFill>
              <a:srgbClr val="D9D9E0"/>
            </a:solidFill>
            <a:prstDash val="solid"/>
          </a:ln>
        </p:spPr>
      </p:sp>
      <p:sp>
        <p:nvSpPr>
          <p:cNvPr id="29" name="rm1#725"/>
          <p:cNvSpPr/>
          <p:nvPr/>
        </p:nvSpPr>
        <p:spPr>
          <a:xfrm>
            <a:off x="3060131" y="3895344"/>
            <a:ext cx="1560515" cy="32918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Bluesky, Mastodon, UPI, opt-in</a:t>
            </a:r>
            <a:endParaRPr lang="en-US" sz="950" dirty="0"/>
          </a:p>
        </p:txBody>
      </p:sp>
      <p:sp>
        <p:nvSpPr>
          <p:cNvPr id="30" name="rm2#726"/>
          <p:cNvSpPr/>
          <p:nvPr/>
        </p:nvSpPr>
        <p:spPr>
          <a:xfrm>
            <a:off x="5077846" y="3108960"/>
            <a:ext cx="2036003" cy="1188720"/>
          </a:xfrm>
          <a:prstGeom prst="roundRect">
            <a:avLst>
              <a:gd name="adj" fmla="val 8462"/>
            </a:avLst>
          </a:prstGeom>
          <a:solidFill>
            <a:srgbClr val="FCFCFD"/>
          </a:solidFill>
          <a:ln w="9525">
            <a:solidFill>
              <a:srgbClr val="D9D9E0"/>
            </a:solidFill>
            <a:prstDash val="solid"/>
          </a:ln>
        </p:spPr>
      </p:sp>
      <p:sp>
        <p:nvSpPr>
          <p:cNvPr id="31" name="rm2#727"/>
          <p:cNvSpPr/>
          <p:nvPr/>
        </p:nvSpPr>
        <p:spPr>
          <a:xfrm>
            <a:off x="5315590" y="3273552"/>
            <a:ext cx="1560515" cy="219456"/>
          </a:xfrm>
          <a:prstGeom prst="rect">
            <a:avLst/>
          </a:prstGeom>
          <a:noFill/>
          <a:ln/>
        </p:spPr>
        <p:txBody>
          <a:bodyPr wrap="square" lIns="0" tIns="0" rIns="0" bIns="0" rtlCol="0" anchor="ctr"/>
          <a:lstStyle/>
          <a:p>
            <a:pPr indent="0" marL="0">
              <a:buNone/>
            </a:pPr>
            <a:r>
              <a:rPr lang="en-US" sz="950" b="1" dirty="0">
                <a:solidFill>
                  <a:srgbClr val="6E7178"/>
                </a:solidFill>
                <a:latin typeface="Consolas" pitchFamily="34" charset="0"/>
                <a:ea typeface="Consolas" pitchFamily="34" charset="-122"/>
                <a:cs typeface="Consolas" pitchFamily="34" charset="-120"/>
              </a:rPr>
              <a:t>v1.3</a:t>
            </a:r>
            <a:endParaRPr lang="en-US" sz="950" dirty="0"/>
          </a:p>
        </p:txBody>
      </p:sp>
      <p:sp>
        <p:nvSpPr>
          <p:cNvPr id="32" name="rm2#728"/>
          <p:cNvSpPr/>
          <p:nvPr/>
        </p:nvSpPr>
        <p:spPr>
          <a:xfrm>
            <a:off x="5315590" y="3511296"/>
            <a:ext cx="1560515" cy="256032"/>
          </a:xfrm>
          <a:prstGeom prst="rect">
            <a:avLst/>
          </a:prstGeom>
          <a:noFill/>
          <a:ln/>
        </p:spPr>
        <p:txBody>
          <a:bodyPr wrap="square" lIns="0" tIns="0" rIns="0" bIns="0" rtlCol="0" anchor="ctr"/>
          <a:lstStyle/>
          <a:p>
            <a:pPr indent="0" marL="0">
              <a:buNone/>
            </a:pPr>
            <a:r>
              <a:rPr lang="en-US" sz="1250" b="1" dirty="0">
                <a:solidFill>
                  <a:srgbClr val="1C2024"/>
                </a:solidFill>
                <a:latin typeface="Segoe UI" pitchFamily="34" charset="0"/>
                <a:ea typeface="Segoe UI" pitchFamily="34" charset="-122"/>
                <a:cs typeface="Segoe UI" pitchFamily="34" charset="-120"/>
              </a:rPr>
              <a:t>Ten languages</a:t>
            </a:r>
            <a:endParaRPr lang="en-US" sz="1250" dirty="0"/>
          </a:p>
        </p:txBody>
      </p:sp>
      <p:sp>
        <p:nvSpPr>
          <p:cNvPr id="33" name="rm2#729"/>
          <p:cNvSpPr/>
          <p:nvPr/>
        </p:nvSpPr>
        <p:spPr>
          <a:xfrm>
            <a:off x="5315590" y="3803904"/>
            <a:ext cx="1560515" cy="0"/>
          </a:xfrm>
          <a:prstGeom prst="line">
            <a:avLst/>
          </a:prstGeom>
          <a:noFill/>
          <a:ln w="9525">
            <a:solidFill>
              <a:srgbClr val="D9D9E0"/>
            </a:solidFill>
            <a:prstDash val="solid"/>
          </a:ln>
        </p:spPr>
      </p:sp>
      <p:sp>
        <p:nvSpPr>
          <p:cNvPr id="34" name="rm2#730"/>
          <p:cNvSpPr/>
          <p:nvPr/>
        </p:nvSpPr>
        <p:spPr>
          <a:xfrm>
            <a:off x="5315590" y="3895344"/>
            <a:ext cx="1560515" cy="32918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Persian, Arabic, Hindi and more</a:t>
            </a:r>
            <a:endParaRPr lang="en-US" sz="950" dirty="0"/>
          </a:p>
        </p:txBody>
      </p:sp>
      <p:sp>
        <p:nvSpPr>
          <p:cNvPr id="35" name="rm3#731"/>
          <p:cNvSpPr/>
          <p:nvPr/>
        </p:nvSpPr>
        <p:spPr>
          <a:xfrm>
            <a:off x="7333305" y="3108960"/>
            <a:ext cx="2036003" cy="1188720"/>
          </a:xfrm>
          <a:prstGeom prst="roundRect">
            <a:avLst>
              <a:gd name="adj" fmla="val 8462"/>
            </a:avLst>
          </a:prstGeom>
          <a:solidFill>
            <a:srgbClr val="FCFCFD"/>
          </a:solidFill>
          <a:ln w="9525">
            <a:solidFill>
              <a:srgbClr val="D9D9E0"/>
            </a:solidFill>
            <a:prstDash val="solid"/>
          </a:ln>
        </p:spPr>
      </p:sp>
      <p:sp>
        <p:nvSpPr>
          <p:cNvPr id="36" name="rm3#732"/>
          <p:cNvSpPr/>
          <p:nvPr/>
        </p:nvSpPr>
        <p:spPr>
          <a:xfrm>
            <a:off x="7571049" y="3273552"/>
            <a:ext cx="1560515" cy="219456"/>
          </a:xfrm>
          <a:prstGeom prst="rect">
            <a:avLst/>
          </a:prstGeom>
          <a:noFill/>
          <a:ln/>
        </p:spPr>
        <p:txBody>
          <a:bodyPr wrap="square" lIns="0" tIns="0" rIns="0" bIns="0" rtlCol="0" anchor="ctr"/>
          <a:lstStyle/>
          <a:p>
            <a:pPr indent="0" marL="0">
              <a:buNone/>
            </a:pPr>
            <a:r>
              <a:rPr lang="en-US" sz="950" b="1" dirty="0">
                <a:solidFill>
                  <a:srgbClr val="6E7178"/>
                </a:solidFill>
                <a:latin typeface="Consolas" pitchFamily="34" charset="0"/>
                <a:ea typeface="Consolas" pitchFamily="34" charset="-122"/>
                <a:cs typeface="Consolas" pitchFamily="34" charset="-120"/>
              </a:rPr>
              <a:t>v1.4</a:t>
            </a:r>
            <a:endParaRPr lang="en-US" sz="950" dirty="0"/>
          </a:p>
        </p:txBody>
      </p:sp>
      <p:sp>
        <p:nvSpPr>
          <p:cNvPr id="37" name="rm3#733"/>
          <p:cNvSpPr/>
          <p:nvPr/>
        </p:nvSpPr>
        <p:spPr>
          <a:xfrm>
            <a:off x="7571049" y="3511296"/>
            <a:ext cx="1560515" cy="256032"/>
          </a:xfrm>
          <a:prstGeom prst="rect">
            <a:avLst/>
          </a:prstGeom>
          <a:noFill/>
          <a:ln/>
        </p:spPr>
        <p:txBody>
          <a:bodyPr wrap="square" lIns="0" tIns="0" rIns="0" bIns="0" rtlCol="0" anchor="ctr"/>
          <a:lstStyle/>
          <a:p>
            <a:pPr indent="0" marL="0">
              <a:buNone/>
            </a:pPr>
            <a:r>
              <a:rPr lang="en-US" sz="1250" b="1" dirty="0">
                <a:solidFill>
                  <a:srgbClr val="1C2024"/>
                </a:solidFill>
                <a:latin typeface="Segoe UI" pitchFamily="34" charset="0"/>
                <a:ea typeface="Segoe UI" pitchFamily="34" charset="-122"/>
                <a:cs typeface="Segoe UI" pitchFamily="34" charset="-120"/>
              </a:rPr>
              <a:t>Web</a:t>
            </a:r>
            <a:endParaRPr lang="en-US" sz="1250" dirty="0"/>
          </a:p>
        </p:txBody>
      </p:sp>
      <p:sp>
        <p:nvSpPr>
          <p:cNvPr id="38" name="rm3#734"/>
          <p:cNvSpPr/>
          <p:nvPr/>
        </p:nvSpPr>
        <p:spPr>
          <a:xfrm>
            <a:off x="7571049" y="3803904"/>
            <a:ext cx="1560515" cy="0"/>
          </a:xfrm>
          <a:prstGeom prst="line">
            <a:avLst/>
          </a:prstGeom>
          <a:noFill/>
          <a:ln w="9525">
            <a:solidFill>
              <a:srgbClr val="D9D9E0"/>
            </a:solidFill>
            <a:prstDash val="solid"/>
          </a:ln>
        </p:spPr>
      </p:sp>
      <p:sp>
        <p:nvSpPr>
          <p:cNvPr id="39" name="rm3#735"/>
          <p:cNvSpPr/>
          <p:nvPr/>
        </p:nvSpPr>
        <p:spPr>
          <a:xfrm>
            <a:off x="7571049" y="3895344"/>
            <a:ext cx="1560515" cy="32918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Nostr-only browser companion</a:t>
            </a:r>
            <a:endParaRPr lang="en-US" sz="950" dirty="0"/>
          </a:p>
        </p:txBody>
      </p:sp>
      <p:sp>
        <p:nvSpPr>
          <p:cNvPr id="40" name="rm4#736"/>
          <p:cNvSpPr/>
          <p:nvPr/>
        </p:nvSpPr>
        <p:spPr>
          <a:xfrm>
            <a:off x="9588764" y="3108960"/>
            <a:ext cx="2036003" cy="1188720"/>
          </a:xfrm>
          <a:prstGeom prst="roundRect">
            <a:avLst>
              <a:gd name="adj" fmla="val 8462"/>
            </a:avLst>
          </a:prstGeom>
          <a:solidFill>
            <a:srgbClr val="FCFCFD"/>
          </a:solidFill>
          <a:ln w="9525">
            <a:solidFill>
              <a:srgbClr val="D9D9E0"/>
            </a:solidFill>
            <a:prstDash val="solid"/>
          </a:ln>
        </p:spPr>
      </p:sp>
      <p:sp>
        <p:nvSpPr>
          <p:cNvPr id="41" name="rm4#737"/>
          <p:cNvSpPr/>
          <p:nvPr/>
        </p:nvSpPr>
        <p:spPr>
          <a:xfrm>
            <a:off x="9826508" y="3273552"/>
            <a:ext cx="1560515" cy="219456"/>
          </a:xfrm>
          <a:prstGeom prst="rect">
            <a:avLst/>
          </a:prstGeom>
          <a:noFill/>
          <a:ln/>
        </p:spPr>
        <p:txBody>
          <a:bodyPr wrap="square" lIns="0" tIns="0" rIns="0" bIns="0" rtlCol="0" anchor="ctr"/>
          <a:lstStyle/>
          <a:p>
            <a:pPr indent="0" marL="0">
              <a:buNone/>
            </a:pPr>
            <a:r>
              <a:rPr lang="en-US" sz="950" b="1" dirty="0">
                <a:solidFill>
                  <a:srgbClr val="6E7178"/>
                </a:solidFill>
                <a:latin typeface="Consolas" pitchFamily="34" charset="0"/>
                <a:ea typeface="Consolas" pitchFamily="34" charset="-122"/>
                <a:cs typeface="Consolas" pitchFamily="34" charset="-120"/>
              </a:rPr>
              <a:t>v1.5</a:t>
            </a:r>
            <a:endParaRPr lang="en-US" sz="950" dirty="0"/>
          </a:p>
        </p:txBody>
      </p:sp>
      <p:sp>
        <p:nvSpPr>
          <p:cNvPr id="42" name="rm4#738"/>
          <p:cNvSpPr/>
          <p:nvPr/>
        </p:nvSpPr>
        <p:spPr>
          <a:xfrm>
            <a:off x="9826508" y="3511296"/>
            <a:ext cx="1560515" cy="256032"/>
          </a:xfrm>
          <a:prstGeom prst="rect">
            <a:avLst/>
          </a:prstGeom>
          <a:noFill/>
          <a:ln/>
        </p:spPr>
        <p:txBody>
          <a:bodyPr wrap="square" lIns="0" tIns="0" rIns="0" bIns="0" rtlCol="0" anchor="ctr"/>
          <a:lstStyle/>
          <a:p>
            <a:pPr indent="0" marL="0">
              <a:buNone/>
            </a:pPr>
            <a:r>
              <a:rPr lang="en-US" sz="1250" b="1" dirty="0">
                <a:solidFill>
                  <a:srgbClr val="1C2024"/>
                </a:solidFill>
                <a:latin typeface="Segoe UI" pitchFamily="34" charset="0"/>
                <a:ea typeface="Segoe UI" pitchFamily="34" charset="-122"/>
                <a:cs typeface="Segoe UI" pitchFamily="34" charset="-120"/>
              </a:rPr>
              <a:t>CLI</a:t>
            </a:r>
            <a:endParaRPr lang="en-US" sz="1250" dirty="0"/>
          </a:p>
        </p:txBody>
      </p:sp>
      <p:sp>
        <p:nvSpPr>
          <p:cNvPr id="43" name="rm4#739"/>
          <p:cNvSpPr/>
          <p:nvPr/>
        </p:nvSpPr>
        <p:spPr>
          <a:xfrm>
            <a:off x="9826508" y="3803904"/>
            <a:ext cx="1560515" cy="0"/>
          </a:xfrm>
          <a:prstGeom prst="line">
            <a:avLst/>
          </a:prstGeom>
          <a:noFill/>
          <a:ln w="9525">
            <a:solidFill>
              <a:srgbClr val="D9D9E0"/>
            </a:solidFill>
            <a:prstDash val="solid"/>
          </a:ln>
        </p:spPr>
      </p:sp>
      <p:sp>
        <p:nvSpPr>
          <p:cNvPr id="44" name="rm4#740"/>
          <p:cNvSpPr/>
          <p:nvPr/>
        </p:nvSpPr>
        <p:spPr>
          <a:xfrm>
            <a:off x="9826508" y="3895344"/>
            <a:ext cx="1560515" cy="32918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Headless relay on a Raspberry Pi</a:t>
            </a:r>
            <a:endParaRPr lang="en-US" sz="950" dirty="0"/>
          </a:p>
        </p:txBody>
      </p:sp>
      <p:sp>
        <p:nvSpPr>
          <p:cNvPr id="45" name="rm5#741"/>
          <p:cNvSpPr/>
          <p:nvPr/>
        </p:nvSpPr>
        <p:spPr>
          <a:xfrm>
            <a:off x="566928" y="4425696"/>
            <a:ext cx="2036003" cy="1188720"/>
          </a:xfrm>
          <a:prstGeom prst="roundRect">
            <a:avLst>
              <a:gd name="adj" fmla="val 8462"/>
            </a:avLst>
          </a:prstGeom>
          <a:solidFill>
            <a:srgbClr val="FCFCFD"/>
          </a:solidFill>
          <a:ln w="9525">
            <a:solidFill>
              <a:srgbClr val="D9D9E0"/>
            </a:solidFill>
            <a:prstDash val="solid"/>
          </a:ln>
        </p:spPr>
      </p:sp>
      <p:sp>
        <p:nvSpPr>
          <p:cNvPr id="46" name="rm5#742"/>
          <p:cNvSpPr/>
          <p:nvPr/>
        </p:nvSpPr>
        <p:spPr>
          <a:xfrm>
            <a:off x="804672" y="4590288"/>
            <a:ext cx="1560515" cy="219456"/>
          </a:xfrm>
          <a:prstGeom prst="rect">
            <a:avLst/>
          </a:prstGeom>
          <a:noFill/>
          <a:ln/>
        </p:spPr>
        <p:txBody>
          <a:bodyPr wrap="square" lIns="0" tIns="0" rIns="0" bIns="0" rtlCol="0" anchor="ctr"/>
          <a:lstStyle/>
          <a:p>
            <a:pPr indent="0" marL="0">
              <a:buNone/>
            </a:pPr>
            <a:r>
              <a:rPr lang="en-US" sz="950" b="1" dirty="0">
                <a:solidFill>
                  <a:srgbClr val="6E7178"/>
                </a:solidFill>
                <a:latin typeface="Consolas" pitchFamily="34" charset="0"/>
                <a:ea typeface="Consolas" pitchFamily="34" charset="-122"/>
                <a:cs typeface="Consolas" pitchFamily="34" charset="-120"/>
              </a:rPr>
              <a:t>v1.6</a:t>
            </a:r>
            <a:endParaRPr lang="en-US" sz="950" dirty="0"/>
          </a:p>
        </p:txBody>
      </p:sp>
      <p:sp>
        <p:nvSpPr>
          <p:cNvPr id="47" name="rm5#743"/>
          <p:cNvSpPr/>
          <p:nvPr/>
        </p:nvSpPr>
        <p:spPr>
          <a:xfrm>
            <a:off x="804672" y="4828032"/>
            <a:ext cx="1560515" cy="256032"/>
          </a:xfrm>
          <a:prstGeom prst="rect">
            <a:avLst/>
          </a:prstGeom>
          <a:noFill/>
          <a:ln/>
        </p:spPr>
        <p:txBody>
          <a:bodyPr wrap="square" lIns="0" tIns="0" rIns="0" bIns="0" rtlCol="0" anchor="ctr"/>
          <a:lstStyle/>
          <a:p>
            <a:pPr indent="0" marL="0">
              <a:buNone/>
            </a:pPr>
            <a:r>
              <a:rPr lang="en-US" sz="1250" b="1" dirty="0">
                <a:solidFill>
                  <a:srgbClr val="1C2024"/>
                </a:solidFill>
                <a:latin typeface="Segoe UI" pitchFamily="34" charset="0"/>
                <a:ea typeface="Segoe UI" pitchFamily="34" charset="-122"/>
                <a:cs typeface="Segoe UI" pitchFamily="34" charset="-120"/>
              </a:rPr>
              <a:t>Watch</a:t>
            </a:r>
            <a:endParaRPr lang="en-US" sz="1250" dirty="0"/>
          </a:p>
        </p:txBody>
      </p:sp>
      <p:sp>
        <p:nvSpPr>
          <p:cNvPr id="48" name="rm5#744"/>
          <p:cNvSpPr/>
          <p:nvPr/>
        </p:nvSpPr>
        <p:spPr>
          <a:xfrm>
            <a:off x="804672" y="5120640"/>
            <a:ext cx="1560515" cy="0"/>
          </a:xfrm>
          <a:prstGeom prst="line">
            <a:avLst/>
          </a:prstGeom>
          <a:noFill/>
          <a:ln w="9525">
            <a:solidFill>
              <a:srgbClr val="D9D9E0"/>
            </a:solidFill>
            <a:prstDash val="solid"/>
          </a:ln>
        </p:spPr>
      </p:sp>
      <p:sp>
        <p:nvSpPr>
          <p:cNvPr id="49" name="rm5#745"/>
          <p:cNvSpPr/>
          <p:nvPr/>
        </p:nvSpPr>
        <p:spPr>
          <a:xfrm>
            <a:off x="804672" y="5212080"/>
            <a:ext cx="1560515" cy="32918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watchOS and Wear OS, wipe on the wrist</a:t>
            </a:r>
            <a:endParaRPr lang="en-US" sz="950" dirty="0"/>
          </a:p>
        </p:txBody>
      </p:sp>
      <p:sp>
        <p:nvSpPr>
          <p:cNvPr id="50" name="rm6#746"/>
          <p:cNvSpPr/>
          <p:nvPr/>
        </p:nvSpPr>
        <p:spPr>
          <a:xfrm>
            <a:off x="2822387" y="4425696"/>
            <a:ext cx="2036003" cy="1188720"/>
          </a:xfrm>
          <a:prstGeom prst="roundRect">
            <a:avLst>
              <a:gd name="adj" fmla="val 8462"/>
            </a:avLst>
          </a:prstGeom>
          <a:solidFill>
            <a:srgbClr val="FCFCFD"/>
          </a:solidFill>
          <a:ln w="9525">
            <a:solidFill>
              <a:srgbClr val="D9D9E0"/>
            </a:solidFill>
            <a:prstDash val="solid"/>
          </a:ln>
        </p:spPr>
      </p:sp>
      <p:sp>
        <p:nvSpPr>
          <p:cNvPr id="51" name="rm6#747"/>
          <p:cNvSpPr/>
          <p:nvPr/>
        </p:nvSpPr>
        <p:spPr>
          <a:xfrm>
            <a:off x="3060131" y="4590288"/>
            <a:ext cx="1560515" cy="219456"/>
          </a:xfrm>
          <a:prstGeom prst="rect">
            <a:avLst/>
          </a:prstGeom>
          <a:noFill/>
          <a:ln/>
        </p:spPr>
        <p:txBody>
          <a:bodyPr wrap="square" lIns="0" tIns="0" rIns="0" bIns="0" rtlCol="0" anchor="ctr"/>
          <a:lstStyle/>
          <a:p>
            <a:pPr indent="0" marL="0">
              <a:buNone/>
            </a:pPr>
            <a:r>
              <a:rPr lang="en-US" sz="950" b="1" dirty="0">
                <a:solidFill>
                  <a:srgbClr val="6E7178"/>
                </a:solidFill>
                <a:latin typeface="Consolas" pitchFamily="34" charset="0"/>
                <a:ea typeface="Consolas" pitchFamily="34" charset="-122"/>
                <a:cs typeface="Consolas" pitchFamily="34" charset="-120"/>
              </a:rPr>
              <a:t>v1.7</a:t>
            </a:r>
            <a:endParaRPr lang="en-US" sz="950" dirty="0"/>
          </a:p>
        </p:txBody>
      </p:sp>
      <p:sp>
        <p:nvSpPr>
          <p:cNvPr id="52" name="rm6#748"/>
          <p:cNvSpPr/>
          <p:nvPr/>
        </p:nvSpPr>
        <p:spPr>
          <a:xfrm>
            <a:off x="3060131" y="4828032"/>
            <a:ext cx="1560515" cy="256032"/>
          </a:xfrm>
          <a:prstGeom prst="rect">
            <a:avLst/>
          </a:prstGeom>
          <a:noFill/>
          <a:ln/>
        </p:spPr>
        <p:txBody>
          <a:bodyPr wrap="square" lIns="0" tIns="0" rIns="0" bIns="0" rtlCol="0" anchor="ctr"/>
          <a:lstStyle/>
          <a:p>
            <a:pPr indent="0" marL="0">
              <a:buNone/>
            </a:pPr>
            <a:r>
              <a:rPr lang="en-US" sz="1250" b="1" dirty="0">
                <a:solidFill>
                  <a:srgbClr val="1C2024"/>
                </a:solidFill>
                <a:latin typeface="Segoe UI" pitchFamily="34" charset="0"/>
                <a:ea typeface="Segoe UI" pitchFamily="34" charset="-122"/>
                <a:cs typeface="Segoe UI" pitchFamily="34" charset="-120"/>
              </a:rPr>
              <a:t>Desktop</a:t>
            </a:r>
            <a:endParaRPr lang="en-US" sz="1250" dirty="0"/>
          </a:p>
        </p:txBody>
      </p:sp>
      <p:sp>
        <p:nvSpPr>
          <p:cNvPr id="53" name="rm6#749"/>
          <p:cNvSpPr/>
          <p:nvPr/>
        </p:nvSpPr>
        <p:spPr>
          <a:xfrm>
            <a:off x="3060131" y="5120640"/>
            <a:ext cx="1560515" cy="0"/>
          </a:xfrm>
          <a:prstGeom prst="line">
            <a:avLst/>
          </a:prstGeom>
          <a:noFill/>
          <a:ln w="9525">
            <a:solidFill>
              <a:srgbClr val="D9D9E0"/>
            </a:solidFill>
            <a:prstDash val="solid"/>
          </a:ln>
        </p:spPr>
      </p:sp>
      <p:sp>
        <p:nvSpPr>
          <p:cNvPr id="54" name="rm6#750"/>
          <p:cNvSpPr/>
          <p:nvPr/>
        </p:nvSpPr>
        <p:spPr>
          <a:xfrm>
            <a:off x="3060131" y="5212080"/>
            <a:ext cx="1560515" cy="32918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macOS first, Windows after</a:t>
            </a:r>
            <a:endParaRPr lang="en-US" sz="950" dirty="0"/>
          </a:p>
        </p:txBody>
      </p:sp>
      <p:sp>
        <p:nvSpPr>
          <p:cNvPr id="55" name="rm7#751"/>
          <p:cNvSpPr/>
          <p:nvPr/>
        </p:nvSpPr>
        <p:spPr>
          <a:xfrm>
            <a:off x="5077846" y="4425696"/>
            <a:ext cx="2036003" cy="1188720"/>
          </a:xfrm>
          <a:prstGeom prst="roundRect">
            <a:avLst>
              <a:gd name="adj" fmla="val 8462"/>
            </a:avLst>
          </a:prstGeom>
          <a:solidFill>
            <a:srgbClr val="FCFCFD"/>
          </a:solidFill>
          <a:ln w="9525">
            <a:solidFill>
              <a:srgbClr val="D9D9E0"/>
            </a:solidFill>
            <a:prstDash val="solid"/>
          </a:ln>
        </p:spPr>
      </p:sp>
      <p:sp>
        <p:nvSpPr>
          <p:cNvPr id="56" name="rm7#752"/>
          <p:cNvSpPr/>
          <p:nvPr/>
        </p:nvSpPr>
        <p:spPr>
          <a:xfrm>
            <a:off x="5315590" y="4590288"/>
            <a:ext cx="1560515" cy="219456"/>
          </a:xfrm>
          <a:prstGeom prst="rect">
            <a:avLst/>
          </a:prstGeom>
          <a:noFill/>
          <a:ln/>
        </p:spPr>
        <p:txBody>
          <a:bodyPr wrap="square" lIns="0" tIns="0" rIns="0" bIns="0" rtlCol="0" anchor="ctr"/>
          <a:lstStyle/>
          <a:p>
            <a:pPr indent="0" marL="0">
              <a:buNone/>
            </a:pPr>
            <a:r>
              <a:rPr lang="en-US" sz="950" b="1" dirty="0">
                <a:solidFill>
                  <a:srgbClr val="6E7178"/>
                </a:solidFill>
                <a:latin typeface="Consolas" pitchFamily="34" charset="0"/>
                <a:ea typeface="Consolas" pitchFamily="34" charset="-122"/>
                <a:cs typeface="Consolas" pitchFamily="34" charset="-120"/>
              </a:rPr>
              <a:t>v1.8</a:t>
            </a:r>
            <a:endParaRPr lang="en-US" sz="950" dirty="0"/>
          </a:p>
        </p:txBody>
      </p:sp>
      <p:sp>
        <p:nvSpPr>
          <p:cNvPr id="57" name="rm7#753"/>
          <p:cNvSpPr/>
          <p:nvPr/>
        </p:nvSpPr>
        <p:spPr>
          <a:xfrm>
            <a:off x="5315590" y="4828032"/>
            <a:ext cx="1560515" cy="256032"/>
          </a:xfrm>
          <a:prstGeom prst="rect">
            <a:avLst/>
          </a:prstGeom>
          <a:noFill/>
          <a:ln/>
        </p:spPr>
        <p:txBody>
          <a:bodyPr wrap="square" lIns="0" tIns="0" rIns="0" bIns="0" rtlCol="0" anchor="ctr"/>
          <a:lstStyle/>
          <a:p>
            <a:pPr indent="0" marL="0">
              <a:buNone/>
            </a:pPr>
            <a:r>
              <a:rPr lang="en-US" sz="1250" b="1" dirty="0">
                <a:solidFill>
                  <a:srgbClr val="1C2024"/>
                </a:solidFill>
                <a:latin typeface="Segoe UI" pitchFamily="34" charset="0"/>
                <a:ea typeface="Segoe UI" pitchFamily="34" charset="-122"/>
                <a:cs typeface="Segoe UI" pitchFamily="34" charset="-120"/>
              </a:rPr>
              <a:t>SDK</a:t>
            </a:r>
            <a:endParaRPr lang="en-US" sz="1250" dirty="0"/>
          </a:p>
        </p:txBody>
      </p:sp>
      <p:sp>
        <p:nvSpPr>
          <p:cNvPr id="58" name="rm7#754"/>
          <p:cNvSpPr/>
          <p:nvPr/>
        </p:nvSpPr>
        <p:spPr>
          <a:xfrm>
            <a:off x="5315590" y="5120640"/>
            <a:ext cx="1560515" cy="0"/>
          </a:xfrm>
          <a:prstGeom prst="line">
            <a:avLst/>
          </a:prstGeom>
          <a:noFill/>
          <a:ln w="9525">
            <a:solidFill>
              <a:srgbClr val="D9D9E0"/>
            </a:solidFill>
            <a:prstDash val="solid"/>
          </a:ln>
        </p:spPr>
      </p:sp>
      <p:sp>
        <p:nvSpPr>
          <p:cNvPr id="59" name="rm7#755"/>
          <p:cNvSpPr/>
          <p:nvPr/>
        </p:nvSpPr>
        <p:spPr>
          <a:xfrm>
            <a:off x="5315590" y="5212080"/>
            <a:ext cx="1560515" cy="32918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@airhop/core published, API frozen</a:t>
            </a:r>
            <a:endParaRPr lang="en-US" sz="950" dirty="0"/>
          </a:p>
        </p:txBody>
      </p:sp>
      <p:sp>
        <p:nvSpPr>
          <p:cNvPr id="60" name="rm8#756"/>
          <p:cNvSpPr/>
          <p:nvPr/>
        </p:nvSpPr>
        <p:spPr>
          <a:xfrm>
            <a:off x="7333305" y="4425696"/>
            <a:ext cx="2036003" cy="1188720"/>
          </a:xfrm>
          <a:prstGeom prst="roundRect">
            <a:avLst>
              <a:gd name="adj" fmla="val 8462"/>
            </a:avLst>
          </a:prstGeom>
          <a:solidFill>
            <a:srgbClr val="FCFCFD"/>
          </a:solidFill>
          <a:ln w="9525">
            <a:solidFill>
              <a:srgbClr val="D9D9E0"/>
            </a:solidFill>
            <a:prstDash val="solid"/>
          </a:ln>
        </p:spPr>
      </p:sp>
      <p:sp>
        <p:nvSpPr>
          <p:cNvPr id="61" name="rm8#757"/>
          <p:cNvSpPr/>
          <p:nvPr/>
        </p:nvSpPr>
        <p:spPr>
          <a:xfrm>
            <a:off x="7571049" y="4590288"/>
            <a:ext cx="1560515" cy="219456"/>
          </a:xfrm>
          <a:prstGeom prst="rect">
            <a:avLst/>
          </a:prstGeom>
          <a:noFill/>
          <a:ln/>
        </p:spPr>
        <p:txBody>
          <a:bodyPr wrap="square" lIns="0" tIns="0" rIns="0" bIns="0" rtlCol="0" anchor="ctr"/>
          <a:lstStyle/>
          <a:p>
            <a:pPr indent="0" marL="0">
              <a:buNone/>
            </a:pPr>
            <a:r>
              <a:rPr lang="en-US" sz="950" b="1" dirty="0">
                <a:solidFill>
                  <a:srgbClr val="6E7178"/>
                </a:solidFill>
                <a:latin typeface="Consolas" pitchFamily="34" charset="0"/>
                <a:ea typeface="Consolas" pitchFamily="34" charset="-122"/>
                <a:cs typeface="Consolas" pitchFamily="34" charset="-120"/>
              </a:rPr>
              <a:t>v1.9</a:t>
            </a:r>
            <a:endParaRPr lang="en-US" sz="950" dirty="0"/>
          </a:p>
        </p:txBody>
      </p:sp>
      <p:sp>
        <p:nvSpPr>
          <p:cNvPr id="62" name="rm8#758"/>
          <p:cNvSpPr/>
          <p:nvPr/>
        </p:nvSpPr>
        <p:spPr>
          <a:xfrm>
            <a:off x="7571049" y="4828032"/>
            <a:ext cx="1560515" cy="256032"/>
          </a:xfrm>
          <a:prstGeom prst="rect">
            <a:avLst/>
          </a:prstGeom>
          <a:noFill/>
          <a:ln/>
        </p:spPr>
        <p:txBody>
          <a:bodyPr wrap="square" lIns="0" tIns="0" rIns="0" bIns="0" rtlCol="0" anchor="ctr"/>
          <a:lstStyle/>
          <a:p>
            <a:pPr indent="0" marL="0">
              <a:buNone/>
            </a:pPr>
            <a:r>
              <a:rPr lang="en-US" sz="1250" b="1" dirty="0">
                <a:solidFill>
                  <a:srgbClr val="1C2024"/>
                </a:solidFill>
                <a:latin typeface="Segoe UI" pitchFamily="34" charset="0"/>
                <a:ea typeface="Segoe UI" pitchFamily="34" charset="-122"/>
                <a:cs typeface="Segoe UI" pitchFamily="34" charset="-120"/>
              </a:rPr>
              <a:t>Audit</a:t>
            </a:r>
            <a:endParaRPr lang="en-US" sz="1250" dirty="0"/>
          </a:p>
        </p:txBody>
      </p:sp>
      <p:sp>
        <p:nvSpPr>
          <p:cNvPr id="63" name="rm8#759"/>
          <p:cNvSpPr/>
          <p:nvPr/>
        </p:nvSpPr>
        <p:spPr>
          <a:xfrm>
            <a:off x="7571049" y="5120640"/>
            <a:ext cx="1560515" cy="0"/>
          </a:xfrm>
          <a:prstGeom prst="line">
            <a:avLst/>
          </a:prstGeom>
          <a:noFill/>
          <a:ln w="9525">
            <a:solidFill>
              <a:srgbClr val="D9D9E0"/>
            </a:solidFill>
            <a:prstDash val="solid"/>
          </a:ln>
        </p:spPr>
      </p:sp>
      <p:sp>
        <p:nvSpPr>
          <p:cNvPr id="64" name="rm8#760"/>
          <p:cNvSpPr/>
          <p:nvPr/>
        </p:nvSpPr>
        <p:spPr>
          <a:xfrm>
            <a:off x="7571049" y="5212080"/>
            <a:ext cx="1560515" cy="32918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Two firms, separate scopes, published</a:t>
            </a:r>
            <a:endParaRPr lang="en-US" sz="950" dirty="0"/>
          </a:p>
        </p:txBody>
      </p:sp>
      <p:sp>
        <p:nvSpPr>
          <p:cNvPr id="65" name="rm9#761"/>
          <p:cNvSpPr/>
          <p:nvPr/>
        </p:nvSpPr>
        <p:spPr>
          <a:xfrm>
            <a:off x="9588764" y="4425696"/>
            <a:ext cx="2036003" cy="1188720"/>
          </a:xfrm>
          <a:prstGeom prst="roundRect">
            <a:avLst>
              <a:gd name="adj" fmla="val 8462"/>
            </a:avLst>
          </a:prstGeom>
          <a:solidFill>
            <a:srgbClr val="FCFCFD"/>
          </a:solidFill>
          <a:ln w="9525">
            <a:solidFill>
              <a:srgbClr val="D9D9E0"/>
            </a:solidFill>
            <a:prstDash val="solid"/>
          </a:ln>
        </p:spPr>
      </p:sp>
      <p:sp>
        <p:nvSpPr>
          <p:cNvPr id="66" name="rm9#762"/>
          <p:cNvSpPr/>
          <p:nvPr/>
        </p:nvSpPr>
        <p:spPr>
          <a:xfrm>
            <a:off x="9826508" y="4590288"/>
            <a:ext cx="1560515" cy="219456"/>
          </a:xfrm>
          <a:prstGeom prst="rect">
            <a:avLst/>
          </a:prstGeom>
          <a:noFill/>
          <a:ln/>
        </p:spPr>
        <p:txBody>
          <a:bodyPr wrap="square" lIns="0" tIns="0" rIns="0" bIns="0" rtlCol="0" anchor="ctr"/>
          <a:lstStyle/>
          <a:p>
            <a:pPr indent="0" marL="0">
              <a:buNone/>
            </a:pPr>
            <a:r>
              <a:rPr lang="en-US" sz="950" b="1" dirty="0">
                <a:solidFill>
                  <a:srgbClr val="6E7178"/>
                </a:solidFill>
                <a:latin typeface="Consolas" pitchFamily="34" charset="0"/>
                <a:ea typeface="Consolas" pitchFamily="34" charset="-122"/>
                <a:cs typeface="Consolas" pitchFamily="34" charset="-120"/>
              </a:rPr>
              <a:t>v2.0</a:t>
            </a:r>
            <a:endParaRPr lang="en-US" sz="950" dirty="0"/>
          </a:p>
        </p:txBody>
      </p:sp>
      <p:sp>
        <p:nvSpPr>
          <p:cNvPr id="67" name="rm9#763"/>
          <p:cNvSpPr/>
          <p:nvPr/>
        </p:nvSpPr>
        <p:spPr>
          <a:xfrm>
            <a:off x="9826508" y="4828032"/>
            <a:ext cx="1560515" cy="256032"/>
          </a:xfrm>
          <a:prstGeom prst="rect">
            <a:avLst/>
          </a:prstGeom>
          <a:noFill/>
          <a:ln/>
        </p:spPr>
        <p:txBody>
          <a:bodyPr wrap="square" lIns="0" tIns="0" rIns="0" bIns="0" rtlCol="0" anchor="ctr"/>
          <a:lstStyle/>
          <a:p>
            <a:pPr indent="0" marL="0">
              <a:buNone/>
            </a:pPr>
            <a:r>
              <a:rPr lang="en-US" sz="1250" b="1" dirty="0">
                <a:solidFill>
                  <a:srgbClr val="1C2024"/>
                </a:solidFill>
                <a:latin typeface="Segoe UI" pitchFamily="34" charset="0"/>
                <a:ea typeface="Segoe UI" pitchFamily="34" charset="-122"/>
                <a:cs typeface="Segoe UI" pitchFamily="34" charset="-120"/>
              </a:rPr>
              <a:t>Flagship</a:t>
            </a:r>
            <a:endParaRPr lang="en-US" sz="1250" dirty="0"/>
          </a:p>
        </p:txBody>
      </p:sp>
      <p:sp>
        <p:nvSpPr>
          <p:cNvPr id="68" name="rm9#764"/>
          <p:cNvSpPr/>
          <p:nvPr/>
        </p:nvSpPr>
        <p:spPr>
          <a:xfrm>
            <a:off x="9826508" y="5120640"/>
            <a:ext cx="1560515" cy="0"/>
          </a:xfrm>
          <a:prstGeom prst="line">
            <a:avLst/>
          </a:prstGeom>
          <a:noFill/>
          <a:ln w="9525">
            <a:solidFill>
              <a:srgbClr val="D9D9E0"/>
            </a:solidFill>
            <a:prstDash val="solid"/>
          </a:ln>
        </p:spPr>
      </p:sp>
      <p:sp>
        <p:nvSpPr>
          <p:cNvPr id="69" name="rm9#765"/>
          <p:cNvSpPr/>
          <p:nvPr/>
        </p:nvSpPr>
        <p:spPr>
          <a:xfrm>
            <a:off x="9826508" y="5212080"/>
            <a:ext cx="1560515" cy="32918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Redesign, WCAG 2.1 AA, all public</a:t>
            </a:r>
            <a:endParaRPr lang="en-US" sz="950" dirty="0"/>
          </a:p>
        </p:txBody>
      </p:sp>
      <p:sp>
        <p:nvSpPr>
          <p:cNvPr id="70" name="facts#766"/>
          <p:cNvSpPr/>
          <p:nvPr/>
        </p:nvSpPr>
        <p:spPr>
          <a:xfrm>
            <a:off x="566928" y="5852160"/>
            <a:ext cx="11057839" cy="274320"/>
          </a:xfrm>
          <a:prstGeom prst="rect">
            <a:avLst/>
          </a:prstGeom>
          <a:noFill/>
          <a:ln/>
        </p:spPr>
        <p:txBody>
          <a:bodyPr wrap="square" lIns="0" tIns="0" rIns="0" bIns="0" rtlCol="0" anchor="t"/>
          <a:lstStyle/>
          <a:p>
            <a:pPr indent="0" marL="0">
              <a:lnSpc>
                <a:spcPct val="134000"/>
              </a:lnSpc>
              <a:buNone/>
            </a:pPr>
            <a:r>
              <a:rPr lang="en-US" sz="950" dirty="0">
                <a:solidFill>
                  <a:srgbClr val="1C2024"/>
                </a:solidFill>
                <a:latin typeface="Segoe UI" pitchFamily="34" charset="0"/>
                <a:ea typeface="Segoe UI" pitchFamily="34" charset="-122"/>
                <a:cs typeface="Segoe UI" pitchFamily="34" charset="-120"/>
              </a:rPr>
              <a:t>1,526 catalog strings with none hardcoded, 398 bundled relays, 125 test files, every security finding published. One maintainer, no company, no funding.</a:t>
            </a:r>
            <a:endParaRPr lang="en-US" sz="950" dirty="0"/>
          </a:p>
        </p:txBody>
      </p:sp>
      <p:sp>
        <p:nvSpPr>
          <p:cNvPr id="72" name="Shape 69"/>
          <p:cNvSpPr/>
          <p:nvPr/>
        </p:nvSpPr>
        <p:spPr>
          <a:xfrm>
            <a:off x="566928" y="6327648"/>
            <a:ext cx="11057839" cy="0"/>
          </a:xfrm>
          <a:prstGeom prst="line">
            <a:avLst/>
          </a:prstGeom>
          <a:noFill/>
          <a:ln w="9525">
            <a:solidFill>
              <a:srgbClr val="D9D9E0"/>
            </a:solidFill>
            <a:prstDash val="solid"/>
          </a:ln>
        </p:spPr>
      </p:sp>
      <p:sp>
        <p:nvSpPr>
          <p:cNvPr id="73" name="Shape 70"/>
          <p:cNvSpPr/>
          <p:nvPr/>
        </p:nvSpPr>
        <p:spPr>
          <a:xfrm>
            <a:off x="566928" y="6441948"/>
            <a:ext cx="24725" cy="24725"/>
          </a:xfrm>
          <a:prstGeom prst="rect">
            <a:avLst/>
          </a:prstGeom>
          <a:solidFill>
            <a:srgbClr val="1C2024"/>
          </a:solidFill>
          <a:ln w="12700">
            <a:solidFill>
              <a:srgbClr val="1C2024"/>
            </a:solidFill>
            <a:prstDash val="solid"/>
          </a:ln>
        </p:spPr>
      </p:sp>
      <p:sp>
        <p:nvSpPr>
          <p:cNvPr id="74" name="Shape 71"/>
          <p:cNvSpPr/>
          <p:nvPr/>
        </p:nvSpPr>
        <p:spPr>
          <a:xfrm>
            <a:off x="590702" y="6441948"/>
            <a:ext cx="24725" cy="24725"/>
          </a:xfrm>
          <a:prstGeom prst="rect">
            <a:avLst/>
          </a:prstGeom>
          <a:solidFill>
            <a:srgbClr val="1C2024"/>
          </a:solidFill>
          <a:ln w="12700">
            <a:solidFill>
              <a:srgbClr val="1C2024"/>
            </a:solidFill>
            <a:prstDash val="solid"/>
          </a:ln>
        </p:spPr>
      </p:sp>
      <p:sp>
        <p:nvSpPr>
          <p:cNvPr id="75" name="Shape 72"/>
          <p:cNvSpPr/>
          <p:nvPr/>
        </p:nvSpPr>
        <p:spPr>
          <a:xfrm>
            <a:off x="780898" y="6441948"/>
            <a:ext cx="24725" cy="24725"/>
          </a:xfrm>
          <a:prstGeom prst="rect">
            <a:avLst/>
          </a:prstGeom>
          <a:solidFill>
            <a:srgbClr val="1C2024"/>
          </a:solidFill>
          <a:ln w="12700">
            <a:solidFill>
              <a:srgbClr val="1C2024"/>
            </a:solidFill>
            <a:prstDash val="solid"/>
          </a:ln>
        </p:spPr>
      </p:sp>
      <p:sp>
        <p:nvSpPr>
          <p:cNvPr id="76" name="Shape 73"/>
          <p:cNvSpPr/>
          <p:nvPr/>
        </p:nvSpPr>
        <p:spPr>
          <a:xfrm>
            <a:off x="804672" y="6441948"/>
            <a:ext cx="24725" cy="24725"/>
          </a:xfrm>
          <a:prstGeom prst="rect">
            <a:avLst/>
          </a:prstGeom>
          <a:solidFill>
            <a:srgbClr val="1C2024"/>
          </a:solidFill>
          <a:ln w="12700">
            <a:solidFill>
              <a:srgbClr val="1C2024"/>
            </a:solidFill>
            <a:prstDash val="solid"/>
          </a:ln>
        </p:spPr>
      </p:sp>
      <p:sp>
        <p:nvSpPr>
          <p:cNvPr id="77" name="Shape 74"/>
          <p:cNvSpPr/>
          <p:nvPr/>
        </p:nvSpPr>
        <p:spPr>
          <a:xfrm>
            <a:off x="590702" y="6465722"/>
            <a:ext cx="24725" cy="24725"/>
          </a:xfrm>
          <a:prstGeom prst="rect">
            <a:avLst/>
          </a:prstGeom>
          <a:solidFill>
            <a:srgbClr val="1C2024"/>
          </a:solidFill>
          <a:ln w="12700">
            <a:solidFill>
              <a:srgbClr val="1C2024"/>
            </a:solidFill>
            <a:prstDash val="solid"/>
          </a:ln>
        </p:spPr>
      </p:sp>
      <p:sp>
        <p:nvSpPr>
          <p:cNvPr id="78" name="Shape 75"/>
          <p:cNvSpPr/>
          <p:nvPr/>
        </p:nvSpPr>
        <p:spPr>
          <a:xfrm>
            <a:off x="614477" y="6465722"/>
            <a:ext cx="24725" cy="24725"/>
          </a:xfrm>
          <a:prstGeom prst="rect">
            <a:avLst/>
          </a:prstGeom>
          <a:solidFill>
            <a:srgbClr val="1C2024"/>
          </a:solidFill>
          <a:ln w="12700">
            <a:solidFill>
              <a:srgbClr val="1C2024"/>
            </a:solidFill>
            <a:prstDash val="solid"/>
          </a:ln>
        </p:spPr>
      </p:sp>
      <p:sp>
        <p:nvSpPr>
          <p:cNvPr id="79" name="Shape 76"/>
          <p:cNvSpPr/>
          <p:nvPr/>
        </p:nvSpPr>
        <p:spPr>
          <a:xfrm>
            <a:off x="757123" y="6465722"/>
            <a:ext cx="24725" cy="24725"/>
          </a:xfrm>
          <a:prstGeom prst="rect">
            <a:avLst/>
          </a:prstGeom>
          <a:solidFill>
            <a:srgbClr val="1C2024"/>
          </a:solidFill>
          <a:ln w="12700">
            <a:solidFill>
              <a:srgbClr val="1C2024"/>
            </a:solidFill>
            <a:prstDash val="solid"/>
          </a:ln>
        </p:spPr>
      </p:sp>
      <p:sp>
        <p:nvSpPr>
          <p:cNvPr id="80" name="Shape 77"/>
          <p:cNvSpPr/>
          <p:nvPr/>
        </p:nvSpPr>
        <p:spPr>
          <a:xfrm>
            <a:off x="780898" y="6465722"/>
            <a:ext cx="24725" cy="24725"/>
          </a:xfrm>
          <a:prstGeom prst="rect">
            <a:avLst/>
          </a:prstGeom>
          <a:solidFill>
            <a:srgbClr val="1C2024"/>
          </a:solidFill>
          <a:ln w="12700">
            <a:solidFill>
              <a:srgbClr val="1C2024"/>
            </a:solidFill>
            <a:prstDash val="solid"/>
          </a:ln>
        </p:spPr>
      </p:sp>
      <p:sp>
        <p:nvSpPr>
          <p:cNvPr id="81" name="Shape 78"/>
          <p:cNvSpPr/>
          <p:nvPr/>
        </p:nvSpPr>
        <p:spPr>
          <a:xfrm>
            <a:off x="614477" y="6489497"/>
            <a:ext cx="24725" cy="24725"/>
          </a:xfrm>
          <a:prstGeom prst="rect">
            <a:avLst/>
          </a:prstGeom>
          <a:solidFill>
            <a:srgbClr val="1C2024"/>
          </a:solidFill>
          <a:ln w="12700">
            <a:solidFill>
              <a:srgbClr val="1C2024"/>
            </a:solidFill>
            <a:prstDash val="solid"/>
          </a:ln>
        </p:spPr>
      </p:sp>
      <p:sp>
        <p:nvSpPr>
          <p:cNvPr id="82" name="Shape 79"/>
          <p:cNvSpPr/>
          <p:nvPr/>
        </p:nvSpPr>
        <p:spPr>
          <a:xfrm>
            <a:off x="638251" y="6489497"/>
            <a:ext cx="24725" cy="24725"/>
          </a:xfrm>
          <a:prstGeom prst="rect">
            <a:avLst/>
          </a:prstGeom>
          <a:solidFill>
            <a:srgbClr val="1C2024"/>
          </a:solidFill>
          <a:ln w="12700">
            <a:solidFill>
              <a:srgbClr val="1C2024"/>
            </a:solidFill>
            <a:prstDash val="solid"/>
          </a:ln>
        </p:spPr>
      </p:sp>
      <p:sp>
        <p:nvSpPr>
          <p:cNvPr id="83" name="Shape 80"/>
          <p:cNvSpPr/>
          <p:nvPr/>
        </p:nvSpPr>
        <p:spPr>
          <a:xfrm>
            <a:off x="685800" y="6489497"/>
            <a:ext cx="24725" cy="24725"/>
          </a:xfrm>
          <a:prstGeom prst="rect">
            <a:avLst/>
          </a:prstGeom>
          <a:solidFill>
            <a:srgbClr val="1C2024"/>
          </a:solidFill>
          <a:ln w="12700">
            <a:solidFill>
              <a:srgbClr val="1C2024"/>
            </a:solidFill>
            <a:prstDash val="solid"/>
          </a:ln>
        </p:spPr>
      </p:sp>
      <p:sp>
        <p:nvSpPr>
          <p:cNvPr id="84" name="Shape 81"/>
          <p:cNvSpPr/>
          <p:nvPr/>
        </p:nvSpPr>
        <p:spPr>
          <a:xfrm>
            <a:off x="733349" y="6489497"/>
            <a:ext cx="24725" cy="24725"/>
          </a:xfrm>
          <a:prstGeom prst="rect">
            <a:avLst/>
          </a:prstGeom>
          <a:solidFill>
            <a:srgbClr val="1C2024"/>
          </a:solidFill>
          <a:ln w="12700">
            <a:solidFill>
              <a:srgbClr val="1C2024"/>
            </a:solidFill>
            <a:prstDash val="solid"/>
          </a:ln>
        </p:spPr>
      </p:sp>
      <p:sp>
        <p:nvSpPr>
          <p:cNvPr id="85" name="Shape 82"/>
          <p:cNvSpPr/>
          <p:nvPr/>
        </p:nvSpPr>
        <p:spPr>
          <a:xfrm>
            <a:off x="757123" y="6489497"/>
            <a:ext cx="24725" cy="24725"/>
          </a:xfrm>
          <a:prstGeom prst="rect">
            <a:avLst/>
          </a:prstGeom>
          <a:solidFill>
            <a:srgbClr val="1C2024"/>
          </a:solidFill>
          <a:ln w="12700">
            <a:solidFill>
              <a:srgbClr val="1C2024"/>
            </a:solidFill>
            <a:prstDash val="solid"/>
          </a:ln>
        </p:spPr>
      </p:sp>
      <p:sp>
        <p:nvSpPr>
          <p:cNvPr id="86" name="Shape 83"/>
          <p:cNvSpPr/>
          <p:nvPr/>
        </p:nvSpPr>
        <p:spPr>
          <a:xfrm>
            <a:off x="638251" y="6513271"/>
            <a:ext cx="24725" cy="24725"/>
          </a:xfrm>
          <a:prstGeom prst="rect">
            <a:avLst/>
          </a:prstGeom>
          <a:solidFill>
            <a:srgbClr val="1C2024"/>
          </a:solidFill>
          <a:ln w="12700">
            <a:solidFill>
              <a:srgbClr val="1C2024"/>
            </a:solidFill>
            <a:prstDash val="solid"/>
          </a:ln>
        </p:spPr>
      </p:sp>
      <p:sp>
        <p:nvSpPr>
          <p:cNvPr id="87" name="Shape 84"/>
          <p:cNvSpPr/>
          <p:nvPr/>
        </p:nvSpPr>
        <p:spPr>
          <a:xfrm>
            <a:off x="662026" y="6513271"/>
            <a:ext cx="24725" cy="24725"/>
          </a:xfrm>
          <a:prstGeom prst="rect">
            <a:avLst/>
          </a:prstGeom>
          <a:solidFill>
            <a:srgbClr val="1C2024"/>
          </a:solidFill>
          <a:ln w="12700">
            <a:solidFill>
              <a:srgbClr val="1C2024"/>
            </a:solidFill>
            <a:prstDash val="solid"/>
          </a:ln>
        </p:spPr>
      </p:sp>
      <p:sp>
        <p:nvSpPr>
          <p:cNvPr id="88" name="Shape 85"/>
          <p:cNvSpPr/>
          <p:nvPr/>
        </p:nvSpPr>
        <p:spPr>
          <a:xfrm>
            <a:off x="685800" y="6513271"/>
            <a:ext cx="24725" cy="24725"/>
          </a:xfrm>
          <a:prstGeom prst="rect">
            <a:avLst/>
          </a:prstGeom>
          <a:solidFill>
            <a:srgbClr val="1C2024"/>
          </a:solidFill>
          <a:ln w="12700">
            <a:solidFill>
              <a:srgbClr val="1C2024"/>
            </a:solidFill>
            <a:prstDash val="solid"/>
          </a:ln>
        </p:spPr>
      </p:sp>
      <p:sp>
        <p:nvSpPr>
          <p:cNvPr id="89" name="Shape 86"/>
          <p:cNvSpPr/>
          <p:nvPr/>
        </p:nvSpPr>
        <p:spPr>
          <a:xfrm>
            <a:off x="709574" y="6513271"/>
            <a:ext cx="24725" cy="24725"/>
          </a:xfrm>
          <a:prstGeom prst="rect">
            <a:avLst/>
          </a:prstGeom>
          <a:solidFill>
            <a:srgbClr val="1C2024"/>
          </a:solidFill>
          <a:ln w="12700">
            <a:solidFill>
              <a:srgbClr val="1C2024"/>
            </a:solidFill>
            <a:prstDash val="solid"/>
          </a:ln>
        </p:spPr>
      </p:sp>
      <p:sp>
        <p:nvSpPr>
          <p:cNvPr id="90" name="Shape 87"/>
          <p:cNvSpPr/>
          <p:nvPr/>
        </p:nvSpPr>
        <p:spPr>
          <a:xfrm>
            <a:off x="733349" y="6513271"/>
            <a:ext cx="24725" cy="24725"/>
          </a:xfrm>
          <a:prstGeom prst="rect">
            <a:avLst/>
          </a:prstGeom>
          <a:solidFill>
            <a:srgbClr val="1C2024"/>
          </a:solidFill>
          <a:ln w="12700">
            <a:solidFill>
              <a:srgbClr val="1C2024"/>
            </a:solidFill>
            <a:prstDash val="solid"/>
          </a:ln>
        </p:spPr>
      </p:sp>
      <p:sp>
        <p:nvSpPr>
          <p:cNvPr id="91" name="Shape 88"/>
          <p:cNvSpPr/>
          <p:nvPr/>
        </p:nvSpPr>
        <p:spPr>
          <a:xfrm>
            <a:off x="662026" y="6537046"/>
            <a:ext cx="24725" cy="24725"/>
          </a:xfrm>
          <a:prstGeom prst="rect">
            <a:avLst/>
          </a:prstGeom>
          <a:solidFill>
            <a:srgbClr val="1C2024"/>
          </a:solidFill>
          <a:ln w="12700">
            <a:solidFill>
              <a:srgbClr val="1C2024"/>
            </a:solidFill>
            <a:prstDash val="solid"/>
          </a:ln>
        </p:spPr>
      </p:sp>
      <p:sp>
        <p:nvSpPr>
          <p:cNvPr id="92" name="Shape 89"/>
          <p:cNvSpPr/>
          <p:nvPr/>
        </p:nvSpPr>
        <p:spPr>
          <a:xfrm>
            <a:off x="685800" y="6537046"/>
            <a:ext cx="24725" cy="24725"/>
          </a:xfrm>
          <a:prstGeom prst="rect">
            <a:avLst/>
          </a:prstGeom>
          <a:solidFill>
            <a:srgbClr val="1C2024"/>
          </a:solidFill>
          <a:ln w="12700">
            <a:solidFill>
              <a:srgbClr val="1C2024"/>
            </a:solidFill>
            <a:prstDash val="solid"/>
          </a:ln>
        </p:spPr>
      </p:sp>
      <p:sp>
        <p:nvSpPr>
          <p:cNvPr id="93" name="Shape 90"/>
          <p:cNvSpPr/>
          <p:nvPr/>
        </p:nvSpPr>
        <p:spPr>
          <a:xfrm>
            <a:off x="709574" y="6537046"/>
            <a:ext cx="24725" cy="24725"/>
          </a:xfrm>
          <a:prstGeom prst="rect">
            <a:avLst/>
          </a:prstGeom>
          <a:solidFill>
            <a:srgbClr val="1C2024"/>
          </a:solidFill>
          <a:ln w="12700">
            <a:solidFill>
              <a:srgbClr val="1C2024"/>
            </a:solidFill>
            <a:prstDash val="solid"/>
          </a:ln>
        </p:spPr>
      </p:sp>
      <p:sp>
        <p:nvSpPr>
          <p:cNvPr id="94" name="Shape 91"/>
          <p:cNvSpPr/>
          <p:nvPr/>
        </p:nvSpPr>
        <p:spPr>
          <a:xfrm>
            <a:off x="685800" y="6560820"/>
            <a:ext cx="24725" cy="24725"/>
          </a:xfrm>
          <a:prstGeom prst="rect">
            <a:avLst/>
          </a:prstGeom>
          <a:solidFill>
            <a:srgbClr val="1C2024"/>
          </a:solidFill>
          <a:ln w="12700">
            <a:solidFill>
              <a:srgbClr val="1C2024"/>
            </a:solidFill>
            <a:prstDash val="solid"/>
          </a:ln>
        </p:spPr>
      </p:sp>
      <p:sp>
        <p:nvSpPr>
          <p:cNvPr id="95" name="Text 92"/>
          <p:cNvSpPr/>
          <p:nvPr/>
        </p:nvSpPr>
        <p:spPr>
          <a:xfrm>
            <a:off x="914400" y="6391656"/>
            <a:ext cx="1828800" cy="219456"/>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AIRHOP</a:t>
            </a:r>
            <a:endParaRPr lang="en-US" sz="800" dirty="0"/>
          </a:p>
        </p:txBody>
      </p:sp>
      <p:sp>
        <p:nvSpPr>
          <p:cNvPr id="96" name="Text 93"/>
          <p:cNvSpPr/>
          <p:nvPr/>
        </p:nvSpPr>
        <p:spPr>
          <a:xfrm>
            <a:off x="9795967" y="6391656"/>
            <a:ext cx="1828800" cy="219456"/>
          </a:xfrm>
          <a:prstGeom prst="rect">
            <a:avLst/>
          </a:prstGeom>
          <a:noFill/>
          <a:ln/>
        </p:spPr>
        <p:txBody>
          <a:bodyPr wrap="square" lIns="0" tIns="0" rIns="0" bIns="0" rtlCol="0" anchor="ctr"/>
          <a:lstStyle/>
          <a:p>
            <a:pPr algn="r" indent="0" marL="0">
              <a:buNone/>
            </a:pPr>
            <a:r>
              <a:rPr lang="en-US" sz="800" dirty="0">
                <a:solidFill>
                  <a:srgbClr val="6E7178"/>
                </a:solidFill>
                <a:latin typeface="Consolas" pitchFamily="34" charset="0"/>
                <a:ea typeface="Consolas" pitchFamily="34" charset="-122"/>
                <a:cs typeface="Consolas" pitchFamily="34" charset="-120"/>
              </a:rPr>
              <a:t>A2 / A3</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frame#767"/>
          <p:cNvSpPr/>
          <p:nvPr/>
        </p:nvSpPr>
        <p:spPr>
          <a:xfrm>
            <a:off x="566928" y="2286000"/>
            <a:ext cx="11057839" cy="3657600"/>
          </a:xfrm>
          <a:prstGeom prst="roundRect">
            <a:avLst>
              <a:gd name="adj" fmla="val 2750"/>
            </a:avLst>
          </a:prstGeom>
          <a:solidFill>
            <a:srgbClr val="FCFCFD"/>
          </a:solidFill>
          <a:ln w="9525">
            <a:solidFill>
              <a:srgbClr val="D9D9E0"/>
            </a:solidFill>
            <a:prstDash val="solid"/>
          </a:ln>
        </p:spPr>
      </p:sp>
      <p:sp>
        <p:nvSpPr>
          <p:cNvPr id="3" name="frame#768"/>
          <p:cNvSpPr/>
          <p:nvPr/>
        </p:nvSpPr>
        <p:spPr>
          <a:xfrm>
            <a:off x="877824" y="2414016"/>
            <a:ext cx="3200400" cy="237744"/>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RISK</a:t>
            </a:r>
            <a:endParaRPr lang="en-US" sz="800" dirty="0"/>
          </a:p>
        </p:txBody>
      </p:sp>
      <p:sp>
        <p:nvSpPr>
          <p:cNvPr id="4" name="frame#769"/>
          <p:cNvSpPr/>
          <p:nvPr/>
        </p:nvSpPr>
        <p:spPr>
          <a:xfrm>
            <a:off x="3401568" y="2414016"/>
            <a:ext cx="3200400" cy="237744"/>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WHAT IT IS</a:t>
            </a:r>
            <a:endParaRPr lang="en-US" sz="800" dirty="0"/>
          </a:p>
        </p:txBody>
      </p:sp>
      <p:sp>
        <p:nvSpPr>
          <p:cNvPr id="5" name="frame#770"/>
          <p:cNvSpPr/>
          <p:nvPr/>
        </p:nvSpPr>
        <p:spPr>
          <a:xfrm>
            <a:off x="7607808" y="2414016"/>
            <a:ext cx="3200400" cy="237744"/>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WHAT IS ALREADY DONE</a:t>
            </a:r>
            <a:endParaRPr lang="en-US" sz="800" dirty="0"/>
          </a:p>
        </p:txBody>
      </p:sp>
      <p:sp>
        <p:nvSpPr>
          <p:cNvPr id="6" name="frame#771"/>
          <p:cNvSpPr/>
          <p:nvPr/>
        </p:nvSpPr>
        <p:spPr>
          <a:xfrm>
            <a:off x="731520" y="2724912"/>
            <a:ext cx="10728655" cy="0"/>
          </a:xfrm>
          <a:prstGeom prst="line">
            <a:avLst/>
          </a:prstGeom>
          <a:noFill/>
          <a:ln w="9525">
            <a:solidFill>
              <a:srgbClr val="D9D9E0"/>
            </a:solidFill>
            <a:prstDash val="solid"/>
          </a:ln>
        </p:spPr>
      </p:sp>
      <p:sp>
        <p:nvSpPr>
          <p:cNvPr id="7" name="head#772"/>
          <p:cNvSpPr/>
          <p:nvPr/>
        </p:nvSpPr>
        <p:spPr>
          <a:xfrm>
            <a:off x="566928" y="402336"/>
            <a:ext cx="11057839" cy="182880"/>
          </a:xfrm>
          <a:prstGeom prst="rect">
            <a:avLst/>
          </a:prstGeom>
          <a:noFill/>
          <a:ln/>
        </p:spPr>
        <p:txBody>
          <a:bodyPr wrap="square" lIns="0" tIns="0" rIns="0" bIns="0" rtlCol="0" anchor="ctr"/>
          <a:lstStyle/>
          <a:p>
            <a:pPr indent="0" marL="0">
              <a:buNone/>
            </a:pPr>
            <a:r>
              <a:rPr lang="en-US" sz="900" b="1" spc="160" kern="0" dirty="0">
                <a:solidFill>
                  <a:srgbClr val="60646C"/>
                </a:solidFill>
                <a:latin typeface="Consolas" pitchFamily="34" charset="0"/>
                <a:ea typeface="Consolas" pitchFamily="34" charset="-122"/>
                <a:cs typeface="Consolas" pitchFamily="34" charset="-120"/>
              </a:rPr>
              <a:t>APPENDIX · RISKS</a:t>
            </a:r>
            <a:endParaRPr lang="en-US" sz="900" dirty="0"/>
          </a:p>
        </p:txBody>
      </p:sp>
      <p:sp>
        <p:nvSpPr>
          <p:cNvPr id="8" name="head#773"/>
          <p:cNvSpPr/>
          <p:nvPr/>
        </p:nvSpPr>
        <p:spPr>
          <a:xfrm>
            <a:off x="566928" y="658368"/>
            <a:ext cx="11057839" cy="872338"/>
          </a:xfrm>
          <a:prstGeom prst="rect">
            <a:avLst/>
          </a:prstGeom>
          <a:noFill/>
          <a:ln/>
        </p:spPr>
        <p:txBody>
          <a:bodyPr wrap="square" lIns="0" tIns="0" rIns="0" bIns="0" rtlCol="0" anchor="t"/>
          <a:lstStyle/>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What could stop this,</a:t>
            </a:r>
            <a:endParaRPr lang="en-US" sz="2700" dirty="0"/>
          </a:p>
          <a:p>
            <a:pPr algn="l" indent="0" marL="0">
              <a:lnSpc>
                <a:spcPct val="106000"/>
              </a:lnSpc>
              <a:buNone/>
            </a:pPr>
            <a:r>
              <a:rPr lang="en-US" sz="2700" b="1" dirty="0">
                <a:solidFill>
                  <a:srgbClr val="1C2024"/>
                </a:solidFill>
                <a:latin typeface="Segoe UI" pitchFamily="34" charset="0"/>
                <a:ea typeface="Segoe UI" pitchFamily="34" charset="-122"/>
                <a:cs typeface="Segoe UI" pitchFamily="34" charset="-120"/>
              </a:rPr>
              <a:t>and what is already done about it.</a:t>
            </a:r>
            <a:endParaRPr lang="en-US" sz="2700" dirty="0"/>
          </a:p>
        </p:txBody>
      </p:sp>
      <p:sp>
        <p:nvSpPr>
          <p:cNvPr id="9" name="head#774"/>
          <p:cNvSpPr/>
          <p:nvPr/>
        </p:nvSpPr>
        <p:spPr>
          <a:xfrm>
            <a:off x="566928" y="1677010"/>
            <a:ext cx="7680960" cy="515112"/>
          </a:xfrm>
          <a:prstGeom prst="rect">
            <a:avLst/>
          </a:prstGeom>
          <a:noFill/>
          <a:ln/>
        </p:spPr>
        <p:txBody>
          <a:bodyPr wrap="square" lIns="0" tIns="0" rIns="0" bIns="0" rtlCol="0" anchor="t"/>
          <a:lstStyle/>
          <a:p>
            <a:pPr indent="0" marL="0">
              <a:lnSpc>
                <a:spcPct val="130000"/>
              </a:lnSpc>
              <a:buNone/>
            </a:pPr>
            <a:r>
              <a:rPr lang="en-US" sz="1300" dirty="0">
                <a:solidFill>
                  <a:srgbClr val="60646C"/>
                </a:solidFill>
                <a:latin typeface="Segoe UI" pitchFamily="34" charset="0"/>
                <a:ea typeface="Segoe UI" pitchFamily="34" charset="-122"/>
                <a:cs typeface="Segoe UI" pitchFamily="34" charset="-120"/>
              </a:rPr>
              <a:t>Written the way the repository writes them, plainly and with the mitigation attached.</a:t>
            </a:r>
            <a:endParaRPr lang="en-US" sz="1300" dirty="0"/>
          </a:p>
        </p:txBody>
      </p:sp>
      <p:sp>
        <p:nvSpPr>
          <p:cNvPr id="10" name="head#775"/>
          <p:cNvSpPr/>
          <p:nvPr/>
        </p:nvSpPr>
        <p:spPr>
          <a:xfrm>
            <a:off x="7967167" y="402336"/>
            <a:ext cx="3657600" cy="182880"/>
          </a:xfrm>
          <a:prstGeom prst="rect">
            <a:avLst/>
          </a:prstGeom>
          <a:noFill/>
          <a:ln/>
        </p:spPr>
        <p:txBody>
          <a:bodyPr wrap="square" lIns="0" tIns="0" rIns="0" bIns="0" rtlCol="0" anchor="ctr"/>
          <a:lstStyle/>
          <a:p>
            <a:pPr algn="r" indent="0" marL="0">
              <a:buNone/>
            </a:pPr>
            <a:r>
              <a:rPr lang="en-US" sz="800" b="1" u="sng" dirty="0">
                <a:solidFill>
                  <a:srgbClr val="6E7178"/>
                </a:solidFill>
                <a:latin typeface="Consolas" pitchFamily="34" charset="0"/>
                <a:ea typeface="Consolas" pitchFamily="34" charset="-122"/>
                <a:cs typeface="Consolas" pitchFamily="34" charset="-120"/>
                <a:hlinkClick r:id="rId1" invalidUrl="" action="" tgtFrame="" tooltip="docs/dev/PROGRESS.md" history="1" highlightClick="0" endSnd="0">
                  <a:extLst>
                    <a:ext uri="{A12FA001-AC4F-418D-AE19-62706E023703}">
                      <ahyp:hlinkClr xmlns:ahyp="http://schemas.microsoft.com/office/drawing/2018/hyperlinkcolor" val="tx"/>
                    </a:ext>
                  </a:extLst>
                </a:hlinkClick>
              </a:rPr>
              <a:t>docs/dev/PROGRESS.md</a:t>
            </a:r>
            <a:endParaRPr lang="en-US" sz="800" dirty="0"/>
          </a:p>
        </p:txBody>
      </p:sp>
      <p:sp>
        <p:nvSpPr>
          <p:cNvPr id="11" name="risk0#776"/>
          <p:cNvSpPr/>
          <p:nvPr/>
        </p:nvSpPr>
        <p:spPr>
          <a:xfrm>
            <a:off x="877824" y="2834640"/>
            <a:ext cx="2286000" cy="310896"/>
          </a:xfrm>
          <a:prstGeom prst="rect">
            <a:avLst/>
          </a:prstGeom>
          <a:noFill/>
          <a:ln/>
        </p:spPr>
        <p:txBody>
          <a:bodyPr wrap="square" lIns="0" tIns="0" rIns="0" bIns="0" rtlCol="0" anchor="t"/>
          <a:lstStyle/>
          <a:p>
            <a:pPr indent="0" marL="0">
              <a:buNone/>
            </a:pPr>
            <a:r>
              <a:rPr lang="en-US" sz="1100" b="1" dirty="0">
                <a:solidFill>
                  <a:srgbClr val="1C2024"/>
                </a:solidFill>
                <a:latin typeface="Segoe UI" pitchFamily="34" charset="0"/>
                <a:ea typeface="Segoe UI" pitchFamily="34" charset="-122"/>
                <a:cs typeface="Segoe UI" pitchFamily="34" charset="-120"/>
              </a:rPr>
              <a:t>Platform limits</a:t>
            </a:r>
            <a:endParaRPr lang="en-US" sz="1100" dirty="0"/>
          </a:p>
        </p:txBody>
      </p:sp>
      <p:sp>
        <p:nvSpPr>
          <p:cNvPr id="12" name="risk0#777"/>
          <p:cNvSpPr/>
          <p:nvPr/>
        </p:nvSpPr>
        <p:spPr>
          <a:xfrm>
            <a:off x="3401568" y="2834640"/>
            <a:ext cx="3968496" cy="69494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A backgrounded iPhone is invisible to Android scanners. CoreBluetooth moves the service UUID into the advertisement overflow area and drops the name.</a:t>
            </a:r>
            <a:endParaRPr lang="en-US" sz="950" dirty="0"/>
          </a:p>
        </p:txBody>
      </p:sp>
      <p:sp>
        <p:nvSpPr>
          <p:cNvPr id="13" name="risk0#778"/>
          <p:cNvSpPr/>
          <p:nvPr/>
        </p:nvSpPr>
        <p:spPr>
          <a:xfrm>
            <a:off x="7607808" y="2834640"/>
            <a:ext cx="3706063" cy="694944"/>
          </a:xfrm>
          <a:prstGeom prst="rect">
            <a:avLst/>
          </a:prstGeom>
          <a:noFill/>
          <a:ln/>
        </p:spPr>
        <p:txBody>
          <a:bodyPr wrap="square" lIns="0" tIns="0" rIns="0" bIns="0" rtlCol="0" anchor="t"/>
          <a:lstStyle/>
          <a:p>
            <a:pPr indent="0" marL="0">
              <a:lnSpc>
                <a:spcPct val="134000"/>
              </a:lnSpc>
              <a:buNone/>
            </a:pPr>
            <a:r>
              <a:rPr lang="en-US" sz="950" dirty="0">
                <a:solidFill>
                  <a:srgbClr val="1C2024"/>
                </a:solidFill>
                <a:latin typeface="Segoe UI" pitchFamily="34" charset="0"/>
                <a:ea typeface="Segoe UI" pitchFamily="34" charset="-122"/>
                <a:cs typeface="Segoe UI" pitchFamily="34" charset="-120"/>
              </a:rPr>
              <a:t>No app can fix that, so the UI says it rather than hiding it. Android keeps advertising through a foreground service, and links already open keep carrying traffic.</a:t>
            </a:r>
            <a:endParaRPr lang="en-US" sz="950" dirty="0"/>
          </a:p>
        </p:txBody>
      </p:sp>
      <p:sp>
        <p:nvSpPr>
          <p:cNvPr id="14" name="risk0#779"/>
          <p:cNvSpPr/>
          <p:nvPr/>
        </p:nvSpPr>
        <p:spPr>
          <a:xfrm>
            <a:off x="731520" y="3547872"/>
            <a:ext cx="10728655" cy="0"/>
          </a:xfrm>
          <a:prstGeom prst="line">
            <a:avLst/>
          </a:prstGeom>
          <a:noFill/>
          <a:ln w="9525">
            <a:solidFill>
              <a:srgbClr val="D9D9E0"/>
            </a:solidFill>
            <a:prstDash val="solid"/>
          </a:ln>
        </p:spPr>
      </p:sp>
      <p:sp>
        <p:nvSpPr>
          <p:cNvPr id="15" name="risk1#780"/>
          <p:cNvSpPr/>
          <p:nvPr/>
        </p:nvSpPr>
        <p:spPr>
          <a:xfrm>
            <a:off x="877824" y="3621024"/>
            <a:ext cx="2286000" cy="310896"/>
          </a:xfrm>
          <a:prstGeom prst="rect">
            <a:avLst/>
          </a:prstGeom>
          <a:noFill/>
          <a:ln/>
        </p:spPr>
        <p:txBody>
          <a:bodyPr wrap="square" lIns="0" tIns="0" rIns="0" bIns="0" rtlCol="0" anchor="t"/>
          <a:lstStyle/>
          <a:p>
            <a:pPr indent="0" marL="0">
              <a:buNone/>
            </a:pPr>
            <a:r>
              <a:rPr lang="en-US" sz="1100" b="1" dirty="0">
                <a:solidFill>
                  <a:srgbClr val="1C2024"/>
                </a:solidFill>
                <a:latin typeface="Segoe UI" pitchFamily="34" charset="0"/>
                <a:ea typeface="Segoe UI" pitchFamily="34" charset="-122"/>
                <a:cs typeface="Segoe UI" pitchFamily="34" charset="-120"/>
              </a:rPr>
              <a:t>Regulatory pressure</a:t>
            </a:r>
            <a:endParaRPr lang="en-US" sz="1100" dirty="0"/>
          </a:p>
        </p:txBody>
      </p:sp>
      <p:sp>
        <p:nvSpPr>
          <p:cNvPr id="16" name="risk1#781"/>
          <p:cNvSpPr/>
          <p:nvPr/>
        </p:nvSpPr>
        <p:spPr>
          <a:xfrm>
            <a:off x="3401568" y="3621024"/>
            <a:ext cx="3968496" cy="69494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Three mesh messengers were ordered off the Indian stores in July 2026, and the code repositories with them.</a:t>
            </a:r>
            <a:endParaRPr lang="en-US" sz="950" dirty="0"/>
          </a:p>
        </p:txBody>
      </p:sp>
      <p:sp>
        <p:nvSpPr>
          <p:cNvPr id="17" name="risk1#782"/>
          <p:cNvSpPr/>
          <p:nvPr/>
        </p:nvSpPr>
        <p:spPr>
          <a:xfrm>
            <a:off x="7607808" y="3621024"/>
            <a:ext cx="3706063" cy="694944"/>
          </a:xfrm>
          <a:prstGeom prst="rect">
            <a:avLst/>
          </a:prstGeom>
          <a:noFill/>
          <a:ln/>
        </p:spPr>
        <p:txBody>
          <a:bodyPr wrap="square" lIns="0" tIns="0" rIns="0" bIns="0" rtlCol="0" anchor="t"/>
          <a:lstStyle/>
          <a:p>
            <a:pPr indent="0" marL="0">
              <a:lnSpc>
                <a:spcPct val="134000"/>
              </a:lnSpc>
              <a:buNone/>
            </a:pPr>
            <a:r>
              <a:rPr lang="en-US" sz="950" dirty="0">
                <a:solidFill>
                  <a:srgbClr val="1C2024"/>
                </a:solidFill>
                <a:latin typeface="Segoe UI" pitchFamily="34" charset="0"/>
                <a:ea typeface="Segoe UI" pitchFamily="34" charset="-122"/>
                <a:cs typeface="Segoe UI" pitchFamily="34" charset="-120"/>
              </a:rPr>
              <a:t>MIT source, F-Droid and a direct APK, and no company to serve a notice on. Delisting an app does not uninstall it, and it does not touch a mesh already running.</a:t>
            </a:r>
            <a:endParaRPr lang="en-US" sz="950" dirty="0"/>
          </a:p>
        </p:txBody>
      </p:sp>
      <p:sp>
        <p:nvSpPr>
          <p:cNvPr id="18" name="risk1#783"/>
          <p:cNvSpPr/>
          <p:nvPr/>
        </p:nvSpPr>
        <p:spPr>
          <a:xfrm>
            <a:off x="731520" y="4334256"/>
            <a:ext cx="10728655" cy="0"/>
          </a:xfrm>
          <a:prstGeom prst="line">
            <a:avLst/>
          </a:prstGeom>
          <a:noFill/>
          <a:ln w="9525">
            <a:solidFill>
              <a:srgbClr val="D9D9E0"/>
            </a:solidFill>
            <a:prstDash val="solid"/>
          </a:ln>
        </p:spPr>
      </p:sp>
      <p:sp>
        <p:nvSpPr>
          <p:cNvPr id="19" name="risk2#784"/>
          <p:cNvSpPr/>
          <p:nvPr/>
        </p:nvSpPr>
        <p:spPr>
          <a:xfrm>
            <a:off x="877824" y="4407408"/>
            <a:ext cx="2286000" cy="310896"/>
          </a:xfrm>
          <a:prstGeom prst="rect">
            <a:avLst/>
          </a:prstGeom>
          <a:noFill/>
          <a:ln/>
        </p:spPr>
        <p:txBody>
          <a:bodyPr wrap="square" lIns="0" tIns="0" rIns="0" bIns="0" rtlCol="0" anchor="t"/>
          <a:lstStyle/>
          <a:p>
            <a:pPr indent="0" marL="0">
              <a:buNone/>
            </a:pPr>
            <a:r>
              <a:rPr lang="en-US" sz="1100" b="1" dirty="0">
                <a:solidFill>
                  <a:srgbClr val="1C2024"/>
                </a:solidFill>
                <a:latin typeface="Segoe UI" pitchFamily="34" charset="0"/>
                <a:ea typeface="Segoe UI" pitchFamily="34" charset="-122"/>
                <a:cs typeface="Segoe UI" pitchFamily="34" charset="-120"/>
              </a:rPr>
              <a:t>Unaudited crypto</a:t>
            </a:r>
            <a:endParaRPr lang="en-US" sz="1100" dirty="0"/>
          </a:p>
        </p:txBody>
      </p:sp>
      <p:sp>
        <p:nvSpPr>
          <p:cNvPr id="20" name="risk2#785"/>
          <p:cNvSpPr/>
          <p:nvPr/>
        </p:nvSpPr>
        <p:spPr>
          <a:xfrm>
            <a:off x="3401568" y="4407408"/>
            <a:ext cx="3968496" cy="69494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The Noise state machine, the ratchet and the key boundaries have not been read by anyone outside this project.</a:t>
            </a:r>
            <a:endParaRPr lang="en-US" sz="950" dirty="0"/>
          </a:p>
        </p:txBody>
      </p:sp>
      <p:sp>
        <p:nvSpPr>
          <p:cNvPr id="21" name="risk2#786"/>
          <p:cNvSpPr/>
          <p:nvPr/>
        </p:nvSpPr>
        <p:spPr>
          <a:xfrm>
            <a:off x="7607808" y="4407408"/>
            <a:ext cx="3706063" cy="694944"/>
          </a:xfrm>
          <a:prstGeom prst="rect">
            <a:avLst/>
          </a:prstGeom>
          <a:noFill/>
          <a:ln/>
        </p:spPr>
        <p:txBody>
          <a:bodyPr wrap="square" lIns="0" tIns="0" rIns="0" bIns="0" rtlCol="0" anchor="t"/>
          <a:lstStyle/>
          <a:p>
            <a:pPr indent="0" marL="0">
              <a:lnSpc>
                <a:spcPct val="134000"/>
              </a:lnSpc>
              <a:buNone/>
            </a:pPr>
            <a:r>
              <a:rPr lang="en-US" sz="950" dirty="0">
                <a:solidFill>
                  <a:srgbClr val="1C2024"/>
                </a:solidFill>
                <a:latin typeface="Segoe UI" pitchFamily="34" charset="0"/>
                <a:ea typeface="Segoe UI" pitchFamily="34" charset="-122"/>
                <a:cs typeface="Segoe UI" pitchFamily="34" charset="-120"/>
              </a:rPr>
              <a:t>Two independent audits scoped for v1.9.0, one for crypto and one for the radio and the bridge, with both reports published in full.</a:t>
            </a:r>
            <a:endParaRPr lang="en-US" sz="950" dirty="0"/>
          </a:p>
        </p:txBody>
      </p:sp>
      <p:sp>
        <p:nvSpPr>
          <p:cNvPr id="22" name="risk2#787"/>
          <p:cNvSpPr/>
          <p:nvPr/>
        </p:nvSpPr>
        <p:spPr>
          <a:xfrm>
            <a:off x="731520" y="5120640"/>
            <a:ext cx="10728655" cy="0"/>
          </a:xfrm>
          <a:prstGeom prst="line">
            <a:avLst/>
          </a:prstGeom>
          <a:noFill/>
          <a:ln w="9525">
            <a:solidFill>
              <a:srgbClr val="D9D9E0"/>
            </a:solidFill>
            <a:prstDash val="solid"/>
          </a:ln>
        </p:spPr>
      </p:sp>
      <p:sp>
        <p:nvSpPr>
          <p:cNvPr id="23" name="risk3#788"/>
          <p:cNvSpPr/>
          <p:nvPr/>
        </p:nvSpPr>
        <p:spPr>
          <a:xfrm>
            <a:off x="877824" y="5193792"/>
            <a:ext cx="2286000" cy="310896"/>
          </a:xfrm>
          <a:prstGeom prst="rect">
            <a:avLst/>
          </a:prstGeom>
          <a:noFill/>
          <a:ln/>
        </p:spPr>
        <p:txBody>
          <a:bodyPr wrap="square" lIns="0" tIns="0" rIns="0" bIns="0" rtlCol="0" anchor="t"/>
          <a:lstStyle/>
          <a:p>
            <a:pPr indent="0" marL="0">
              <a:buNone/>
            </a:pPr>
            <a:r>
              <a:rPr lang="en-US" sz="1100" b="1" dirty="0">
                <a:solidFill>
                  <a:srgbClr val="1C2024"/>
                </a:solidFill>
                <a:latin typeface="Segoe UI" pitchFamily="34" charset="0"/>
                <a:ea typeface="Segoe UI" pitchFamily="34" charset="-122"/>
                <a:cs typeface="Segoe UI" pitchFamily="34" charset="-120"/>
              </a:rPr>
              <a:t>Density</a:t>
            </a:r>
            <a:endParaRPr lang="en-US" sz="1100" dirty="0"/>
          </a:p>
        </p:txBody>
      </p:sp>
      <p:sp>
        <p:nvSpPr>
          <p:cNvPr id="24" name="risk3#789"/>
          <p:cNvSpPr/>
          <p:nvPr/>
        </p:nvSpPr>
        <p:spPr>
          <a:xfrm>
            <a:off x="3401568" y="5193792"/>
            <a:ext cx="3968496" cy="694944"/>
          </a:xfrm>
          <a:prstGeom prst="rect">
            <a:avLst/>
          </a:prstGeom>
          <a:noFill/>
          <a:ln/>
        </p:spPr>
        <p:txBody>
          <a:bodyPr wrap="square" lIns="0" tIns="0" rIns="0" bIns="0" rtlCol="0" anchor="t"/>
          <a:lstStyle/>
          <a:p>
            <a:pPr indent="0" marL="0">
              <a:lnSpc>
                <a:spcPct val="134000"/>
              </a:lnSpc>
              <a:buNone/>
            </a:pPr>
            <a:r>
              <a:rPr lang="en-US" sz="950" dirty="0">
                <a:solidFill>
                  <a:srgbClr val="60646C"/>
                </a:solidFill>
                <a:latin typeface="Segoe UI" pitchFamily="34" charset="0"/>
                <a:ea typeface="Segoe UI" pitchFamily="34" charset="-122"/>
                <a:cs typeface="Segoe UI" pitchFamily="34" charset="-120"/>
              </a:rPr>
              <a:t>A mesh with nobody else in it is an empty room, and that is the honest failure mode of every app in this category.</a:t>
            </a:r>
            <a:endParaRPr lang="en-US" sz="950" dirty="0"/>
          </a:p>
        </p:txBody>
      </p:sp>
      <p:sp>
        <p:nvSpPr>
          <p:cNvPr id="25" name="risk3#790"/>
          <p:cNvSpPr/>
          <p:nvPr/>
        </p:nvSpPr>
        <p:spPr>
          <a:xfrm>
            <a:off x="7607808" y="5193792"/>
            <a:ext cx="3706063" cy="694944"/>
          </a:xfrm>
          <a:prstGeom prst="rect">
            <a:avLst/>
          </a:prstGeom>
          <a:noFill/>
          <a:ln/>
        </p:spPr>
        <p:txBody>
          <a:bodyPr wrap="square" lIns="0" tIns="0" rIns="0" bIns="0" rtlCol="0" anchor="t"/>
          <a:lstStyle/>
          <a:p>
            <a:pPr indent="0" marL="0">
              <a:lnSpc>
                <a:spcPct val="134000"/>
              </a:lnSpc>
              <a:buNone/>
            </a:pPr>
            <a:r>
              <a:rPr lang="en-US" sz="950" dirty="0">
                <a:solidFill>
                  <a:srgbClr val="1C2024"/>
                </a:solidFill>
                <a:latin typeface="Segoe UI" pitchFamily="34" charset="0"/>
                <a:ea typeface="Segoe UI" pitchFamily="34" charset="-122"/>
                <a:cs typeface="Segoe UI" pitchFamily="34" charset="-120"/>
              </a:rPr>
              <a:t>Wire compatibility with bitchat shares the installed base from the first day, and the Nostr bridge covers the case where nobody is nearby at all.</a:t>
            </a:r>
            <a:endParaRPr lang="en-US" sz="950" dirty="0"/>
          </a:p>
        </p:txBody>
      </p:sp>
      <p:sp>
        <p:nvSpPr>
          <p:cNvPr id="27" name="Shape 24"/>
          <p:cNvSpPr/>
          <p:nvPr/>
        </p:nvSpPr>
        <p:spPr>
          <a:xfrm>
            <a:off x="566928" y="6327648"/>
            <a:ext cx="11057839" cy="0"/>
          </a:xfrm>
          <a:prstGeom prst="line">
            <a:avLst/>
          </a:prstGeom>
          <a:noFill/>
          <a:ln w="9525">
            <a:solidFill>
              <a:srgbClr val="D9D9E0"/>
            </a:solidFill>
            <a:prstDash val="solid"/>
          </a:ln>
        </p:spPr>
      </p:sp>
      <p:sp>
        <p:nvSpPr>
          <p:cNvPr id="28" name="Shape 25"/>
          <p:cNvSpPr/>
          <p:nvPr/>
        </p:nvSpPr>
        <p:spPr>
          <a:xfrm>
            <a:off x="566928" y="6441948"/>
            <a:ext cx="24725" cy="24725"/>
          </a:xfrm>
          <a:prstGeom prst="rect">
            <a:avLst/>
          </a:prstGeom>
          <a:solidFill>
            <a:srgbClr val="1C2024"/>
          </a:solidFill>
          <a:ln w="12700">
            <a:solidFill>
              <a:srgbClr val="1C2024"/>
            </a:solidFill>
            <a:prstDash val="solid"/>
          </a:ln>
        </p:spPr>
      </p:sp>
      <p:sp>
        <p:nvSpPr>
          <p:cNvPr id="29" name="Shape 26"/>
          <p:cNvSpPr/>
          <p:nvPr/>
        </p:nvSpPr>
        <p:spPr>
          <a:xfrm>
            <a:off x="590702" y="6441948"/>
            <a:ext cx="24725" cy="24725"/>
          </a:xfrm>
          <a:prstGeom prst="rect">
            <a:avLst/>
          </a:prstGeom>
          <a:solidFill>
            <a:srgbClr val="1C2024"/>
          </a:solidFill>
          <a:ln w="12700">
            <a:solidFill>
              <a:srgbClr val="1C2024"/>
            </a:solidFill>
            <a:prstDash val="solid"/>
          </a:ln>
        </p:spPr>
      </p:sp>
      <p:sp>
        <p:nvSpPr>
          <p:cNvPr id="30" name="Shape 27"/>
          <p:cNvSpPr/>
          <p:nvPr/>
        </p:nvSpPr>
        <p:spPr>
          <a:xfrm>
            <a:off x="780898" y="6441948"/>
            <a:ext cx="24725" cy="24725"/>
          </a:xfrm>
          <a:prstGeom prst="rect">
            <a:avLst/>
          </a:prstGeom>
          <a:solidFill>
            <a:srgbClr val="1C2024"/>
          </a:solidFill>
          <a:ln w="12700">
            <a:solidFill>
              <a:srgbClr val="1C2024"/>
            </a:solidFill>
            <a:prstDash val="solid"/>
          </a:ln>
        </p:spPr>
      </p:sp>
      <p:sp>
        <p:nvSpPr>
          <p:cNvPr id="31" name="Shape 28"/>
          <p:cNvSpPr/>
          <p:nvPr/>
        </p:nvSpPr>
        <p:spPr>
          <a:xfrm>
            <a:off x="804672" y="6441948"/>
            <a:ext cx="24725" cy="24725"/>
          </a:xfrm>
          <a:prstGeom prst="rect">
            <a:avLst/>
          </a:prstGeom>
          <a:solidFill>
            <a:srgbClr val="1C2024"/>
          </a:solidFill>
          <a:ln w="12700">
            <a:solidFill>
              <a:srgbClr val="1C2024"/>
            </a:solidFill>
            <a:prstDash val="solid"/>
          </a:ln>
        </p:spPr>
      </p:sp>
      <p:sp>
        <p:nvSpPr>
          <p:cNvPr id="32" name="Shape 29"/>
          <p:cNvSpPr/>
          <p:nvPr/>
        </p:nvSpPr>
        <p:spPr>
          <a:xfrm>
            <a:off x="590702" y="6465722"/>
            <a:ext cx="24725" cy="24725"/>
          </a:xfrm>
          <a:prstGeom prst="rect">
            <a:avLst/>
          </a:prstGeom>
          <a:solidFill>
            <a:srgbClr val="1C2024"/>
          </a:solidFill>
          <a:ln w="12700">
            <a:solidFill>
              <a:srgbClr val="1C2024"/>
            </a:solidFill>
            <a:prstDash val="solid"/>
          </a:ln>
        </p:spPr>
      </p:sp>
      <p:sp>
        <p:nvSpPr>
          <p:cNvPr id="33" name="Shape 30"/>
          <p:cNvSpPr/>
          <p:nvPr/>
        </p:nvSpPr>
        <p:spPr>
          <a:xfrm>
            <a:off x="614477" y="6465722"/>
            <a:ext cx="24725" cy="24725"/>
          </a:xfrm>
          <a:prstGeom prst="rect">
            <a:avLst/>
          </a:prstGeom>
          <a:solidFill>
            <a:srgbClr val="1C2024"/>
          </a:solidFill>
          <a:ln w="12700">
            <a:solidFill>
              <a:srgbClr val="1C2024"/>
            </a:solidFill>
            <a:prstDash val="solid"/>
          </a:ln>
        </p:spPr>
      </p:sp>
      <p:sp>
        <p:nvSpPr>
          <p:cNvPr id="34" name="Shape 31"/>
          <p:cNvSpPr/>
          <p:nvPr/>
        </p:nvSpPr>
        <p:spPr>
          <a:xfrm>
            <a:off x="757123" y="6465722"/>
            <a:ext cx="24725" cy="24725"/>
          </a:xfrm>
          <a:prstGeom prst="rect">
            <a:avLst/>
          </a:prstGeom>
          <a:solidFill>
            <a:srgbClr val="1C2024"/>
          </a:solidFill>
          <a:ln w="12700">
            <a:solidFill>
              <a:srgbClr val="1C2024"/>
            </a:solidFill>
            <a:prstDash val="solid"/>
          </a:ln>
        </p:spPr>
      </p:sp>
      <p:sp>
        <p:nvSpPr>
          <p:cNvPr id="35" name="Shape 32"/>
          <p:cNvSpPr/>
          <p:nvPr/>
        </p:nvSpPr>
        <p:spPr>
          <a:xfrm>
            <a:off x="780898" y="6465722"/>
            <a:ext cx="24725" cy="24725"/>
          </a:xfrm>
          <a:prstGeom prst="rect">
            <a:avLst/>
          </a:prstGeom>
          <a:solidFill>
            <a:srgbClr val="1C2024"/>
          </a:solidFill>
          <a:ln w="12700">
            <a:solidFill>
              <a:srgbClr val="1C2024"/>
            </a:solidFill>
            <a:prstDash val="solid"/>
          </a:ln>
        </p:spPr>
      </p:sp>
      <p:sp>
        <p:nvSpPr>
          <p:cNvPr id="36" name="Shape 33"/>
          <p:cNvSpPr/>
          <p:nvPr/>
        </p:nvSpPr>
        <p:spPr>
          <a:xfrm>
            <a:off x="614477" y="6489497"/>
            <a:ext cx="24725" cy="24725"/>
          </a:xfrm>
          <a:prstGeom prst="rect">
            <a:avLst/>
          </a:prstGeom>
          <a:solidFill>
            <a:srgbClr val="1C2024"/>
          </a:solidFill>
          <a:ln w="12700">
            <a:solidFill>
              <a:srgbClr val="1C2024"/>
            </a:solidFill>
            <a:prstDash val="solid"/>
          </a:ln>
        </p:spPr>
      </p:sp>
      <p:sp>
        <p:nvSpPr>
          <p:cNvPr id="37" name="Shape 34"/>
          <p:cNvSpPr/>
          <p:nvPr/>
        </p:nvSpPr>
        <p:spPr>
          <a:xfrm>
            <a:off x="638251" y="6489497"/>
            <a:ext cx="24725" cy="24725"/>
          </a:xfrm>
          <a:prstGeom prst="rect">
            <a:avLst/>
          </a:prstGeom>
          <a:solidFill>
            <a:srgbClr val="1C2024"/>
          </a:solidFill>
          <a:ln w="12700">
            <a:solidFill>
              <a:srgbClr val="1C2024"/>
            </a:solidFill>
            <a:prstDash val="solid"/>
          </a:ln>
        </p:spPr>
      </p:sp>
      <p:sp>
        <p:nvSpPr>
          <p:cNvPr id="38" name="Shape 35"/>
          <p:cNvSpPr/>
          <p:nvPr/>
        </p:nvSpPr>
        <p:spPr>
          <a:xfrm>
            <a:off x="685800" y="6489497"/>
            <a:ext cx="24725" cy="24725"/>
          </a:xfrm>
          <a:prstGeom prst="rect">
            <a:avLst/>
          </a:prstGeom>
          <a:solidFill>
            <a:srgbClr val="1C2024"/>
          </a:solidFill>
          <a:ln w="12700">
            <a:solidFill>
              <a:srgbClr val="1C2024"/>
            </a:solidFill>
            <a:prstDash val="solid"/>
          </a:ln>
        </p:spPr>
      </p:sp>
      <p:sp>
        <p:nvSpPr>
          <p:cNvPr id="39" name="Shape 36"/>
          <p:cNvSpPr/>
          <p:nvPr/>
        </p:nvSpPr>
        <p:spPr>
          <a:xfrm>
            <a:off x="733349" y="6489497"/>
            <a:ext cx="24725" cy="24725"/>
          </a:xfrm>
          <a:prstGeom prst="rect">
            <a:avLst/>
          </a:prstGeom>
          <a:solidFill>
            <a:srgbClr val="1C2024"/>
          </a:solidFill>
          <a:ln w="12700">
            <a:solidFill>
              <a:srgbClr val="1C2024"/>
            </a:solidFill>
            <a:prstDash val="solid"/>
          </a:ln>
        </p:spPr>
      </p:sp>
      <p:sp>
        <p:nvSpPr>
          <p:cNvPr id="40" name="Shape 37"/>
          <p:cNvSpPr/>
          <p:nvPr/>
        </p:nvSpPr>
        <p:spPr>
          <a:xfrm>
            <a:off x="757123" y="6489497"/>
            <a:ext cx="24725" cy="24725"/>
          </a:xfrm>
          <a:prstGeom prst="rect">
            <a:avLst/>
          </a:prstGeom>
          <a:solidFill>
            <a:srgbClr val="1C2024"/>
          </a:solidFill>
          <a:ln w="12700">
            <a:solidFill>
              <a:srgbClr val="1C2024"/>
            </a:solidFill>
            <a:prstDash val="solid"/>
          </a:ln>
        </p:spPr>
      </p:sp>
      <p:sp>
        <p:nvSpPr>
          <p:cNvPr id="41" name="Shape 38"/>
          <p:cNvSpPr/>
          <p:nvPr/>
        </p:nvSpPr>
        <p:spPr>
          <a:xfrm>
            <a:off x="638251" y="6513271"/>
            <a:ext cx="24725" cy="24725"/>
          </a:xfrm>
          <a:prstGeom prst="rect">
            <a:avLst/>
          </a:prstGeom>
          <a:solidFill>
            <a:srgbClr val="1C2024"/>
          </a:solidFill>
          <a:ln w="12700">
            <a:solidFill>
              <a:srgbClr val="1C2024"/>
            </a:solidFill>
            <a:prstDash val="solid"/>
          </a:ln>
        </p:spPr>
      </p:sp>
      <p:sp>
        <p:nvSpPr>
          <p:cNvPr id="42" name="Shape 39"/>
          <p:cNvSpPr/>
          <p:nvPr/>
        </p:nvSpPr>
        <p:spPr>
          <a:xfrm>
            <a:off x="662026" y="6513271"/>
            <a:ext cx="24725" cy="24725"/>
          </a:xfrm>
          <a:prstGeom prst="rect">
            <a:avLst/>
          </a:prstGeom>
          <a:solidFill>
            <a:srgbClr val="1C2024"/>
          </a:solidFill>
          <a:ln w="12700">
            <a:solidFill>
              <a:srgbClr val="1C2024"/>
            </a:solidFill>
            <a:prstDash val="solid"/>
          </a:ln>
        </p:spPr>
      </p:sp>
      <p:sp>
        <p:nvSpPr>
          <p:cNvPr id="43" name="Shape 40"/>
          <p:cNvSpPr/>
          <p:nvPr/>
        </p:nvSpPr>
        <p:spPr>
          <a:xfrm>
            <a:off x="685800" y="6513271"/>
            <a:ext cx="24725" cy="24725"/>
          </a:xfrm>
          <a:prstGeom prst="rect">
            <a:avLst/>
          </a:prstGeom>
          <a:solidFill>
            <a:srgbClr val="1C2024"/>
          </a:solidFill>
          <a:ln w="12700">
            <a:solidFill>
              <a:srgbClr val="1C2024"/>
            </a:solidFill>
            <a:prstDash val="solid"/>
          </a:ln>
        </p:spPr>
      </p:sp>
      <p:sp>
        <p:nvSpPr>
          <p:cNvPr id="44" name="Shape 41"/>
          <p:cNvSpPr/>
          <p:nvPr/>
        </p:nvSpPr>
        <p:spPr>
          <a:xfrm>
            <a:off x="709574" y="6513271"/>
            <a:ext cx="24725" cy="24725"/>
          </a:xfrm>
          <a:prstGeom prst="rect">
            <a:avLst/>
          </a:prstGeom>
          <a:solidFill>
            <a:srgbClr val="1C2024"/>
          </a:solidFill>
          <a:ln w="12700">
            <a:solidFill>
              <a:srgbClr val="1C2024"/>
            </a:solidFill>
            <a:prstDash val="solid"/>
          </a:ln>
        </p:spPr>
      </p:sp>
      <p:sp>
        <p:nvSpPr>
          <p:cNvPr id="45" name="Shape 42"/>
          <p:cNvSpPr/>
          <p:nvPr/>
        </p:nvSpPr>
        <p:spPr>
          <a:xfrm>
            <a:off x="733349" y="6513271"/>
            <a:ext cx="24725" cy="24725"/>
          </a:xfrm>
          <a:prstGeom prst="rect">
            <a:avLst/>
          </a:prstGeom>
          <a:solidFill>
            <a:srgbClr val="1C2024"/>
          </a:solidFill>
          <a:ln w="12700">
            <a:solidFill>
              <a:srgbClr val="1C2024"/>
            </a:solidFill>
            <a:prstDash val="solid"/>
          </a:ln>
        </p:spPr>
      </p:sp>
      <p:sp>
        <p:nvSpPr>
          <p:cNvPr id="46" name="Shape 43"/>
          <p:cNvSpPr/>
          <p:nvPr/>
        </p:nvSpPr>
        <p:spPr>
          <a:xfrm>
            <a:off x="662026" y="6537046"/>
            <a:ext cx="24725" cy="24725"/>
          </a:xfrm>
          <a:prstGeom prst="rect">
            <a:avLst/>
          </a:prstGeom>
          <a:solidFill>
            <a:srgbClr val="1C2024"/>
          </a:solidFill>
          <a:ln w="12700">
            <a:solidFill>
              <a:srgbClr val="1C2024"/>
            </a:solidFill>
            <a:prstDash val="solid"/>
          </a:ln>
        </p:spPr>
      </p:sp>
      <p:sp>
        <p:nvSpPr>
          <p:cNvPr id="47" name="Shape 44"/>
          <p:cNvSpPr/>
          <p:nvPr/>
        </p:nvSpPr>
        <p:spPr>
          <a:xfrm>
            <a:off x="685800" y="6537046"/>
            <a:ext cx="24725" cy="24725"/>
          </a:xfrm>
          <a:prstGeom prst="rect">
            <a:avLst/>
          </a:prstGeom>
          <a:solidFill>
            <a:srgbClr val="1C2024"/>
          </a:solidFill>
          <a:ln w="12700">
            <a:solidFill>
              <a:srgbClr val="1C2024"/>
            </a:solidFill>
            <a:prstDash val="solid"/>
          </a:ln>
        </p:spPr>
      </p:sp>
      <p:sp>
        <p:nvSpPr>
          <p:cNvPr id="48" name="Shape 45"/>
          <p:cNvSpPr/>
          <p:nvPr/>
        </p:nvSpPr>
        <p:spPr>
          <a:xfrm>
            <a:off x="709574" y="6537046"/>
            <a:ext cx="24725" cy="24725"/>
          </a:xfrm>
          <a:prstGeom prst="rect">
            <a:avLst/>
          </a:prstGeom>
          <a:solidFill>
            <a:srgbClr val="1C2024"/>
          </a:solidFill>
          <a:ln w="12700">
            <a:solidFill>
              <a:srgbClr val="1C2024"/>
            </a:solidFill>
            <a:prstDash val="solid"/>
          </a:ln>
        </p:spPr>
      </p:sp>
      <p:sp>
        <p:nvSpPr>
          <p:cNvPr id="49" name="Shape 46"/>
          <p:cNvSpPr/>
          <p:nvPr/>
        </p:nvSpPr>
        <p:spPr>
          <a:xfrm>
            <a:off x="685800" y="6560820"/>
            <a:ext cx="24725" cy="24725"/>
          </a:xfrm>
          <a:prstGeom prst="rect">
            <a:avLst/>
          </a:prstGeom>
          <a:solidFill>
            <a:srgbClr val="1C2024"/>
          </a:solidFill>
          <a:ln w="12700">
            <a:solidFill>
              <a:srgbClr val="1C2024"/>
            </a:solidFill>
            <a:prstDash val="solid"/>
          </a:ln>
        </p:spPr>
      </p:sp>
      <p:sp>
        <p:nvSpPr>
          <p:cNvPr id="50" name="Text 47"/>
          <p:cNvSpPr/>
          <p:nvPr/>
        </p:nvSpPr>
        <p:spPr>
          <a:xfrm>
            <a:off x="914400" y="6391656"/>
            <a:ext cx="1828800" cy="219456"/>
          </a:xfrm>
          <a:prstGeom prst="rect">
            <a:avLst/>
          </a:prstGeom>
          <a:noFill/>
          <a:ln/>
        </p:spPr>
        <p:txBody>
          <a:bodyPr wrap="square" lIns="0" tIns="0" rIns="0" bIns="0" rtlCol="0" anchor="ctr"/>
          <a:lstStyle/>
          <a:p>
            <a:pPr indent="0" marL="0">
              <a:buNone/>
            </a:pPr>
            <a:r>
              <a:rPr lang="en-US" sz="800" b="1" spc="120" kern="0" dirty="0">
                <a:solidFill>
                  <a:srgbClr val="60646C"/>
                </a:solidFill>
                <a:latin typeface="Consolas" pitchFamily="34" charset="0"/>
                <a:ea typeface="Consolas" pitchFamily="34" charset="-122"/>
                <a:cs typeface="Consolas" pitchFamily="34" charset="-120"/>
              </a:rPr>
              <a:t>AIRHOP</a:t>
            </a:r>
            <a:endParaRPr lang="en-US" sz="800" dirty="0"/>
          </a:p>
        </p:txBody>
      </p:sp>
      <p:sp>
        <p:nvSpPr>
          <p:cNvPr id="51" name="Text 48"/>
          <p:cNvSpPr/>
          <p:nvPr/>
        </p:nvSpPr>
        <p:spPr>
          <a:xfrm>
            <a:off x="9795967" y="6391656"/>
            <a:ext cx="1828800" cy="219456"/>
          </a:xfrm>
          <a:prstGeom prst="rect">
            <a:avLst/>
          </a:prstGeom>
          <a:noFill/>
          <a:ln/>
        </p:spPr>
        <p:txBody>
          <a:bodyPr wrap="square" lIns="0" tIns="0" rIns="0" bIns="0" rtlCol="0" anchor="ctr"/>
          <a:lstStyle/>
          <a:p>
            <a:pPr algn="r" indent="0" marL="0">
              <a:buNone/>
            </a:pPr>
            <a:r>
              <a:rPr lang="en-US" sz="800" dirty="0">
                <a:solidFill>
                  <a:srgbClr val="6E7178"/>
                </a:solidFill>
                <a:latin typeface="Consolas" pitchFamily="34" charset="0"/>
                <a:ea typeface="Consolas" pitchFamily="34" charset="-122"/>
                <a:cs typeface="Consolas" pitchFamily="34" charset="-120"/>
              </a:rPr>
              <a:t>A3 / A3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Airhop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Airhop</dc:title>
  <dc:subject>Private, offline-first messaging over Bluetooth mesh</dc:subject>
  <dc:creator>Areeb Ahmed</dc:creator>
  <cp:lastModifiedBy>Areeb Ahmed</cp:lastModifiedBy>
  <cp:revision>1</cp:revision>
  <dcterms:created xsi:type="dcterms:W3CDTF">2026-08-13T15:07:50Z</dcterms:created>
  <dcterms:modified xsi:type="dcterms:W3CDTF">2026-08-13T15:07:50Z</dcterms:modified>
</cp:coreProperties>
</file>